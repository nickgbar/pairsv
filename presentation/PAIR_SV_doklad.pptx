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22" d="100"/>
          <a:sy n="122" d="100"/>
        </p:scale>
        <p:origin x="22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lang="ru-RU" sz="1300" b="0" i="0" u="none" strike="noStrike">
                <a:solidFill>
                  <a:srgbClr val="52514E"/>
                </a:solidFill>
                <a:latin typeface="Calibri"/>
              </a:rPr>
              <a:t>Падение </a:t>
            </a:r>
            <a:r>
              <a:rPr lang="en-GB" sz="1300" b="0" i="0" u="none" strike="noStrike">
                <a:solidFill>
                  <a:srgbClr val="52514E"/>
                </a:solidFill>
                <a:latin typeface="Calibri"/>
              </a:rPr>
              <a:t>F1 </a:t>
            </a:r>
            <a:r>
              <a:rPr lang="ru-RU" sz="1300" b="0" i="0" u="none" strike="noStrike">
                <a:solidFill>
                  <a:srgbClr val="52514E"/>
                </a:solidFill>
                <a:latin typeface="Calibri"/>
              </a:rPr>
              <a:t>при удалении ветви из </a:t>
            </a:r>
            <a:r>
              <a:rPr lang="en-GB" sz="1300" b="0" i="0" u="none" strike="noStrike">
                <a:solidFill>
                  <a:srgbClr val="52514E"/>
                </a:solidFill>
                <a:latin typeface="Calibri"/>
              </a:rPr>
              <a:t>M4, </a:t>
            </a:r>
            <a:r>
              <a:rPr lang="ru-RU" sz="1300" b="0" i="0" u="none" strike="noStrike">
                <a:solidFill>
                  <a:srgbClr val="52514E"/>
                </a:solidFill>
                <a:latin typeface="Calibri"/>
              </a:rPr>
              <a:t>процентные пункты</a:t>
            </a:r>
          </a:p>
        </c:rich>
      </c:tx>
      <c:overlay val="0"/>
    </c:title>
    <c:autoTitleDeleted val="0"/>
    <c:plotArea>
      <c:layout/>
      <c:barChart>
        <c:barDir val="col"/>
        <c:grouping val="clustered"/>
        <c:varyColors val="0"/>
        <c:ser>
          <c:idx val="0"/>
          <c:order val="0"/>
          <c:tx>
            <c:strRef>
              <c:f>Sheet1!$B$1</c:f>
              <c:strCache>
                <c:ptCount val="1"/>
                <c:pt idx="0">
                  <c:v>Обнуление входа у готовой модели</c:v>
                </c:pt>
              </c:strCache>
            </c:strRef>
          </c:tx>
          <c:spPr>
            <a:solidFill>
              <a:srgbClr val="EB6834"/>
            </a:solidFill>
            <a:effectLst/>
          </c:spPr>
          <c:invertIfNegative val="0"/>
          <c:cat>
            <c:strRef>
              <c:f>Sheet1!$A$2:$A$4</c:f>
              <c:strCache>
                <c:ptCount val="3"/>
                <c:pt idx="0">
                  <c:v>Последовательность ДНК</c:v>
                </c:pt>
                <c:pt idx="1">
                  <c:v>Прочтения человека</c:v>
                </c:pt>
                <c:pt idx="2">
                  <c:v>17 числовых признаков</c:v>
                </c:pt>
              </c:strCache>
            </c:strRef>
          </c:cat>
          <c:val>
            <c:numRef>
              <c:f>Sheet1!$B$2:$B$4</c:f>
              <c:numCache>
                <c:formatCode>General</c:formatCode>
                <c:ptCount val="3"/>
                <c:pt idx="0">
                  <c:v>0.54345801894591195</c:v>
                </c:pt>
                <c:pt idx="1">
                  <c:v>0.75109610733782683</c:v>
                </c:pt>
                <c:pt idx="2">
                  <c:v>1.0021380977043601</c:v>
                </c:pt>
              </c:numCache>
            </c:numRef>
          </c:val>
          <c:extLst>
            <c:ext xmlns:c16="http://schemas.microsoft.com/office/drawing/2014/chart" uri="{C3380CC4-5D6E-409C-BE32-E72D297353CC}">
              <c16:uniqueId val="{00000000-881B-C84E-93C5-4C6F635C06ED}"/>
            </c:ext>
          </c:extLst>
        </c:ser>
        <c:ser>
          <c:idx val="1"/>
          <c:order val="1"/>
          <c:tx>
            <c:strRef>
              <c:f>Sheet1!$C$1</c:f>
              <c:strCache>
                <c:ptCount val="1"/>
                <c:pt idx="0">
                  <c:v>Переобучение без этой ветви</c:v>
                </c:pt>
              </c:strCache>
            </c:strRef>
          </c:tx>
          <c:spPr>
            <a:solidFill>
              <a:srgbClr val="2A78D6"/>
            </a:solidFill>
            <a:effectLst/>
          </c:spPr>
          <c:invertIfNegative val="0"/>
          <c:cat>
            <c:strRef>
              <c:f>Sheet1!$A$2:$A$4</c:f>
              <c:strCache>
                <c:ptCount val="3"/>
                <c:pt idx="0">
                  <c:v>Последовательность ДНК</c:v>
                </c:pt>
                <c:pt idx="1">
                  <c:v>Прочтения человека</c:v>
                </c:pt>
                <c:pt idx="2">
                  <c:v>17 числовых признаков</c:v>
                </c:pt>
              </c:strCache>
            </c:strRef>
          </c:cat>
          <c:val>
            <c:numRef>
              <c:f>Sheet1!$C$2:$C$4</c:f>
              <c:numCache>
                <c:formatCode>General</c:formatCode>
                <c:ptCount val="3"/>
                <c:pt idx="0">
                  <c:v>0.10666356976978264</c:v>
                </c:pt>
                <c:pt idx="1">
                  <c:v>7.1548335250204431E-2</c:v>
                </c:pt>
                <c:pt idx="2">
                  <c:v>0.15122443161926791</c:v>
                </c:pt>
              </c:numCache>
            </c:numRef>
          </c:val>
          <c:extLst>
            <c:ext xmlns:c16="http://schemas.microsoft.com/office/drawing/2014/chart" uri="{C3380CC4-5D6E-409C-BE32-E72D297353CC}">
              <c16:uniqueId val="{00000001-881B-C84E-93C5-4C6F635C06ED}"/>
            </c:ext>
          </c:extLst>
        </c:ser>
        <c:dLbls>
          <c:showLegendKey val="0"/>
          <c:showVal val="0"/>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sz="1300" b="0" i="0" u="none" strike="noStrike">
                <a:solidFill>
                  <a:srgbClr val="52514E"/>
                </a:solidFill>
                <a:latin typeface="Calibri"/>
              </a:rPr>
              <a:t>Чувствительность у каждого из 30 человек, по возрастанию для M2</a:t>
            </a:r>
          </a:p>
        </c:rich>
      </c:tx>
      <c:overlay val="0"/>
    </c:title>
    <c:autoTitleDeleted val="0"/>
    <c:plotArea>
      <c:layout/>
      <c:lineChart>
        <c:grouping val="standard"/>
        <c:varyColors val="0"/>
        <c:ser>
          <c:idx val="0"/>
          <c:order val="0"/>
          <c:tx>
            <c:strRef>
              <c:f>Sheet1!$B$1</c:f>
              <c:strCache>
                <c:ptCount val="1"/>
                <c:pt idx="0">
                  <c:v>M2</c:v>
                </c:pt>
              </c:strCache>
            </c:strRef>
          </c:tx>
          <c:spPr>
            <a:ln>
              <a:noFill/>
            </a:ln>
            <a:effectLst/>
          </c:spPr>
          <c:marker>
            <c:symbol val="circle"/>
            <c:size val="8"/>
            <c:spPr>
              <a:solidFill>
                <a:srgbClr val="2A78D6"/>
              </a:solidFill>
              <a:ln w="9525" cap="flat">
                <a:solidFill>
                  <a:srgbClr val="2A78D6"/>
                </a:solidFill>
                <a:prstDash val="solid"/>
                <a:round/>
              </a:ln>
              <a:effectLst/>
            </c:spPr>
          </c:marker>
          <c:cat>
            <c:strRef>
              <c:f>Sheet1!$A$2:$A$31</c:f>
              <c:strCache>
                <c:ptCount val="30"/>
              </c:strCache>
            </c:strRef>
          </c:cat>
          <c:val>
            <c:numRef>
              <c:f>Sheet1!$B$2:$B$31</c:f>
              <c:numCache>
                <c:formatCode>General</c:formatCode>
                <c:ptCount val="30"/>
                <c:pt idx="0">
                  <c:v>0.92951959544879903</c:v>
                </c:pt>
                <c:pt idx="1">
                  <c:v>0.93836065573770489</c:v>
                </c:pt>
                <c:pt idx="2">
                  <c:v>0.93853820598006643</c:v>
                </c:pt>
                <c:pt idx="3">
                  <c:v>0.93933265925176945</c:v>
                </c:pt>
                <c:pt idx="4">
                  <c:v>0.94103773584905659</c:v>
                </c:pt>
                <c:pt idx="5">
                  <c:v>0.94108072916666663</c:v>
                </c:pt>
                <c:pt idx="6">
                  <c:v>0.94475501479776391</c:v>
                </c:pt>
                <c:pt idx="7">
                  <c:v>0.94492656875834447</c:v>
                </c:pt>
                <c:pt idx="8">
                  <c:v>0.9449768160741886</c:v>
                </c:pt>
                <c:pt idx="9">
                  <c:v>0.94552139037433158</c:v>
                </c:pt>
                <c:pt idx="10">
                  <c:v>0.94586516107605445</c:v>
                </c:pt>
                <c:pt idx="11">
                  <c:v>0.94675150703281985</c:v>
                </c:pt>
                <c:pt idx="12">
                  <c:v>0.94717485790705447</c:v>
                </c:pt>
                <c:pt idx="13">
                  <c:v>0.94731577192397465</c:v>
                </c:pt>
                <c:pt idx="14">
                  <c:v>0.94738605898123329</c:v>
                </c:pt>
                <c:pt idx="15">
                  <c:v>0.94757536041939716</c:v>
                </c:pt>
                <c:pt idx="16">
                  <c:v>0.94788918205804751</c:v>
                </c:pt>
                <c:pt idx="17">
                  <c:v>0.94789002557544755</c:v>
                </c:pt>
                <c:pt idx="18">
                  <c:v>0.94905290659699548</c:v>
                </c:pt>
                <c:pt idx="19">
                  <c:v>0.94940978077571669</c:v>
                </c:pt>
                <c:pt idx="20">
                  <c:v>0.94996751137102009</c:v>
                </c:pt>
                <c:pt idx="21">
                  <c:v>0.95087598763311576</c:v>
                </c:pt>
                <c:pt idx="22">
                  <c:v>0.95144662454273365</c:v>
                </c:pt>
                <c:pt idx="23">
                  <c:v>0.95187520743445075</c:v>
                </c:pt>
                <c:pt idx="24">
                  <c:v>0.9521781853914183</c:v>
                </c:pt>
                <c:pt idx="25">
                  <c:v>0.95307820299500834</c:v>
                </c:pt>
                <c:pt idx="26">
                  <c:v>0.95322033898305081</c:v>
                </c:pt>
                <c:pt idx="27">
                  <c:v>0.95403472931562816</c:v>
                </c:pt>
                <c:pt idx="28">
                  <c:v>0.95772787318361952</c:v>
                </c:pt>
                <c:pt idx="29">
                  <c:v>0.96099529253530602</c:v>
                </c:pt>
              </c:numCache>
            </c:numRef>
          </c:val>
          <c:smooth val="0"/>
          <c:extLst>
            <c:ext xmlns:c16="http://schemas.microsoft.com/office/drawing/2014/chart" uri="{C3380CC4-5D6E-409C-BE32-E72D297353CC}">
              <c16:uniqueId val="{00000000-E323-374A-A357-DE59E7C470C4}"/>
            </c:ext>
          </c:extLst>
        </c:ser>
        <c:ser>
          <c:idx val="1"/>
          <c:order val="1"/>
          <c:tx>
            <c:strRef>
              <c:f>Sheet1!$C$1</c:f>
              <c:strCache>
                <c:ptCount val="1"/>
                <c:pt idx="0">
                  <c:v>M4</c:v>
                </c:pt>
              </c:strCache>
            </c:strRef>
          </c:tx>
          <c:spPr>
            <a:ln>
              <a:noFill/>
            </a:ln>
            <a:effectLst/>
          </c:spPr>
          <c:marker>
            <c:symbol val="circle"/>
            <c:size val="8"/>
            <c:spPr>
              <a:solidFill>
                <a:srgbClr val="EB6834"/>
              </a:solidFill>
              <a:ln w="9525" cap="flat">
                <a:solidFill>
                  <a:srgbClr val="EB6834"/>
                </a:solidFill>
                <a:prstDash val="solid"/>
                <a:round/>
              </a:ln>
              <a:effectLst/>
            </c:spPr>
          </c:marker>
          <c:cat>
            <c:strRef>
              <c:f>Sheet1!$A$2:$A$31</c:f>
              <c:strCache>
                <c:ptCount val="30"/>
              </c:strCache>
            </c:strRef>
          </c:cat>
          <c:val>
            <c:numRef>
              <c:f>Sheet1!$C$2:$C$31</c:f>
              <c:numCache>
                <c:formatCode>General</c:formatCode>
                <c:ptCount val="30"/>
                <c:pt idx="0">
                  <c:v>0.92793931731984824</c:v>
                </c:pt>
                <c:pt idx="1">
                  <c:v>0.9459016393442623</c:v>
                </c:pt>
                <c:pt idx="2">
                  <c:v>0.93853820598006643</c:v>
                </c:pt>
                <c:pt idx="3">
                  <c:v>0.93899561846983481</c:v>
                </c:pt>
                <c:pt idx="4">
                  <c:v>0.94305929919137466</c:v>
                </c:pt>
                <c:pt idx="5">
                  <c:v>0.94010416666666663</c:v>
                </c:pt>
                <c:pt idx="6">
                  <c:v>0.94541269319302856</c:v>
                </c:pt>
                <c:pt idx="7">
                  <c:v>0.94192256341789049</c:v>
                </c:pt>
                <c:pt idx="8">
                  <c:v>0.94714064914992269</c:v>
                </c:pt>
                <c:pt idx="9">
                  <c:v>0.94552139037433158</c:v>
                </c:pt>
                <c:pt idx="10">
                  <c:v>0.94852208568581864</c:v>
                </c:pt>
                <c:pt idx="11">
                  <c:v>0.94474212993971873</c:v>
                </c:pt>
                <c:pt idx="12">
                  <c:v>0.9485122032764961</c:v>
                </c:pt>
                <c:pt idx="13">
                  <c:v>0.94898299433144384</c:v>
                </c:pt>
                <c:pt idx="14">
                  <c:v>0.95040214477211793</c:v>
                </c:pt>
                <c:pt idx="15">
                  <c:v>0.94921363040629092</c:v>
                </c:pt>
                <c:pt idx="16">
                  <c:v>0.94426121372031657</c:v>
                </c:pt>
                <c:pt idx="17">
                  <c:v>0.94565217391304346</c:v>
                </c:pt>
                <c:pt idx="18">
                  <c:v>0.94905290659699548</c:v>
                </c:pt>
                <c:pt idx="19">
                  <c:v>0.94603709949409776</c:v>
                </c:pt>
                <c:pt idx="20">
                  <c:v>0.94736842105263153</c:v>
                </c:pt>
                <c:pt idx="21">
                  <c:v>0.95087598763311576</c:v>
                </c:pt>
                <c:pt idx="22">
                  <c:v>0.95044895244429661</c:v>
                </c:pt>
                <c:pt idx="23">
                  <c:v>0.94988383670760035</c:v>
                </c:pt>
                <c:pt idx="24">
                  <c:v>0.94857517196200458</c:v>
                </c:pt>
                <c:pt idx="25">
                  <c:v>0.95174708818635612</c:v>
                </c:pt>
                <c:pt idx="26">
                  <c:v>0.951864406779661</c:v>
                </c:pt>
                <c:pt idx="27">
                  <c:v>0.95573714674838273</c:v>
                </c:pt>
                <c:pt idx="28">
                  <c:v>0.95640686922060769</c:v>
                </c:pt>
                <c:pt idx="29">
                  <c:v>0.96166778749159376</c:v>
                </c:pt>
              </c:numCache>
            </c:numRef>
          </c:val>
          <c:smooth val="0"/>
          <c:extLst>
            <c:ext xmlns:c16="http://schemas.microsoft.com/office/drawing/2014/chart" uri="{C3380CC4-5D6E-409C-BE32-E72D297353CC}">
              <c16:uniqueId val="{00000001-E323-374A-A357-DE59E7C470C4}"/>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2"/>
          <c:order val="2"/>
          <c:tx>
            <c:strRef>
              <c:f>Sheet1!$D$1</c:f>
              <c:strCache>
                <c:ptCount val="1"/>
                <c:pt idx="0">
                  <c:v>Цель 95%</c:v>
                </c:pt>
              </c:strCache>
            </c:strRef>
          </c:tx>
          <c:spPr>
            <a:ln w="19050" cap="flat">
              <a:solidFill>
                <a:srgbClr val="898781"/>
              </a:solidFill>
              <a:prstDash val="dash"/>
              <a:round/>
            </a:ln>
            <a:effectLst/>
          </c:spPr>
          <c:marker>
            <c:symbol val="none"/>
          </c:marker>
          <c:cat>
            <c:strRef>
              <c:f>Sheet1!$A$2:$A$31</c:f>
              <c:strCache>
                <c:ptCount val="30"/>
              </c:strCache>
            </c:strRef>
          </c:cat>
          <c:val>
            <c:numRef>
              <c:f>Sheet1!$D$2:$D$31</c:f>
              <c:numCache>
                <c:formatCode>General</c:formatCode>
                <c:ptCount val="30"/>
                <c:pt idx="0">
                  <c:v>0.95</c:v>
                </c:pt>
                <c:pt idx="1">
                  <c:v>0.95</c:v>
                </c:pt>
                <c:pt idx="2">
                  <c:v>0.95</c:v>
                </c:pt>
                <c:pt idx="3">
                  <c:v>0.95</c:v>
                </c:pt>
                <c:pt idx="4">
                  <c:v>0.95</c:v>
                </c:pt>
                <c:pt idx="5">
                  <c:v>0.95</c:v>
                </c:pt>
                <c:pt idx="6">
                  <c:v>0.95</c:v>
                </c:pt>
                <c:pt idx="7">
                  <c:v>0.95</c:v>
                </c:pt>
                <c:pt idx="8">
                  <c:v>0.95</c:v>
                </c:pt>
                <c:pt idx="9">
                  <c:v>0.95</c:v>
                </c:pt>
                <c:pt idx="10">
                  <c:v>0.95</c:v>
                </c:pt>
                <c:pt idx="11">
                  <c:v>0.95</c:v>
                </c:pt>
                <c:pt idx="12">
                  <c:v>0.95</c:v>
                </c:pt>
                <c:pt idx="13">
                  <c:v>0.95</c:v>
                </c:pt>
                <c:pt idx="14">
                  <c:v>0.95</c:v>
                </c:pt>
                <c:pt idx="15">
                  <c:v>0.95</c:v>
                </c:pt>
                <c:pt idx="16">
                  <c:v>0.95</c:v>
                </c:pt>
                <c:pt idx="17">
                  <c:v>0.95</c:v>
                </c:pt>
                <c:pt idx="18">
                  <c:v>0.95</c:v>
                </c:pt>
                <c:pt idx="19">
                  <c:v>0.95</c:v>
                </c:pt>
                <c:pt idx="20">
                  <c:v>0.95</c:v>
                </c:pt>
                <c:pt idx="21">
                  <c:v>0.95</c:v>
                </c:pt>
                <c:pt idx="22">
                  <c:v>0.95</c:v>
                </c:pt>
                <c:pt idx="23">
                  <c:v>0.95</c:v>
                </c:pt>
                <c:pt idx="24">
                  <c:v>0.95</c:v>
                </c:pt>
                <c:pt idx="25">
                  <c:v>0.95</c:v>
                </c:pt>
                <c:pt idx="26">
                  <c:v>0.95</c:v>
                </c:pt>
                <c:pt idx="27">
                  <c:v>0.95</c:v>
                </c:pt>
                <c:pt idx="28">
                  <c:v>0.95</c:v>
                </c:pt>
                <c:pt idx="29">
                  <c:v>0.95</c:v>
                </c:pt>
              </c:numCache>
            </c:numRef>
          </c:val>
          <c:smooth val="0"/>
          <c:extLst>
            <c:ext xmlns:c16="http://schemas.microsoft.com/office/drawing/2014/chart" uri="{C3380CC4-5D6E-409C-BE32-E72D297353CC}">
              <c16:uniqueId val="{00000002-E323-374A-A357-DE59E7C470C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auto val="1"/>
        <c:lblAlgn val="ctr"/>
        <c:lblOffset val="100"/>
        <c:noMultiLvlLbl val="1"/>
      </c:catAx>
      <c:valAx>
        <c:axId val="2094734552"/>
        <c:scaling>
          <c:orientation val="minMax"/>
          <c:max val="0.97"/>
          <c:min val="0.92"/>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between"/>
        <c:majorUnit val="0.01"/>
      </c:valAx>
      <c:spPr>
        <a:noFill/>
        <a:ln>
          <a:noFill/>
        </a:ln>
        <a:effectLst/>
      </c:spPr>
    </c:plotArea>
    <c:legend>
      <c:legendPos val="b"/>
      <c:overlay val="0"/>
      <c:txPr>
        <a:bodyPr/>
        <a:lstStyle/>
        <a:p>
          <a:pPr>
            <a:defRPr sz="12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sz="1300" b="0" i="0" u="none" strike="noStrike">
                <a:solidFill>
                  <a:srgbClr val="52514E"/>
                </a:solidFill>
                <a:latin typeface="Calibri"/>
              </a:rPr>
              <a:t>Доля отсеянных ложных находок, M4</a:t>
            </a:r>
          </a:p>
        </c:rich>
      </c:tx>
      <c:overlay val="0"/>
    </c:title>
    <c:autoTitleDeleted val="0"/>
    <c:plotArea>
      <c:layout/>
      <c:barChart>
        <c:barDir val="col"/>
        <c:grouping val="clustered"/>
        <c:varyColors val="0"/>
        <c:ser>
          <c:idx val="0"/>
          <c:order val="0"/>
          <c:tx>
            <c:strRef>
              <c:f>Sheet1!$B$1</c:f>
              <c:strCache>
                <c:ptCount val="1"/>
                <c:pt idx="0">
                  <c:v>M4</c:v>
                </c:pt>
              </c:strCache>
            </c:strRef>
          </c:tx>
          <c:spPr>
            <a:solidFill>
              <a:srgbClr val="EB6834"/>
            </a:solidFill>
            <a:effectLst/>
          </c:spPr>
          <c:invertIfNegative val="0"/>
          <c:dPt>
            <c:idx val="0"/>
            <c:invertIfNegative val="0"/>
            <c:bubble3D val="0"/>
            <c:extLst>
              <c:ext xmlns:c16="http://schemas.microsoft.com/office/drawing/2014/chart" uri="{C3380CC4-5D6E-409C-BE32-E72D297353CC}">
                <c16:uniqueId val="{00000001-78BB-4B46-BC1D-7B1D040DA534}"/>
              </c:ext>
            </c:extLst>
          </c:dPt>
          <c:dPt>
            <c:idx val="1"/>
            <c:invertIfNegative val="0"/>
            <c:bubble3D val="0"/>
            <c:spPr>
              <a:solidFill>
                <a:srgbClr val="B9BDC4"/>
              </a:solidFill>
              <a:effectLst/>
            </c:spPr>
            <c:extLst>
              <c:ext xmlns:c16="http://schemas.microsoft.com/office/drawing/2014/chart" uri="{C3380CC4-5D6E-409C-BE32-E72D297353CC}">
                <c16:uniqueId val="{00000003-78BB-4B46-BC1D-7B1D040DA534}"/>
              </c:ext>
            </c:extLst>
          </c:dPt>
          <c:dPt>
            <c:idx val="2"/>
            <c:invertIfNegative val="0"/>
            <c:bubble3D val="0"/>
            <c:spPr>
              <a:solidFill>
                <a:srgbClr val="B9BDC4"/>
              </a:solidFill>
              <a:effectLst/>
            </c:spPr>
            <c:extLst>
              <c:ext xmlns:c16="http://schemas.microsoft.com/office/drawing/2014/chart" uri="{C3380CC4-5D6E-409C-BE32-E72D297353CC}">
                <c16:uniqueId val="{00000005-78BB-4B46-BC1D-7B1D040DA534}"/>
              </c:ext>
            </c:extLst>
          </c:dPt>
          <c:dPt>
            <c:idx val="3"/>
            <c:invertIfNegative val="0"/>
            <c:bubble3D val="0"/>
            <c:spPr>
              <a:solidFill>
                <a:srgbClr val="B9BDC4"/>
              </a:solidFill>
              <a:effectLst/>
            </c:spPr>
            <c:extLst>
              <c:ext xmlns:c16="http://schemas.microsoft.com/office/drawing/2014/chart" uri="{C3380CC4-5D6E-409C-BE32-E72D297353CC}">
                <c16:uniqueId val="{00000007-78BB-4B46-BC1D-7B1D040DA534}"/>
              </c:ext>
            </c:extLst>
          </c:dPt>
          <c:dPt>
            <c:idx val="4"/>
            <c:invertIfNegative val="0"/>
            <c:bubble3D val="0"/>
            <c:spPr>
              <a:solidFill>
                <a:srgbClr val="B9BDC4"/>
              </a:solidFill>
              <a:effectLst/>
            </c:spPr>
            <c:extLst>
              <c:ext xmlns:c16="http://schemas.microsoft.com/office/drawing/2014/chart" uri="{C3380CC4-5D6E-409C-BE32-E72D297353CC}">
                <c16:uniqueId val="{00000009-78BB-4B46-BC1D-7B1D040DA534}"/>
              </c:ext>
            </c:extLst>
          </c:dPt>
          <c:dLbls>
            <c:numFmt formatCode="0.0%" sourceLinked="0"/>
            <c:spPr>
              <a:noFill/>
              <a:ln>
                <a:noFill/>
              </a:ln>
              <a:effectLst/>
            </c:spPr>
            <c:txPr>
              <a:bodyPr/>
              <a:lstStyle/>
              <a:p>
                <a:pPr>
                  <a:defRPr sz="1200" b="0" i="0" u="none" strike="noStrike">
                    <a:solidFill>
                      <a:srgbClr val="141A23"/>
                    </a:solidFill>
                    <a:latin typeface="Calibri"/>
                  </a:defRPr>
                </a:pPr>
                <a:endParaRPr lang="en-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Африка</c:v>
                </c:pt>
                <c:pt idx="1">
                  <c:v>Америка</c:v>
                </c:pt>
                <c:pt idx="2">
                  <c:v>Вост. Азия</c:v>
                </c:pt>
                <c:pt idx="3">
                  <c:v>Европа</c:v>
                </c:pt>
                <c:pt idx="4">
                  <c:v>Юж. Азия</c:v>
                </c:pt>
              </c:strCache>
            </c:strRef>
          </c:cat>
          <c:val>
            <c:numRef>
              <c:f>Sheet1!$B$2:$B$6</c:f>
              <c:numCache>
                <c:formatCode>General</c:formatCode>
                <c:ptCount val="5"/>
                <c:pt idx="0">
                  <c:v>0.18335163061638107</c:v>
                </c:pt>
                <c:pt idx="1">
                  <c:v>0.24304940153736365</c:v>
                </c:pt>
                <c:pt idx="2">
                  <c:v>0.23102664600154577</c:v>
                </c:pt>
                <c:pt idx="3">
                  <c:v>0.23149680958256921</c:v>
                </c:pt>
                <c:pt idx="4">
                  <c:v>0.23762741988749855</c:v>
                </c:pt>
              </c:numCache>
            </c:numRef>
          </c:val>
          <c:extLst>
            <c:ext xmlns:c16="http://schemas.microsoft.com/office/drawing/2014/chart" uri="{C3380CC4-5D6E-409C-BE32-E72D297353CC}">
              <c16:uniqueId val="{0000000A-78BB-4B46-BC1D-7B1D040DA53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auto val="1"/>
        <c:lblAlgn val="ctr"/>
        <c:lblOffset val="100"/>
        <c:noMultiLvlLbl val="1"/>
      </c:catAx>
      <c:valAx>
        <c:axId val="2094734552"/>
        <c:scaling>
          <c:orientation val="minMax"/>
          <c:max val="0.3"/>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sz="1300" b="0" i="0" u="none" strike="noStrike">
                <a:solidFill>
                  <a:srgbClr val="52514E"/>
                </a:solidFill>
                <a:latin typeface="Calibri"/>
              </a:rPr>
              <a:t>Максимальная гарантируемая чувствительность при N людях калибровки</a:t>
            </a:r>
          </a:p>
        </c:rich>
      </c:tx>
      <c:overlay val="0"/>
    </c:title>
    <c:autoTitleDeleted val="0"/>
    <c:plotArea>
      <c:layout/>
      <c:lineChart>
        <c:grouping val="standard"/>
        <c:varyColors val="0"/>
        <c:ser>
          <c:idx val="0"/>
          <c:order val="0"/>
          <c:tx>
            <c:strRef>
              <c:f>Sheet1!$B$1</c:f>
              <c:strCache>
                <c:ptCount val="1"/>
                <c:pt idx="0">
                  <c:v>N / (N + 1)</c:v>
                </c:pt>
              </c:strCache>
            </c:strRef>
          </c:tx>
          <c:spPr>
            <a:ln w="31750" cap="flat">
              <a:solidFill>
                <a:srgbClr val="2A78D6"/>
              </a:solidFill>
              <a:prstDash val="solid"/>
              <a:round/>
            </a:ln>
            <a:effectLst/>
          </c:spPr>
          <c:marker>
            <c:symbol val="none"/>
          </c:marker>
          <c:cat>
            <c:strRef>
              <c:f>Sheet1!$A$2:$A$41</c:f>
              <c:strCache>
                <c:ptCount val="40"/>
                <c:pt idx="0">
                  <c:v>1</c:v>
                </c:pt>
                <c:pt idx="5">
                  <c:v>6</c:v>
                </c:pt>
                <c:pt idx="18">
                  <c:v>19</c:v>
                </c:pt>
                <c:pt idx="29">
                  <c:v>30</c:v>
                </c:pt>
                <c:pt idx="39">
                  <c:v>40</c:v>
                </c:pt>
              </c:strCache>
            </c:strRef>
          </c:cat>
          <c:val>
            <c:numRef>
              <c:f>Sheet1!$B$2:$B$41</c:f>
              <c:numCache>
                <c:formatCode>General</c:formatCode>
                <c:ptCount val="40"/>
                <c:pt idx="0">
                  <c:v>0.5</c:v>
                </c:pt>
                <c:pt idx="1">
                  <c:v>0.66666666666666663</c:v>
                </c:pt>
                <c:pt idx="2">
                  <c:v>0.75</c:v>
                </c:pt>
                <c:pt idx="3">
                  <c:v>0.8</c:v>
                </c:pt>
                <c:pt idx="4">
                  <c:v>0.83333333333333337</c:v>
                </c:pt>
                <c:pt idx="5">
                  <c:v>0.8571428571428571</c:v>
                </c:pt>
                <c:pt idx="6">
                  <c:v>0.875</c:v>
                </c:pt>
                <c:pt idx="7">
                  <c:v>0.88888888888888884</c:v>
                </c:pt>
                <c:pt idx="8">
                  <c:v>0.9</c:v>
                </c:pt>
                <c:pt idx="9">
                  <c:v>0.90909090909090906</c:v>
                </c:pt>
                <c:pt idx="10">
                  <c:v>0.91666666666666663</c:v>
                </c:pt>
                <c:pt idx="11">
                  <c:v>0.92307692307692313</c:v>
                </c:pt>
                <c:pt idx="12">
                  <c:v>0.9285714285714286</c:v>
                </c:pt>
                <c:pt idx="13">
                  <c:v>0.93333333333333335</c:v>
                </c:pt>
                <c:pt idx="14">
                  <c:v>0.9375</c:v>
                </c:pt>
                <c:pt idx="15">
                  <c:v>0.94117647058823528</c:v>
                </c:pt>
                <c:pt idx="16">
                  <c:v>0.94444444444444442</c:v>
                </c:pt>
                <c:pt idx="17">
                  <c:v>0.94736842105263153</c:v>
                </c:pt>
                <c:pt idx="18">
                  <c:v>0.95</c:v>
                </c:pt>
                <c:pt idx="19">
                  <c:v>0.95238095238095233</c:v>
                </c:pt>
                <c:pt idx="20">
                  <c:v>0.95454545454545459</c:v>
                </c:pt>
                <c:pt idx="21">
                  <c:v>0.95652173913043481</c:v>
                </c:pt>
                <c:pt idx="22">
                  <c:v>0.95833333333333337</c:v>
                </c:pt>
                <c:pt idx="23">
                  <c:v>0.96</c:v>
                </c:pt>
                <c:pt idx="24">
                  <c:v>0.96153846153846156</c:v>
                </c:pt>
                <c:pt idx="25">
                  <c:v>0.96296296296296291</c:v>
                </c:pt>
                <c:pt idx="26">
                  <c:v>0.9642857142857143</c:v>
                </c:pt>
                <c:pt idx="27">
                  <c:v>0.96551724137931039</c:v>
                </c:pt>
                <c:pt idx="28">
                  <c:v>0.96666666666666667</c:v>
                </c:pt>
                <c:pt idx="29">
                  <c:v>0.967741935483871</c:v>
                </c:pt>
                <c:pt idx="30">
                  <c:v>0.96875</c:v>
                </c:pt>
                <c:pt idx="31">
                  <c:v>0.96969696969696972</c:v>
                </c:pt>
                <c:pt idx="32">
                  <c:v>0.97058823529411764</c:v>
                </c:pt>
                <c:pt idx="33">
                  <c:v>0.97142857142857142</c:v>
                </c:pt>
                <c:pt idx="34">
                  <c:v>0.97222222222222221</c:v>
                </c:pt>
                <c:pt idx="35">
                  <c:v>0.97297297297297303</c:v>
                </c:pt>
                <c:pt idx="36">
                  <c:v>0.97368421052631582</c:v>
                </c:pt>
                <c:pt idx="37">
                  <c:v>0.97435897435897434</c:v>
                </c:pt>
                <c:pt idx="38">
                  <c:v>0.97499999999999998</c:v>
                </c:pt>
                <c:pt idx="39">
                  <c:v>0.97560975609756095</c:v>
                </c:pt>
              </c:numCache>
            </c:numRef>
          </c:val>
          <c:smooth val="0"/>
          <c:extLst>
            <c:ext xmlns:c16="http://schemas.microsoft.com/office/drawing/2014/chart" uri="{C3380CC4-5D6E-409C-BE32-E72D297353CC}">
              <c16:uniqueId val="{00000000-0264-BF40-A0BD-9F3C66592582}"/>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Цель 95%</c:v>
                </c:pt>
              </c:strCache>
            </c:strRef>
          </c:tx>
          <c:spPr>
            <a:ln w="19050" cap="flat">
              <a:solidFill>
                <a:srgbClr val="EB6834"/>
              </a:solidFill>
              <a:prstDash val="dash"/>
              <a:round/>
            </a:ln>
            <a:effectLst/>
          </c:spPr>
          <c:marker>
            <c:symbol val="none"/>
          </c:marker>
          <c:cat>
            <c:strRef>
              <c:f>Sheet1!$A$2:$A$41</c:f>
              <c:strCache>
                <c:ptCount val="40"/>
                <c:pt idx="0">
                  <c:v>1</c:v>
                </c:pt>
                <c:pt idx="5">
                  <c:v>6</c:v>
                </c:pt>
                <c:pt idx="18">
                  <c:v>19</c:v>
                </c:pt>
                <c:pt idx="29">
                  <c:v>30</c:v>
                </c:pt>
                <c:pt idx="39">
                  <c:v>40</c:v>
                </c:pt>
              </c:strCache>
            </c:strRef>
          </c:cat>
          <c:val>
            <c:numRef>
              <c:f>Sheet1!$C$2:$C$41</c:f>
              <c:numCache>
                <c:formatCode>General</c:formatCode>
                <c:ptCount val="40"/>
                <c:pt idx="0">
                  <c:v>0.95</c:v>
                </c:pt>
                <c:pt idx="1">
                  <c:v>0.95</c:v>
                </c:pt>
                <c:pt idx="2">
                  <c:v>0.95</c:v>
                </c:pt>
                <c:pt idx="3">
                  <c:v>0.95</c:v>
                </c:pt>
                <c:pt idx="4">
                  <c:v>0.95</c:v>
                </c:pt>
                <c:pt idx="5">
                  <c:v>0.95</c:v>
                </c:pt>
                <c:pt idx="6">
                  <c:v>0.95</c:v>
                </c:pt>
                <c:pt idx="7">
                  <c:v>0.95</c:v>
                </c:pt>
                <c:pt idx="8">
                  <c:v>0.95</c:v>
                </c:pt>
                <c:pt idx="9">
                  <c:v>0.95</c:v>
                </c:pt>
                <c:pt idx="10">
                  <c:v>0.95</c:v>
                </c:pt>
                <c:pt idx="11">
                  <c:v>0.95</c:v>
                </c:pt>
                <c:pt idx="12">
                  <c:v>0.95</c:v>
                </c:pt>
                <c:pt idx="13">
                  <c:v>0.95</c:v>
                </c:pt>
                <c:pt idx="14">
                  <c:v>0.95</c:v>
                </c:pt>
                <c:pt idx="15">
                  <c:v>0.95</c:v>
                </c:pt>
                <c:pt idx="16">
                  <c:v>0.95</c:v>
                </c:pt>
                <c:pt idx="17">
                  <c:v>0.95</c:v>
                </c:pt>
                <c:pt idx="18">
                  <c:v>0.95</c:v>
                </c:pt>
                <c:pt idx="19">
                  <c:v>0.95</c:v>
                </c:pt>
                <c:pt idx="20">
                  <c:v>0.95</c:v>
                </c:pt>
                <c:pt idx="21">
                  <c:v>0.95</c:v>
                </c:pt>
                <c:pt idx="22">
                  <c:v>0.95</c:v>
                </c:pt>
                <c:pt idx="23">
                  <c:v>0.95</c:v>
                </c:pt>
                <c:pt idx="24">
                  <c:v>0.95</c:v>
                </c:pt>
                <c:pt idx="25">
                  <c:v>0.95</c:v>
                </c:pt>
                <c:pt idx="26">
                  <c:v>0.95</c:v>
                </c:pt>
                <c:pt idx="27">
                  <c:v>0.95</c:v>
                </c:pt>
                <c:pt idx="28">
                  <c:v>0.95</c:v>
                </c:pt>
                <c:pt idx="29">
                  <c:v>0.95</c:v>
                </c:pt>
                <c:pt idx="30">
                  <c:v>0.95</c:v>
                </c:pt>
                <c:pt idx="31">
                  <c:v>0.95</c:v>
                </c:pt>
                <c:pt idx="32">
                  <c:v>0.95</c:v>
                </c:pt>
                <c:pt idx="33">
                  <c:v>0.95</c:v>
                </c:pt>
                <c:pt idx="34">
                  <c:v>0.95</c:v>
                </c:pt>
                <c:pt idx="35">
                  <c:v>0.95</c:v>
                </c:pt>
                <c:pt idx="36">
                  <c:v>0.95</c:v>
                </c:pt>
                <c:pt idx="37">
                  <c:v>0.95</c:v>
                </c:pt>
                <c:pt idx="38">
                  <c:v>0.95</c:v>
                </c:pt>
                <c:pt idx="39">
                  <c:v>0.95</c:v>
                </c:pt>
              </c:numCache>
            </c:numRef>
          </c:val>
          <c:smooth val="0"/>
          <c:extLst>
            <c:ext xmlns:c16="http://schemas.microsoft.com/office/drawing/2014/chart" uri="{C3380CC4-5D6E-409C-BE32-E72D297353CC}">
              <c16:uniqueId val="{00000001-0264-BF40-A0BD-9F3C6659258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2514E"/>
                    </a:solidFill>
                    <a:latin typeface="Calibri"/>
                  </a:defRPr>
                </a:pPr>
                <a:r>
                  <a:rPr sz="1200" b="0" i="0" u="none" strike="noStrike">
                    <a:solidFill>
                      <a:srgbClr val="52514E"/>
                    </a:solidFill>
                    <a:latin typeface="Calibri"/>
                  </a:rPr>
                  <a:t>N — число людей калибровки</a:t>
                </a:r>
              </a:p>
            </c:rich>
          </c:tx>
          <c:overlay val="0"/>
        </c:title>
        <c:numFmt formatCode="General" sourceLinked="1"/>
        <c:majorTickMark val="none"/>
        <c:minorTickMark val="none"/>
        <c:tickLblPos val="low"/>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auto val="1"/>
        <c:lblAlgn val="ctr"/>
        <c:lblOffset val="100"/>
        <c:noMultiLvlLbl val="1"/>
      </c:catAx>
      <c:valAx>
        <c:axId val="2094734552"/>
        <c:scaling>
          <c:orientation val="minMax"/>
          <c:max val="1"/>
          <c:min val="0.5"/>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sz="1300" b="0" i="0" u="none" strike="noStrike">
                <a:solidFill>
                  <a:srgbClr val="52514E"/>
                </a:solidFill>
                <a:latin typeface="Calibri"/>
              </a:rPr>
              <a:t>Доля отсеянных ложных находок, M4, цель 75%</a:t>
            </a:r>
          </a:p>
        </c:rich>
      </c:tx>
      <c:overlay val="0"/>
    </c:title>
    <c:autoTitleDeleted val="0"/>
    <c:plotArea>
      <c:layout/>
      <c:barChart>
        <c:barDir val="col"/>
        <c:grouping val="clustered"/>
        <c:varyColors val="0"/>
        <c:ser>
          <c:idx val="0"/>
          <c:order val="0"/>
          <c:tx>
            <c:strRef>
              <c:f>Sheet1!$B$1</c:f>
              <c:strCache>
                <c:ptCount val="1"/>
                <c:pt idx="0">
                  <c:v>Общий порог (29 человек)</c:v>
                </c:pt>
              </c:strCache>
            </c:strRef>
          </c:tx>
          <c:spPr>
            <a:solidFill>
              <a:srgbClr val="2A78D6"/>
            </a:solidFill>
            <a:effectLst/>
          </c:spPr>
          <c:invertIfNegative val="0"/>
          <c:cat>
            <c:strRef>
              <c:f>Sheet1!$A$2:$A$6</c:f>
              <c:strCache>
                <c:ptCount val="5"/>
                <c:pt idx="0">
                  <c:v>Африка</c:v>
                </c:pt>
                <c:pt idx="1">
                  <c:v>Америка</c:v>
                </c:pt>
                <c:pt idx="2">
                  <c:v>Вост. Азия</c:v>
                </c:pt>
                <c:pt idx="3">
                  <c:v>Европа</c:v>
                </c:pt>
                <c:pt idx="4">
                  <c:v>Юж. Азия</c:v>
                </c:pt>
              </c:strCache>
            </c:strRef>
          </c:cat>
          <c:val>
            <c:numRef>
              <c:f>Sheet1!$B$2:$B$6</c:f>
              <c:numCache>
                <c:formatCode>General</c:formatCode>
                <c:ptCount val="5"/>
                <c:pt idx="0">
                  <c:v>0.53226369814468943</c:v>
                </c:pt>
                <c:pt idx="1">
                  <c:v>0.60547309096879243</c:v>
                </c:pt>
                <c:pt idx="2">
                  <c:v>0.61825251696143058</c:v>
                </c:pt>
                <c:pt idx="3">
                  <c:v>0.60824994722636672</c:v>
                </c:pt>
                <c:pt idx="4">
                  <c:v>0.60084818640525051</c:v>
                </c:pt>
              </c:numCache>
            </c:numRef>
          </c:val>
          <c:extLst>
            <c:ext xmlns:c16="http://schemas.microsoft.com/office/drawing/2014/chart" uri="{C3380CC4-5D6E-409C-BE32-E72D297353CC}">
              <c16:uniqueId val="{00000000-A1FE-6A46-92A3-6917B118FE72}"/>
            </c:ext>
          </c:extLst>
        </c:ser>
        <c:ser>
          <c:idx val="1"/>
          <c:order val="1"/>
          <c:tx>
            <c:strRef>
              <c:f>Sheet1!$C$1</c:f>
              <c:strCache>
                <c:ptCount val="1"/>
                <c:pt idx="0">
                  <c:v>Порог по своей группе (5 человек)</c:v>
                </c:pt>
              </c:strCache>
            </c:strRef>
          </c:tx>
          <c:spPr>
            <a:solidFill>
              <a:srgbClr val="EB6834"/>
            </a:solidFill>
            <a:effectLst/>
          </c:spPr>
          <c:invertIfNegative val="0"/>
          <c:cat>
            <c:strRef>
              <c:f>Sheet1!$A$2:$A$6</c:f>
              <c:strCache>
                <c:ptCount val="5"/>
                <c:pt idx="0">
                  <c:v>Африка</c:v>
                </c:pt>
                <c:pt idx="1">
                  <c:v>Америка</c:v>
                </c:pt>
                <c:pt idx="2">
                  <c:v>Вост. Азия</c:v>
                </c:pt>
                <c:pt idx="3">
                  <c:v>Европа</c:v>
                </c:pt>
                <c:pt idx="4">
                  <c:v>Юж. Азия</c:v>
                </c:pt>
              </c:strCache>
            </c:strRef>
          </c:cat>
          <c:val>
            <c:numRef>
              <c:f>Sheet1!$C$2:$C$6</c:f>
              <c:numCache>
                <c:formatCode>General</c:formatCode>
                <c:ptCount val="5"/>
                <c:pt idx="0">
                  <c:v>0.29946253845297321</c:v>
                </c:pt>
                <c:pt idx="1">
                  <c:v>0.38662151150024071</c:v>
                </c:pt>
                <c:pt idx="2">
                  <c:v>0.38966201749394336</c:v>
                </c:pt>
                <c:pt idx="3">
                  <c:v>0.37537609715720416</c:v>
                </c:pt>
                <c:pt idx="4">
                  <c:v>0.39129554978191394</c:v>
                </c:pt>
              </c:numCache>
            </c:numRef>
          </c:val>
          <c:extLst>
            <c:ext xmlns:c16="http://schemas.microsoft.com/office/drawing/2014/chart" uri="{C3380CC4-5D6E-409C-BE32-E72D297353CC}">
              <c16:uniqueId val="{00000001-A1FE-6A46-92A3-6917B118FE72}"/>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lgn="l">
              <a:defRPr sz="1300" b="0" i="0" u="none" strike="noStrike">
                <a:solidFill>
                  <a:srgbClr val="52514E"/>
                </a:solidFill>
                <a:latin typeface="Calibri"/>
              </a:defRPr>
            </a:pPr>
            <a:r>
              <a:rPr sz="1300" b="0" i="0" u="none" strike="noStrike">
                <a:solidFill>
                  <a:srgbClr val="52514E"/>
                </a:solidFill>
                <a:latin typeface="Calibri"/>
              </a:rPr>
              <a:t>M4: средняя чувствительность и отсев ложных, 30 отложенных людей</a:t>
            </a:r>
          </a:p>
        </c:rich>
      </c:tx>
      <c:overlay val="0"/>
    </c:title>
    <c:autoTitleDeleted val="0"/>
    <c:plotArea>
      <c:layout/>
      <c:scatterChart>
        <c:scatterStyle val="lineMarker"/>
        <c:varyColors val="0"/>
        <c:ser>
          <c:idx val="0"/>
          <c:order val="0"/>
          <c:tx>
            <c:strRef>
              <c:f>Sheet1!$B$1</c:f>
              <c:strCache>
                <c:ptCount val="1"/>
                <c:pt idx="0">
                  <c:v>Старая процедура при целях 95–99,5%</c:v>
                </c:pt>
              </c:strCache>
            </c:strRef>
          </c:tx>
          <c:spPr>
            <a:ln w="19050" cap="flat">
              <a:solidFill>
                <a:srgbClr val="2A78D6"/>
              </a:solidFill>
              <a:prstDash val="solid"/>
              <a:round/>
            </a:ln>
            <a:effectLst/>
          </c:spPr>
          <c:marker>
            <c:symbol val="circle"/>
            <c:size val="9"/>
            <c:spPr>
              <a:solidFill>
                <a:srgbClr val="2A78D6"/>
              </a:solidFill>
              <a:ln w="9525" cap="flat">
                <a:solidFill>
                  <a:srgbClr val="2A78D6"/>
                </a:solidFill>
                <a:prstDash val="solid"/>
                <a:round/>
              </a:ln>
              <a:effectLst/>
            </c:spPr>
          </c:marker>
          <c:xVal>
            <c:numRef>
              <c:f>Sheet1!$A$2:$A$10</c:f>
              <c:numCache>
                <c:formatCode>General</c:formatCode>
                <c:ptCount val="9"/>
                <c:pt idx="0">
                  <c:v>0.95007613187115114</c:v>
                </c:pt>
                <c:pt idx="1">
                  <c:v>0.96007354724628824</c:v>
                </c:pt>
                <c:pt idx="2">
                  <c:v>0.97007291242543536</c:v>
                </c:pt>
                <c:pt idx="3">
                  <c:v>0.9750306543650028</c:v>
                </c:pt>
                <c:pt idx="4">
                  <c:v>0.97999932545213397</c:v>
                </c:pt>
                <c:pt idx="5">
                  <c:v>0.98497809278335902</c:v>
                </c:pt>
                <c:pt idx="6">
                  <c:v>0.98993229565165841</c:v>
                </c:pt>
                <c:pt idx="7">
                  <c:v>0.99501262245596311</c:v>
                </c:pt>
                <c:pt idx="8">
                  <c:v>0.98275659937740523</c:v>
                </c:pt>
              </c:numCache>
            </c:numRef>
          </c:xVal>
          <c:yVal>
            <c:numRef>
              <c:f>Sheet1!$B$2:$B$10</c:f>
              <c:numCache>
                <c:formatCode>General</c:formatCode>
                <c:ptCount val="9"/>
                <c:pt idx="0">
                  <c:v>0.21692115906569526</c:v>
                </c:pt>
                <c:pt idx="1">
                  <c:v>0.18351203115981701</c:v>
                </c:pt>
                <c:pt idx="2">
                  <c:v>0.14516382892602434</c:v>
                </c:pt>
                <c:pt idx="3">
                  <c:v>0.12452008469577636</c:v>
                </c:pt>
                <c:pt idx="4">
                  <c:v>0.10391133873464088</c:v>
                </c:pt>
                <c:pt idx="5">
                  <c:v>8.3162996278463366E-2</c:v>
                </c:pt>
                <c:pt idx="6">
                  <c:v>5.8379080648308594E-2</c:v>
                </c:pt>
                <c:pt idx="7">
                  <c:v>3.3043838867894748E-2</c:v>
                </c:pt>
              </c:numCache>
            </c:numRef>
          </c:yVal>
          <c:smooth val="0"/>
          <c:extLst>
            <c:ext xmlns:c16="http://schemas.microsoft.com/office/drawing/2014/chart" uri="{C3380CC4-5D6E-409C-BE32-E72D297353CC}">
              <c16:uniqueId val="{00000000-65B1-3645-90EC-F0DBC92CC64C}"/>
            </c:ext>
          </c:extLst>
        </c:ser>
        <c:ser>
          <c:idx val="1"/>
          <c:order val="1"/>
          <c:tx>
            <c:strRef>
              <c:f>Sheet1!$C$1</c:f>
              <c:strCache>
                <c:ptCount val="1"/>
                <c:pt idx="0">
                  <c:v>Контроль риска, цель 95%</c:v>
                </c:pt>
              </c:strCache>
            </c:strRef>
          </c:tx>
          <c:spPr>
            <a:ln w="19050" cap="flat">
              <a:solidFill>
                <a:srgbClr val="EB6834"/>
              </a:solidFill>
              <a:prstDash val="solid"/>
              <a:round/>
            </a:ln>
            <a:effectLst/>
          </c:spPr>
          <c:marker>
            <c:symbol val="circle"/>
            <c:size val="9"/>
            <c:spPr>
              <a:solidFill>
                <a:srgbClr val="EB6834"/>
              </a:solidFill>
              <a:ln w="9525" cap="flat">
                <a:solidFill>
                  <a:srgbClr val="EB6834"/>
                </a:solidFill>
                <a:prstDash val="solid"/>
                <a:round/>
              </a:ln>
              <a:effectLst/>
            </c:spPr>
          </c:marker>
          <c:xVal>
            <c:numRef>
              <c:f>Sheet1!$A$2:$A$10</c:f>
              <c:numCache>
                <c:formatCode>General</c:formatCode>
                <c:ptCount val="9"/>
                <c:pt idx="0">
                  <c:v>0.95007613187115114</c:v>
                </c:pt>
                <c:pt idx="1">
                  <c:v>0.96007354724628824</c:v>
                </c:pt>
                <c:pt idx="2">
                  <c:v>0.97007291242543536</c:v>
                </c:pt>
                <c:pt idx="3">
                  <c:v>0.9750306543650028</c:v>
                </c:pt>
                <c:pt idx="4">
                  <c:v>0.97999932545213397</c:v>
                </c:pt>
                <c:pt idx="5">
                  <c:v>0.98497809278335902</c:v>
                </c:pt>
                <c:pt idx="6">
                  <c:v>0.98993229565165841</c:v>
                </c:pt>
                <c:pt idx="7">
                  <c:v>0.99501262245596311</c:v>
                </c:pt>
                <c:pt idx="8">
                  <c:v>0.98275659937740523</c:v>
                </c:pt>
              </c:numCache>
            </c:numRef>
          </c:xVal>
          <c:yVal>
            <c:numRef>
              <c:f>Sheet1!$C$2:$C$10</c:f>
              <c:numCache>
                <c:formatCode>General</c:formatCode>
                <c:ptCount val="9"/>
                <c:pt idx="8">
                  <c:v>9.3077571313019761E-2</c:v>
                </c:pt>
              </c:numCache>
            </c:numRef>
          </c:yVal>
          <c:smooth val="0"/>
          <c:extLst>
            <c:ext xmlns:c16="http://schemas.microsoft.com/office/drawing/2014/chart" uri="{C3380CC4-5D6E-409C-BE32-E72D297353CC}">
              <c16:uniqueId val="{00000001-65B1-3645-90EC-F0DBC92CC64C}"/>
            </c:ext>
          </c:extLst>
        </c:ser>
        <c:dLbls>
          <c:showLegendKey val="0"/>
          <c:showVal val="0"/>
          <c:showCatName val="0"/>
          <c:showSerName val="0"/>
          <c:showPercent val="0"/>
          <c:showBubbleSize val="0"/>
        </c:dLbls>
        <c:axId val="2094734554"/>
        <c:axId val="2094734552"/>
      </c:scatterChart>
      <c:valAx>
        <c:axId val="2094734554"/>
        <c:scaling>
          <c:orientation val="minMax"/>
          <c:max val="1"/>
          <c:min val="0.94499999999999995"/>
        </c:scaling>
        <c:delete val="0"/>
        <c:axPos val="b"/>
        <c:majorGridlines>
          <c:spPr>
            <a:ln w="9525" cap="flat">
              <a:solidFill>
                <a:srgbClr val="E1E0D9"/>
              </a:solidFill>
              <a:prstDash val="solid"/>
              <a:round/>
            </a:ln>
          </c:spPr>
        </c:majorGridlines>
        <c:title>
          <c:tx>
            <c:rich>
              <a:bodyPr/>
              <a:lstStyle/>
              <a:p>
                <a:pPr>
                  <a:defRPr sz="1200" b="0" i="0" u="none" strike="noStrike">
                    <a:solidFill>
                      <a:srgbClr val="52514E"/>
                    </a:solidFill>
                    <a:latin typeface="Calibri"/>
                  </a:defRPr>
                </a:pPr>
                <a:r>
                  <a:rPr sz="1200" b="0" i="0" u="none" strike="noStrike">
                    <a:solidFill>
                      <a:srgbClr val="52514E"/>
                    </a:solidFill>
                    <a:latin typeface="Calibri"/>
                  </a:rPr>
                  <a:t>Средняя чувствительность</a:t>
                </a:r>
              </a:p>
            </c:rich>
          </c:tx>
          <c:overlay val="0"/>
        </c:title>
        <c:numFmt formatCode="General" sourceLinked="1"/>
        <c:majorTickMark val="none"/>
        <c:minorTickMark val="none"/>
        <c:tickLblPos val="nextTo"/>
        <c:spPr>
          <a:ln w="12700" cap="flat">
            <a:solidFill>
              <a:srgbClr val="C3C2B7"/>
            </a:solidFill>
            <a:prstDash val="solid"/>
            <a:round/>
          </a:ln>
        </c:spPr>
        <c:txPr>
          <a:bodyPr/>
          <a:lstStyle/>
          <a:p>
            <a:pPr>
              <a:defRPr sz="1200" b="0" i="0" u="none" strike="noStrike">
                <a:solidFill>
                  <a:srgbClr val="52514E"/>
                </a:solidFill>
                <a:latin typeface="Calibri"/>
              </a:defRPr>
            </a:pPr>
            <a:endParaRPr lang="en-US"/>
          </a:p>
        </c:txPr>
        <c:crossAx val="2094734552"/>
        <c:crosses val="autoZero"/>
        <c:crossBetween val="midCat"/>
        <c:majorUnit val="0.01"/>
      </c:valAx>
      <c:valAx>
        <c:axId val="2094734552"/>
        <c:scaling>
          <c:orientation val="minMax"/>
          <c:max val="0.25"/>
          <c:min val="0"/>
        </c:scaling>
        <c:delete val="0"/>
        <c:axPos val="l"/>
        <c:majorGridlines>
          <c:spPr>
            <a:ln w="9525" cap="flat">
              <a:solidFill>
                <a:srgbClr val="E1E0D9"/>
              </a:solidFill>
              <a:prstDash val="solid"/>
              <a:round/>
            </a:ln>
          </c:spPr>
        </c:majorGridlines>
        <c:title>
          <c:tx>
            <c:rich>
              <a:bodyPr/>
              <a:lstStyle/>
              <a:p>
                <a:pPr>
                  <a:defRPr sz="1200" b="0" i="0" u="none" strike="noStrike">
                    <a:solidFill>
                      <a:srgbClr val="52514E"/>
                    </a:solidFill>
                    <a:latin typeface="Calibri"/>
                  </a:defRPr>
                </a:pPr>
                <a:r>
                  <a:rPr sz="1200" b="0" i="0" u="none" strike="noStrike">
                    <a:solidFill>
                      <a:srgbClr val="52514E"/>
                    </a:solidFill>
                    <a:latin typeface="Calibri"/>
                  </a:rPr>
                  <a:t>Отсев ложных</a:t>
                </a:r>
              </a:p>
            </c:rich>
          </c:tx>
          <c:overlay val="0"/>
        </c:title>
        <c:numFmt formatCode="0%" sourceLinked="0"/>
        <c:majorTickMark val="none"/>
        <c:minorTickMark val="none"/>
        <c:tickLblPos val="nextTo"/>
        <c:spPr>
          <a:ln w="12700" cap="flat">
            <a:noFill/>
            <a:prstDash val="solid"/>
            <a:round/>
          </a:ln>
        </c:spPr>
        <c:txPr>
          <a:bodyPr/>
          <a:lstStyle/>
          <a:p>
            <a:pPr>
              <a:defRPr sz="1100" b="0" i="0" u="none" strike="noStrike">
                <a:solidFill>
                  <a:srgbClr val="898781"/>
                </a:solidFill>
                <a:latin typeface="Calibri"/>
              </a:defRPr>
            </a:pPr>
            <a:endParaRPr lang="en-US"/>
          </a:p>
        </c:txPr>
        <c:crossAx val="2094734554"/>
        <c:crosses val="autoZero"/>
        <c:crossBetween val="midCat"/>
        <c:majorUnit val="0.05"/>
      </c:valAx>
      <c:spPr>
        <a:noFill/>
        <a:ln>
          <a:noFill/>
        </a:ln>
        <a:effectLst/>
      </c:spPr>
    </c:plotArea>
    <c:legend>
      <c:legendPos val="b"/>
      <c:overlay val="0"/>
      <c:txPr>
        <a:bodyPr/>
        <a:lstStyle/>
        <a:p>
          <a:pPr>
            <a:defRPr sz="12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2416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Я расскажу о двух работах. Первая — проверка программы, которая отсеивает ложные находки при поиске делеций в геноме. Мы проверили её не на одном человеке, как принято, а на тридцати, и это изменило главный вывод. Вторая работа выросла из первой: как выбирать порог срабатывания программы так, чтобы у нового человека было гарантированное качество. В конце — коротко о дальнейших планах.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Делеция — это участок ДНК, которого у человека нет по сравнению с эталонным геномом. Ищет такие участки программа-детектор; мы используем распространённый детектор Manta. Детектор ошибается: на тридцати людях около 88 процентов его находок — настоящие делеции, остальные примерно 12 — ложные срабатывания. PAIR-SV работает на втором этапе: получает находку детектора вместе с прочтениями ДНК конкретного человека и оценивает, настоящая это делеция или ошибка. Важное ограничение: PAIR-SV ничего не ищет заново. Если детектор делецию пропустил, PAIR-SV её не вернёт. На геноме HG002 сама Manta нашла 42,7 процента известных делеций, поэтому все наши цифры — о качестве отбора среди найденного, а не о полноте поиска.</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сделали пять версий классификатора. Все смотрят на изображение прочтений вокруг двух точек разрыва — начала и конца предполагаемой делеции. Дальше версии различаются добавками: M1 добавляет последовательность ДНК в этом месте, M2 — семнадцать числовых признаков качества прочтений, M3 — сами прочтения человека, M4 — всё сразу. Так можно измерить вклад каждого источника отдельно. Обучали на парах: один и тот же участок генома у одного человека размечен как делеция, у другого — как её отсутствие. Поэтому модель не может просто запомнить, что в этой координате обычно бывает делеция: ей приходится смотреть на данные конкретного человека. До обучения мы отдельно проверили, что правильный ответ нельзя угадать по служебным полям, — все четыре такие проверки пройдены.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Проверка шла в четыре этапа, каждый ближе к реальности. Сначала контролируемый тест на пяти отложенных людях. Затем пять новых людей с реальным, неотфильтрованным выводом детектора — на них мы подобрали порог срабатывания, нацеливаясь на 95 процентов найденных делеций. Затем эталонный геном HG002. И наконец тридцать новых людей, по шесть из каждой из пяти континентальных групп происхождения, без родства с предыдущими выборками. Последние два этапа открывались ровно один раз. До открытия данных мы фиксировали и хэшировали пороги, определения метрик, подгрупп и состав выборки, — подогнать правила под результат задним числом было нельзя. Это тот же принцип, что в клинических испытаниях: план анализа пишется до того, как открыты данные.</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Первый результат касается методики. Вклад источника данных можно оценить двумя способами. Быстрый — взять готовую модель и обнулить этот вход. Правильный, но долгий — обучить модель заново без этой ветви. Быстрый способ завысил вклад в 5–10 раз: для последовательности ДНК в 5,1 раза, для прочтений в 10,5, для числовых признаков в 6,6. Причина понятна: обнуление выталкивает модель за пределы данных, на которых она училась, и падение качества смешивает «вход важен» и «модель не умеет работать без этого входа». При честном переобучении каждая ветвь даёт лишь 0,07–0,15 процентного пункта — ветви во многом дублируют друг друга. Это же видно на контролируемом тесте: M2 и M4 значимо лучше базовой M0, но M4 не лучше M2 — доверительный интервал разницы включает ноль.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Когда мы перенесли порог с контролируемого теста на реальные находки детектора, отсев ложных упал до 4–7 процентов: программа соглашалась почти со всем. При этом способность различать не пропала — площадь под ROC-кривой осталась 0,75–0,76. Сдвинулась только граница: на подготовленных парах положительных и отрицательных было поровну, а в реальном потоке почти 90 процентов находок верные. Поэтому порог мы подобрали заново — поочерёдным исключением людей: подбираем на четырёх, проверяем на пятом, и так для каждого. Порог переносился на отложенного человека во всех 45 проверках, отсев ложных составил 21–24 процента при чувствительности около 95.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Затем — эталонный геном HG002, с порогом без всякой перенастройки. Здесь версии впервые разошлись. M2 достигла цели: 95,5 процента найденных делеций. M4 — 93,3 процента, на 1,7 пункта ниже цели и на 2,2 ниже M2, хотя ложных находок M4 отсеивала больше всех. Напрашивался вывод: сложная версия хуже переносится на нового человека. Мы записали это как гипотезу — и именно ради её проверки собрали группу из тридцати человек.</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тридцати людях эта разница исчезла. Средняя чувствительность M2 и M4 различается на 0,000176. Для сравнения: разброс этой же величины между людьми — 0,0062, то есть различие между версиями в 35 раз меньше, чем обычная разница между двумя людьми. На графике каждая пара точек — один человек: точки M2 и M4 почти совпадают, а сами люди расходятся от 93 до 96 процентов. Порядок версий на HG002 был свойством этого человека, а не программы. Важно, чего это не доказывает: что на HG002 разница была случайной. Это показывает другое — по одному геному нельзя судить об устройстве модели, даже если проверка проведена безупречно.</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Ещё два результата. Первый: ни одна версия не достигла заявленных 95 процентов — 94,5, 94,7 и 94,7. Недобор небольшой и одинаковый: разброс между людьми около 0,6 пункта. Значит, дело в положении порога, а не в неустойчивости. После промаха порог мы не перенастраивали. Второй: у шести человек африканского происхождения программа отсеивает меньше ложных находок — 17–18 процентов против 22–24 у остальных групп. Находит делеции она при этом одинаково во всех группах. Наиболее вероятная причина — справочник эталонных ответов: для африканских популяций в нём меньше данных. Но это наша интерпретация, экспериментом она не доказана, и правила разметки после этого результата мы не меняли.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 первой статьи. Главный вклад — не сравнение версий, а вывод о методике: проверки на одном геноме недостаточно, даже если она проведена строго и честно. Результаты стоит разделять на три вопроса. Качество: цель не достигнута, но недобор одинаковый у всех. Обобщаемость: различие версий на HG002 не воспроизвелось. Методика оценки: оба дешёвых способа — один геном и обнуление входа — дали завышенный эффект. Статья готова к подаче; есть английская версия и полная русская с 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Вторая статья отвечает на вопрос, который первая оставила открытым. Старая процедура подбирает порог так, чтобы в среднем по калибровочным людям чувствительность была 95 процентов. Но что с новым человеком? Мы проверили это на всех тридцати людях: подбирали порог на двадцати девяти и смотрели на тридцатого. Цель выполнялась только у 15–18 человек из 30 — примерно у половины. Каждая точка на слайде — один отложенный человек. Замена, которую мы проверяем, — метод конформного контроля риска. Он выбирает порог так, чтобы средняя доля пропущенных делеций у нового человека гарантированно не превышала заданную. Гарантия математическая и не зависит от вида распределения данных, но действует в среднем по новым людям, а не для каждого человека отдельно.</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Прежде всякого счёта из условия теоремы следует простая граница. Если порог подбирается на N людях, гарантировать можно чувствительность не выше N делённое на N плюс один. Для группы в шесть человек — не выше 85,7 процента. Ровно 95 процентов достижимы начиная с девятнадцати человек. На всей группе из тридцати — до 96,8. Мы проверили границу перебором порогов на реальных данных: на пяти людях процедура выдаёт порог при цели 0,833 и отказывается при 0,834 — ровно на пяти шестых. Для практики это важно: при малом числе людей гарантия не становится просто слабее — её невозможно получить в принципе.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Логично было попробовать подбирать порог отдельно для каждой группы происхождения — в частности, из-за разрыва у африканской группы. Это не сработало, по двум причинам. При шести людях на группу гарантия 95 процентов невозможна — все 15 сочетаний группы и версии дали отказ, как и предсказывает граница. А при достижимой цели в 75 процентов порог по своей группе отсеивал ложных находок на 20–25 пунктов меньше, чем общий порог по двадцати девяти людям, — во всех пяти группах и у всех трёх версий, и без выигрыша в надёжности. Причина та же: поправка на размер выборки при пяти людях — одна шестая, при двадцати девяти — одна тридцатая.</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проверка, которую первым сделает рецензент. Контроль риска держал цель у всех тридцати, но его средняя чувствительность вышла 98,3 процента вместо заказанных 95. Может, он просто осторожнее? Мы дали старой процедуре цели повыше. При цели 97 процентов она тоже держит 30 из 30 — и отсеивает ложных больше: 14,5 процента против 9,3 у контроля риска. На графике контроль риска лежит на той же кривой, что и старая процедура, то есть он не эффективнее. Смещение объясняется формулой: поправка за размер выборки съедает 67 процентов бюджета ошибки, и рабочая точка сдвигается к 0,98276. Измеренная чувствительность — 0,98276, совпадение до пятого знака. Ценность метода в другом: он попадает в надёжную точку сам. Цель 97 процентов для старой процедуры мы нашли, подглядывая в результаты на отложенных людях, — на новой популяции так нельзя.</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в итоге даёт вторая статья. Во-первых, формулу рабочей точки метода при конечной выборке — она совпала с измерением до пятого знака. Во-вторых, границу N на N плюс один: при шести людях на группу гарантия невозможна. В-третьих, контроль при равной надёжности — без него сравнение формального метода с эвристикой некорректно. Ограничения тоже есть, и в статье они будут названы прямо. Группа из тридцати человек использовалась многократно и без предрегистрации. Гарантия действует в среднем, а не для каждого человека. И сам метод не новый: контроль риска уже применяли в геномике, например к классификатору лейкозов. Новое у нас — количественное описание его поведения при малых выборках. Вычисления выполнены, пишется текст.</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о дальнейших планах. Первый шаг нужен в любом случае: научить классификатор определять генотип, то есть одна копия делеции или две, а не только «есть или нет». Метки для этого уже есть в данных. Второй — опираться на родителей: у ребёнка каждая копия приходит от одного из родителей, и это сильная проверка согласованности. Для человека данные есть: семья HG002 в GIAB и 602 семьи в 1000 Genomes. Третий — картофель, у которого по четыре копии каждой хромосомы: там нужно определять дозу делеции от нуля до четырёх и проверять её по расщеплению у потомков. Похожие инструменты уже появились — PSVGT и Varigraph, — но это статистические методы, и родителей они не используют. Главный открытый вопрос — доступ к данным картофеля с родителями и потомками.</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 Первое: одного генома недостаточно — вывод, сделанный на HG002, не воспроизвёлся на тридцати людях. Второе: порог с гарантией возможен, но при реальных размерах выборки поправка на её размер определяет рабочую точку; при шести людях на группу гарантия невозможна. Третье: первая статья готова к подаче, по второй результаты получены и пишется текст. Спасибо, готов ответить на вопросы.</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2E"/>
        </a:solidFill>
        <a:effectLst/>
      </p:bgPr>
    </p:bg>
    <p:spTree>
      <p:nvGrpSpPr>
        <p:cNvPr id="1" name=""/>
        <p:cNvGrpSpPr/>
        <p:nvPr/>
      </p:nvGrpSpPr>
      <p:grpSpPr>
        <a:xfrm>
          <a:off x="0" y="0"/>
          <a:ext cx="0" cy="0"/>
          <a:chOff x="0" y="0"/>
          <a:chExt cx="0" cy="0"/>
        </a:xfrm>
      </p:grpSpPr>
      <p:sp>
        <p:nvSpPr>
          <p:cNvPr id="34" name="Text 32"/>
          <p:cNvSpPr txBox="1"/>
          <p:nvPr/>
        </p:nvSpPr>
        <p:spPr>
          <a:xfrm>
            <a:off x="548640" y="1874520"/>
            <a:ext cx="11094415" cy="9144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От одного генома к тридцати</a:t>
            </a:r>
            <a:endParaRPr lang="en-US" sz="4600" dirty="0"/>
          </a:p>
        </p:txBody>
      </p:sp>
      <p:sp>
        <p:nvSpPr>
          <p:cNvPr id="35" name="Text 33"/>
          <p:cNvSpPr txBox="1"/>
          <p:nvPr/>
        </p:nvSpPr>
        <p:spPr>
          <a:xfrm>
            <a:off x="548640" y="2880360"/>
            <a:ext cx="9875520" cy="822960"/>
          </a:xfrm>
          <a:prstGeom prst="rect">
            <a:avLst/>
          </a:prstGeom>
          <a:noFill/>
          <a:ln/>
        </p:spPr>
        <p:txBody>
          <a:bodyPr wrap="square" lIns="0" tIns="0" rIns="0" bIns="0" rtlCol="0" anchor="t"/>
          <a:lstStyle/>
          <a:p>
            <a:pPr marL="0" indent="0">
              <a:buNone/>
            </a:pPr>
            <a:r>
              <a:rPr lang="en-US" sz="2400" dirty="0">
                <a:solidFill>
                  <a:srgbClr val="C3C2B7"/>
                </a:solidFill>
                <a:latin typeface="Calibri" pitchFamily="34" charset="0"/>
                <a:ea typeface="Calibri" pitchFamily="34" charset="-122"/>
                <a:cs typeface="Calibri" pitchFamily="34" charset="-120"/>
              </a:rPr>
              <a:t>Проверка классификатора делеций PAIR-SV и выбор порога с гарантией</a:t>
            </a:r>
            <a:endParaRPr lang="en-US" sz="2400" dirty="0"/>
          </a:p>
        </p:txBody>
      </p:sp>
      <p:sp>
        <p:nvSpPr>
          <p:cNvPr id="37" name="Text 35"/>
          <p:cNvSpPr txBox="1"/>
          <p:nvPr/>
        </p:nvSpPr>
        <p:spPr>
          <a:xfrm>
            <a:off x="562356" y="4192051"/>
            <a:ext cx="7315200" cy="320040"/>
          </a:xfrm>
          <a:prstGeom prst="rect">
            <a:avLst/>
          </a:prstGeom>
          <a:noFill/>
          <a:ln/>
        </p:spPr>
        <p:txBody>
          <a:bodyPr wrap="square" lIns="0" tIns="0" rIns="0" bIns="0" rtlCol="0" anchor="t"/>
          <a:lstStyle/>
          <a:p>
            <a:pPr marL="0" indent="0">
              <a:buNone/>
            </a:pPr>
            <a:r>
              <a:rPr lang="en-US" sz="2000" dirty="0">
                <a:solidFill>
                  <a:srgbClr val="C3C2B7"/>
                </a:solidFill>
                <a:latin typeface="Calibri" pitchFamily="34" charset="0"/>
                <a:ea typeface="Calibri" pitchFamily="34" charset="-122"/>
                <a:cs typeface="Calibri" pitchFamily="34" charset="-120"/>
              </a:rPr>
              <a:t>Отчёт о выполненной работе · сентябрь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ЗАДАЧА</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Отсеять ложные находки детектора</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2 / 17</a:t>
            </a:r>
            <a:endParaRPr lang="en-US" sz="1000" dirty="0"/>
          </a:p>
        </p:txBody>
      </p:sp>
      <p:sp>
        <p:nvSpPr>
          <p:cNvPr id="5" name="Shape 3"/>
          <p:cNvSpPr/>
          <p:nvPr/>
        </p:nvSpPr>
        <p:spPr>
          <a:xfrm>
            <a:off x="548640" y="1600200"/>
            <a:ext cx="1847088" cy="1051560"/>
          </a:xfrm>
          <a:prstGeom prst="roundRect">
            <a:avLst>
              <a:gd name="adj" fmla="val 6957"/>
            </a:avLst>
          </a:prstGeom>
          <a:solidFill>
            <a:srgbClr val="F2F3F5"/>
          </a:solidFill>
          <a:ln w="9525">
            <a:solidFill>
              <a:srgbClr val="F2F3F5"/>
            </a:solidFill>
            <a:prstDash val="solid"/>
          </a:ln>
        </p:spPr>
      </p:sp>
      <p:sp>
        <p:nvSpPr>
          <p:cNvPr id="6" name="Text 4"/>
          <p:cNvSpPr txBox="1"/>
          <p:nvPr/>
        </p:nvSpPr>
        <p:spPr>
          <a:xfrm>
            <a:off x="658368" y="1600200"/>
            <a:ext cx="1627632" cy="1051560"/>
          </a:xfrm>
          <a:prstGeom prst="rect">
            <a:avLst/>
          </a:prstGeom>
          <a:noFill/>
          <a:ln/>
        </p:spPr>
        <p:txBody>
          <a:bodyPr wrap="square" lIns="0" tIns="0" rIns="0" bIns="0" rtlCol="0" anchor="ctr"/>
          <a:lstStyle/>
          <a:p>
            <a:pPr marL="0" indent="0" algn="ctr">
              <a:buNone/>
            </a:pPr>
            <a:r>
              <a:rPr lang="en-US" sz="1600" dirty="0">
                <a:solidFill>
                  <a:srgbClr val="141A23"/>
                </a:solidFill>
                <a:latin typeface="Calibri" pitchFamily="34" charset="0"/>
                <a:ea typeface="Calibri" pitchFamily="34" charset="-122"/>
                <a:cs typeface="Calibri" pitchFamily="34" charset="-120"/>
              </a:rPr>
              <a:t>Прочтения ДНК человека</a:t>
            </a:r>
            <a:endParaRPr lang="en-US" sz="1600" dirty="0"/>
          </a:p>
        </p:txBody>
      </p:sp>
      <p:sp>
        <p:nvSpPr>
          <p:cNvPr id="7" name="Shape 5"/>
          <p:cNvSpPr/>
          <p:nvPr/>
        </p:nvSpPr>
        <p:spPr>
          <a:xfrm>
            <a:off x="2459736" y="2125980"/>
            <a:ext cx="329184" cy="0"/>
          </a:xfrm>
          <a:prstGeom prst="line">
            <a:avLst/>
          </a:prstGeom>
          <a:noFill/>
          <a:ln w="19050">
            <a:solidFill>
              <a:srgbClr val="898781"/>
            </a:solidFill>
            <a:prstDash val="solid"/>
            <a:tailEnd type="triangle"/>
          </a:ln>
        </p:spPr>
      </p:sp>
      <p:sp>
        <p:nvSpPr>
          <p:cNvPr id="8" name="Shape 6"/>
          <p:cNvSpPr/>
          <p:nvPr/>
        </p:nvSpPr>
        <p:spPr>
          <a:xfrm>
            <a:off x="2852928" y="1600200"/>
            <a:ext cx="1847088" cy="1051560"/>
          </a:xfrm>
          <a:prstGeom prst="roundRect">
            <a:avLst>
              <a:gd name="adj" fmla="val 6957"/>
            </a:avLst>
          </a:prstGeom>
          <a:solidFill>
            <a:srgbClr val="F2F3F5"/>
          </a:solidFill>
          <a:ln w="9525">
            <a:solidFill>
              <a:srgbClr val="F2F3F5"/>
            </a:solidFill>
            <a:prstDash val="solid"/>
          </a:ln>
        </p:spPr>
      </p:sp>
      <p:sp>
        <p:nvSpPr>
          <p:cNvPr id="9" name="Text 7"/>
          <p:cNvSpPr txBox="1"/>
          <p:nvPr/>
        </p:nvSpPr>
        <p:spPr>
          <a:xfrm>
            <a:off x="2962656" y="1600200"/>
            <a:ext cx="1627632" cy="1051560"/>
          </a:xfrm>
          <a:prstGeom prst="rect">
            <a:avLst/>
          </a:prstGeom>
          <a:noFill/>
          <a:ln/>
        </p:spPr>
        <p:txBody>
          <a:bodyPr wrap="square" lIns="0" tIns="0" rIns="0" bIns="0" rtlCol="0" anchor="ctr"/>
          <a:lstStyle/>
          <a:p>
            <a:pPr marL="0" indent="0" algn="ctr">
              <a:buNone/>
            </a:pPr>
            <a:r>
              <a:rPr lang="en-US" sz="1600" dirty="0">
                <a:solidFill>
                  <a:srgbClr val="141A23"/>
                </a:solidFill>
                <a:latin typeface="Calibri" pitchFamily="34" charset="0"/>
                <a:ea typeface="Calibri" pitchFamily="34" charset="-122"/>
                <a:cs typeface="Calibri" pitchFamily="34" charset="-120"/>
              </a:rPr>
              <a:t>Manta — детектор делеций</a:t>
            </a:r>
            <a:endParaRPr lang="en-US" sz="1600" dirty="0"/>
          </a:p>
        </p:txBody>
      </p:sp>
      <p:sp>
        <p:nvSpPr>
          <p:cNvPr id="10" name="Shape 8"/>
          <p:cNvSpPr/>
          <p:nvPr/>
        </p:nvSpPr>
        <p:spPr>
          <a:xfrm>
            <a:off x="4764024" y="2125980"/>
            <a:ext cx="329184" cy="0"/>
          </a:xfrm>
          <a:prstGeom prst="line">
            <a:avLst/>
          </a:prstGeom>
          <a:noFill/>
          <a:ln w="19050">
            <a:solidFill>
              <a:srgbClr val="898781"/>
            </a:solidFill>
            <a:prstDash val="solid"/>
            <a:tailEnd type="triangle"/>
          </a:ln>
        </p:spPr>
      </p:sp>
      <p:sp>
        <p:nvSpPr>
          <p:cNvPr id="11" name="Shape 9"/>
          <p:cNvSpPr/>
          <p:nvPr/>
        </p:nvSpPr>
        <p:spPr>
          <a:xfrm>
            <a:off x="5157216" y="1600200"/>
            <a:ext cx="1847088" cy="1051560"/>
          </a:xfrm>
          <a:prstGeom prst="roundRect">
            <a:avLst>
              <a:gd name="adj" fmla="val 6957"/>
            </a:avLst>
          </a:prstGeom>
          <a:solidFill>
            <a:srgbClr val="F2F3F5"/>
          </a:solidFill>
          <a:ln w="9525">
            <a:solidFill>
              <a:srgbClr val="F2F3F5"/>
            </a:solidFill>
            <a:prstDash val="solid"/>
          </a:ln>
        </p:spPr>
      </p:sp>
      <p:sp>
        <p:nvSpPr>
          <p:cNvPr id="12" name="Text 10"/>
          <p:cNvSpPr txBox="1"/>
          <p:nvPr/>
        </p:nvSpPr>
        <p:spPr>
          <a:xfrm>
            <a:off x="5266944" y="1600200"/>
            <a:ext cx="1627632" cy="1051560"/>
          </a:xfrm>
          <a:prstGeom prst="rect">
            <a:avLst/>
          </a:prstGeom>
          <a:noFill/>
          <a:ln/>
        </p:spPr>
        <p:txBody>
          <a:bodyPr wrap="square" lIns="0" tIns="0" rIns="0" bIns="0" rtlCol="0" anchor="ctr"/>
          <a:lstStyle/>
          <a:p>
            <a:pPr marL="0" indent="0" algn="ctr">
              <a:buNone/>
            </a:pPr>
            <a:r>
              <a:rPr lang="en-US" sz="1600" dirty="0">
                <a:solidFill>
                  <a:srgbClr val="141A23"/>
                </a:solidFill>
                <a:latin typeface="Calibri" pitchFamily="34" charset="0"/>
                <a:ea typeface="Calibri" pitchFamily="34" charset="-122"/>
                <a:cs typeface="Calibri" pitchFamily="34" charset="-120"/>
              </a:rPr>
              <a:t>Кандидаты на делецию</a:t>
            </a:r>
            <a:endParaRPr lang="en-US" sz="1600" dirty="0"/>
          </a:p>
        </p:txBody>
      </p:sp>
      <p:sp>
        <p:nvSpPr>
          <p:cNvPr id="13" name="Shape 11"/>
          <p:cNvSpPr/>
          <p:nvPr/>
        </p:nvSpPr>
        <p:spPr>
          <a:xfrm>
            <a:off x="7068312" y="2125980"/>
            <a:ext cx="329184" cy="0"/>
          </a:xfrm>
          <a:prstGeom prst="line">
            <a:avLst/>
          </a:prstGeom>
          <a:noFill/>
          <a:ln w="19050">
            <a:solidFill>
              <a:srgbClr val="898781"/>
            </a:solidFill>
            <a:prstDash val="solid"/>
            <a:tailEnd type="triangle"/>
          </a:ln>
        </p:spPr>
      </p:sp>
      <p:sp>
        <p:nvSpPr>
          <p:cNvPr id="14" name="Shape 12"/>
          <p:cNvSpPr/>
          <p:nvPr/>
        </p:nvSpPr>
        <p:spPr>
          <a:xfrm>
            <a:off x="7461504" y="1600200"/>
            <a:ext cx="1847088" cy="1051560"/>
          </a:xfrm>
          <a:prstGeom prst="roundRect">
            <a:avLst>
              <a:gd name="adj" fmla="val 6957"/>
            </a:avLst>
          </a:prstGeom>
          <a:solidFill>
            <a:srgbClr val="FDEEE7"/>
          </a:solidFill>
          <a:ln w="9525">
            <a:solidFill>
              <a:srgbClr val="FDEEE7"/>
            </a:solidFill>
            <a:prstDash val="solid"/>
          </a:ln>
        </p:spPr>
      </p:sp>
      <p:sp>
        <p:nvSpPr>
          <p:cNvPr id="15" name="Text 13"/>
          <p:cNvSpPr txBox="1"/>
          <p:nvPr/>
        </p:nvSpPr>
        <p:spPr>
          <a:xfrm>
            <a:off x="7571232" y="1600200"/>
            <a:ext cx="1627632" cy="1051560"/>
          </a:xfrm>
          <a:prstGeom prst="rect">
            <a:avLst/>
          </a:prstGeom>
          <a:noFill/>
          <a:ln/>
        </p:spPr>
        <p:txBody>
          <a:bodyPr wrap="square" lIns="0" tIns="0" rIns="0" bIns="0" rtlCol="0" anchor="ctr"/>
          <a:lstStyle/>
          <a:p>
            <a:pPr marL="0" indent="0" algn="ctr">
              <a:buNone/>
            </a:pPr>
            <a:r>
              <a:rPr lang="en-US" sz="1600" b="1" dirty="0">
                <a:solidFill>
                  <a:srgbClr val="141A23"/>
                </a:solidFill>
                <a:latin typeface="Calibri" pitchFamily="34" charset="0"/>
                <a:ea typeface="Calibri" pitchFamily="34" charset="-122"/>
                <a:cs typeface="Calibri" pitchFamily="34" charset="-120"/>
              </a:rPr>
              <a:t>PAIR-SV — перепроверка</a:t>
            </a:r>
            <a:endParaRPr lang="en-US" sz="1600" dirty="0"/>
          </a:p>
        </p:txBody>
      </p:sp>
      <p:sp>
        <p:nvSpPr>
          <p:cNvPr id="16" name="Shape 14"/>
          <p:cNvSpPr/>
          <p:nvPr/>
        </p:nvSpPr>
        <p:spPr>
          <a:xfrm>
            <a:off x="9372600" y="2125980"/>
            <a:ext cx="329184" cy="0"/>
          </a:xfrm>
          <a:prstGeom prst="line">
            <a:avLst/>
          </a:prstGeom>
          <a:noFill/>
          <a:ln w="19050">
            <a:solidFill>
              <a:srgbClr val="898781"/>
            </a:solidFill>
            <a:prstDash val="solid"/>
            <a:tailEnd type="triangle"/>
          </a:ln>
        </p:spPr>
      </p:sp>
      <p:sp>
        <p:nvSpPr>
          <p:cNvPr id="17" name="Shape 15"/>
          <p:cNvSpPr/>
          <p:nvPr/>
        </p:nvSpPr>
        <p:spPr>
          <a:xfrm>
            <a:off x="9765792" y="1600200"/>
            <a:ext cx="1847088" cy="1051560"/>
          </a:xfrm>
          <a:prstGeom prst="roundRect">
            <a:avLst>
              <a:gd name="adj" fmla="val 6957"/>
            </a:avLst>
          </a:prstGeom>
          <a:solidFill>
            <a:srgbClr val="F2F3F5"/>
          </a:solidFill>
          <a:ln w="9525">
            <a:solidFill>
              <a:srgbClr val="F2F3F5"/>
            </a:solidFill>
            <a:prstDash val="solid"/>
          </a:ln>
        </p:spPr>
      </p:sp>
      <p:sp>
        <p:nvSpPr>
          <p:cNvPr id="18" name="Text 16"/>
          <p:cNvSpPr txBox="1"/>
          <p:nvPr/>
        </p:nvSpPr>
        <p:spPr>
          <a:xfrm>
            <a:off x="9875520" y="1600200"/>
            <a:ext cx="1627632" cy="1051560"/>
          </a:xfrm>
          <a:prstGeom prst="rect">
            <a:avLst/>
          </a:prstGeom>
          <a:noFill/>
          <a:ln/>
        </p:spPr>
        <p:txBody>
          <a:bodyPr wrap="square" lIns="0" tIns="0" rIns="0" bIns="0" rtlCol="0" anchor="ctr"/>
          <a:lstStyle/>
          <a:p>
            <a:pPr marL="0" indent="0" algn="ctr">
              <a:buNone/>
            </a:pPr>
            <a:r>
              <a:rPr lang="en-US" sz="1600" dirty="0">
                <a:solidFill>
                  <a:srgbClr val="141A23"/>
                </a:solidFill>
                <a:latin typeface="Calibri" pitchFamily="34" charset="0"/>
                <a:ea typeface="Calibri" pitchFamily="34" charset="-122"/>
                <a:cs typeface="Calibri" pitchFamily="34" charset="-120"/>
              </a:rPr>
              <a:t>Принять или отсеять</a:t>
            </a:r>
            <a:endParaRPr lang="en-US" sz="1600" dirty="0"/>
          </a:p>
        </p:txBody>
      </p:sp>
      <p:sp>
        <p:nvSpPr>
          <p:cNvPr id="19" name="Shape 17"/>
          <p:cNvSpPr/>
          <p:nvPr/>
        </p:nvSpPr>
        <p:spPr>
          <a:xfrm>
            <a:off x="548640" y="3154680"/>
            <a:ext cx="3429000" cy="2606040"/>
          </a:xfrm>
          <a:prstGeom prst="roundRect">
            <a:avLst>
              <a:gd name="adj" fmla="val 2807"/>
            </a:avLst>
          </a:prstGeom>
          <a:solidFill>
            <a:srgbClr val="EAF2FC"/>
          </a:solidFill>
          <a:ln w="9525">
            <a:solidFill>
              <a:srgbClr val="EAF2FC"/>
            </a:solidFill>
            <a:prstDash val="solid"/>
          </a:ln>
        </p:spPr>
      </p:sp>
      <p:sp>
        <p:nvSpPr>
          <p:cNvPr id="20" name="Text 18"/>
          <p:cNvSpPr txBox="1"/>
          <p:nvPr/>
        </p:nvSpPr>
        <p:spPr>
          <a:xfrm>
            <a:off x="822960" y="3383280"/>
            <a:ext cx="2880360" cy="1005840"/>
          </a:xfrm>
          <a:prstGeom prst="rect">
            <a:avLst/>
          </a:prstGeom>
          <a:noFill/>
          <a:ln/>
        </p:spPr>
        <p:txBody>
          <a:bodyPr wrap="square" lIns="0" tIns="0" rIns="0" bIns="0" rtlCol="0" anchor="t"/>
          <a:lstStyle/>
          <a:p>
            <a:pPr marL="0" indent="0">
              <a:buNone/>
            </a:pPr>
            <a:r>
              <a:rPr lang="en-US" sz="6000" b="1" dirty="0">
                <a:solidFill>
                  <a:srgbClr val="2A78D6"/>
                </a:solidFill>
                <a:latin typeface="Calibri" pitchFamily="34" charset="0"/>
                <a:ea typeface="Calibri" pitchFamily="34" charset="-122"/>
                <a:cs typeface="Calibri" pitchFamily="34" charset="-120"/>
              </a:rPr>
              <a:t>88%</a:t>
            </a:r>
            <a:endParaRPr lang="en-US" sz="6000" dirty="0"/>
          </a:p>
        </p:txBody>
      </p:sp>
      <p:sp>
        <p:nvSpPr>
          <p:cNvPr id="21" name="Text 19"/>
          <p:cNvSpPr txBox="1"/>
          <p:nvPr/>
        </p:nvSpPr>
        <p:spPr>
          <a:xfrm>
            <a:off x="822960" y="4480560"/>
            <a:ext cx="2880360" cy="109728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находок Manta — настоящие делеции (в среднем по 30 людям)</a:t>
            </a:r>
            <a:endParaRPr lang="en-US" sz="1600" dirty="0"/>
          </a:p>
        </p:txBody>
      </p:sp>
      <p:sp>
        <p:nvSpPr>
          <p:cNvPr id="22" name="Shape 20"/>
          <p:cNvSpPr/>
          <p:nvPr/>
        </p:nvSpPr>
        <p:spPr>
          <a:xfrm>
            <a:off x="4366260" y="3154680"/>
            <a:ext cx="3429000" cy="2606040"/>
          </a:xfrm>
          <a:prstGeom prst="roundRect">
            <a:avLst>
              <a:gd name="adj" fmla="val 2807"/>
            </a:avLst>
          </a:prstGeom>
          <a:solidFill>
            <a:srgbClr val="FDEEE7"/>
          </a:solidFill>
          <a:ln w="9525">
            <a:solidFill>
              <a:srgbClr val="FDEEE7"/>
            </a:solidFill>
            <a:prstDash val="solid"/>
          </a:ln>
        </p:spPr>
      </p:sp>
      <p:sp>
        <p:nvSpPr>
          <p:cNvPr id="23" name="Text 21"/>
          <p:cNvSpPr txBox="1"/>
          <p:nvPr/>
        </p:nvSpPr>
        <p:spPr>
          <a:xfrm>
            <a:off x="4640580" y="3383280"/>
            <a:ext cx="2880360" cy="1005840"/>
          </a:xfrm>
          <a:prstGeom prst="rect">
            <a:avLst/>
          </a:prstGeom>
          <a:noFill/>
          <a:ln/>
        </p:spPr>
        <p:txBody>
          <a:bodyPr wrap="square" lIns="0" tIns="0" rIns="0" bIns="0" rtlCol="0" anchor="t"/>
          <a:lstStyle/>
          <a:p>
            <a:pPr marL="0" indent="0">
              <a:buNone/>
            </a:pPr>
            <a:r>
              <a:rPr lang="en-US" sz="6000" b="1" dirty="0">
                <a:solidFill>
                  <a:srgbClr val="EB6834"/>
                </a:solidFill>
                <a:latin typeface="Calibri" pitchFamily="34" charset="0"/>
                <a:ea typeface="Calibri" pitchFamily="34" charset="-122"/>
                <a:cs typeface="Calibri" pitchFamily="34" charset="-120"/>
              </a:rPr>
              <a:t>12%</a:t>
            </a:r>
            <a:endParaRPr lang="en-US" sz="6000" dirty="0"/>
          </a:p>
        </p:txBody>
      </p:sp>
      <p:sp>
        <p:nvSpPr>
          <p:cNvPr id="24" name="Text 22"/>
          <p:cNvSpPr txBox="1"/>
          <p:nvPr/>
        </p:nvSpPr>
        <p:spPr>
          <a:xfrm>
            <a:off x="4640580" y="4480560"/>
            <a:ext cx="2880360" cy="109728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 ложные срабатывания. Их надо найти, не потеряв настоящие</a:t>
            </a:r>
            <a:endParaRPr lang="en-US" sz="1600" dirty="0"/>
          </a:p>
        </p:txBody>
      </p:sp>
      <p:sp>
        <p:nvSpPr>
          <p:cNvPr id="25" name="Shape 23"/>
          <p:cNvSpPr/>
          <p:nvPr/>
        </p:nvSpPr>
        <p:spPr>
          <a:xfrm>
            <a:off x="8183880" y="3154680"/>
            <a:ext cx="3429000" cy="2606040"/>
          </a:xfrm>
          <a:prstGeom prst="roundRect">
            <a:avLst>
              <a:gd name="adj" fmla="val 2807"/>
            </a:avLst>
          </a:prstGeom>
          <a:solidFill>
            <a:srgbClr val="F2F3F5"/>
          </a:solidFill>
          <a:ln w="9525">
            <a:solidFill>
              <a:srgbClr val="F2F3F5"/>
            </a:solidFill>
            <a:prstDash val="solid"/>
          </a:ln>
        </p:spPr>
      </p:sp>
      <p:sp>
        <p:nvSpPr>
          <p:cNvPr id="26" name="Text 24"/>
          <p:cNvSpPr txBox="1"/>
          <p:nvPr/>
        </p:nvSpPr>
        <p:spPr>
          <a:xfrm>
            <a:off x="8458200" y="3410712"/>
            <a:ext cx="2880360" cy="2148840"/>
          </a:xfrm>
          <a:prstGeom prst="rect">
            <a:avLst/>
          </a:prstGeom>
          <a:noFill/>
          <a:ln/>
        </p:spPr>
        <p:txBody>
          <a:bodyPr wrap="square" lIns="0" tIns="0" rIns="0" bIns="0" rtlCol="0" anchor="t"/>
          <a:lstStyle/>
          <a:p>
            <a:pPr marL="0" indent="0">
              <a:spcAft>
                <a:spcPts val="600"/>
              </a:spcAft>
              <a:buNone/>
            </a:pPr>
            <a:r>
              <a:rPr lang="en-US" sz="1600" b="1" dirty="0">
                <a:solidFill>
                  <a:srgbClr val="141A23"/>
                </a:solidFill>
                <a:latin typeface="Calibri" pitchFamily="34" charset="0"/>
                <a:ea typeface="Calibri" pitchFamily="34" charset="-122"/>
                <a:cs typeface="Calibri" pitchFamily="34" charset="-120"/>
              </a:rPr>
              <a:t>Чего PAIR-SV не делает</a:t>
            </a:r>
            <a:endParaRPr lang="en-US" sz="1600" dirty="0"/>
          </a:p>
          <a:p>
            <a:pPr marL="0" indent="0">
              <a:spcAft>
                <a:spcPts val="600"/>
              </a:spcAft>
              <a:buNone/>
            </a:pPr>
            <a:r>
              <a:rPr lang="en-US" sz="1600" dirty="0">
                <a:solidFill>
                  <a:srgbClr val="141A23"/>
                </a:solidFill>
                <a:latin typeface="Calibri" pitchFamily="34" charset="0"/>
                <a:ea typeface="Calibri" pitchFamily="34" charset="-122"/>
                <a:cs typeface="Calibri" pitchFamily="34" charset="-120"/>
              </a:rPr>
              <a:t>Не ищет делеции заново. Что пропустил детектор, остаётся пропущенным: на эталонном геноме HG002 сама Manta нашла 42,7% известных делеций.</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УСТРОЙСТВО</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Пять версий классификатора</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3 / 17</a:t>
            </a:r>
            <a:endParaRPr lang="en-US" sz="1000" dirty="0"/>
          </a:p>
        </p:txBody>
      </p:sp>
      <p:sp>
        <p:nvSpPr>
          <p:cNvPr id="5" name="Text 3"/>
          <p:cNvSpPr txBox="1"/>
          <p:nvPr/>
        </p:nvSpPr>
        <p:spPr>
          <a:xfrm>
            <a:off x="2788920" y="1572768"/>
            <a:ext cx="1005840" cy="731520"/>
          </a:xfrm>
          <a:prstGeom prst="rect">
            <a:avLst/>
          </a:prstGeom>
          <a:noFill/>
          <a:ln/>
        </p:spPr>
        <p:txBody>
          <a:bodyPr wrap="square" lIns="0" tIns="0" rIns="0" bIns="0" rtlCol="0" anchor="b"/>
          <a:lstStyle/>
          <a:p>
            <a:pPr marL="0" indent="0" algn="ctr">
              <a:buNone/>
            </a:pPr>
            <a:r>
              <a:rPr lang="en-US" sz="1300" dirty="0">
                <a:solidFill>
                  <a:srgbClr val="52514E"/>
                </a:solidFill>
                <a:latin typeface="Calibri" pitchFamily="34" charset="0"/>
                <a:ea typeface="Calibri" pitchFamily="34" charset="-122"/>
                <a:cs typeface="Calibri" pitchFamily="34" charset="-120"/>
              </a:rPr>
              <a:t>Изображение прочтений</a:t>
            </a:r>
            <a:endParaRPr lang="en-US" sz="1300" dirty="0"/>
          </a:p>
        </p:txBody>
      </p:sp>
      <p:sp>
        <p:nvSpPr>
          <p:cNvPr id="6" name="Text 4"/>
          <p:cNvSpPr txBox="1"/>
          <p:nvPr/>
        </p:nvSpPr>
        <p:spPr>
          <a:xfrm>
            <a:off x="3867912" y="1572768"/>
            <a:ext cx="1005840" cy="731520"/>
          </a:xfrm>
          <a:prstGeom prst="rect">
            <a:avLst/>
          </a:prstGeom>
          <a:noFill/>
          <a:ln/>
        </p:spPr>
        <p:txBody>
          <a:bodyPr wrap="square" lIns="0" tIns="0" rIns="0" bIns="0" rtlCol="0" anchor="b"/>
          <a:lstStyle/>
          <a:p>
            <a:pPr marL="0" indent="0" algn="ctr">
              <a:buNone/>
            </a:pPr>
            <a:r>
              <a:rPr lang="en-US" sz="1300" dirty="0">
                <a:solidFill>
                  <a:srgbClr val="52514E"/>
                </a:solidFill>
                <a:latin typeface="Calibri" pitchFamily="34" charset="0"/>
                <a:ea typeface="Calibri" pitchFamily="34" charset="-122"/>
                <a:cs typeface="Calibri" pitchFamily="34" charset="-120"/>
              </a:rPr>
              <a:t>Последова­тельность ДНК</a:t>
            </a:r>
            <a:endParaRPr lang="en-US" sz="1300" dirty="0"/>
          </a:p>
        </p:txBody>
      </p:sp>
      <p:sp>
        <p:nvSpPr>
          <p:cNvPr id="7" name="Text 5"/>
          <p:cNvSpPr txBox="1"/>
          <p:nvPr/>
        </p:nvSpPr>
        <p:spPr>
          <a:xfrm>
            <a:off x="4946904" y="1572768"/>
            <a:ext cx="1005840" cy="731520"/>
          </a:xfrm>
          <a:prstGeom prst="rect">
            <a:avLst/>
          </a:prstGeom>
          <a:noFill/>
          <a:ln/>
        </p:spPr>
        <p:txBody>
          <a:bodyPr wrap="square" lIns="0" tIns="0" rIns="0" bIns="0" rtlCol="0" anchor="b"/>
          <a:lstStyle/>
          <a:p>
            <a:pPr marL="0" indent="0" algn="ctr">
              <a:buNone/>
            </a:pPr>
            <a:r>
              <a:rPr lang="en-US" sz="1300" dirty="0">
                <a:solidFill>
                  <a:srgbClr val="52514E"/>
                </a:solidFill>
                <a:latin typeface="Calibri" pitchFamily="34" charset="0"/>
                <a:ea typeface="Calibri" pitchFamily="34" charset="-122"/>
                <a:cs typeface="Calibri" pitchFamily="34" charset="-120"/>
              </a:rPr>
              <a:t>Прочтения человека</a:t>
            </a:r>
            <a:endParaRPr lang="en-US" sz="1300" dirty="0"/>
          </a:p>
        </p:txBody>
      </p:sp>
      <p:sp>
        <p:nvSpPr>
          <p:cNvPr id="8" name="Text 6"/>
          <p:cNvSpPr txBox="1"/>
          <p:nvPr/>
        </p:nvSpPr>
        <p:spPr>
          <a:xfrm>
            <a:off x="6025896" y="1572768"/>
            <a:ext cx="1005840" cy="731520"/>
          </a:xfrm>
          <a:prstGeom prst="rect">
            <a:avLst/>
          </a:prstGeom>
          <a:noFill/>
          <a:ln/>
        </p:spPr>
        <p:txBody>
          <a:bodyPr wrap="square" lIns="0" tIns="0" rIns="0" bIns="0" rtlCol="0" anchor="b"/>
          <a:lstStyle/>
          <a:p>
            <a:pPr marL="0" indent="0" algn="ctr">
              <a:buNone/>
            </a:pPr>
            <a:r>
              <a:rPr lang="en-US" sz="1300" dirty="0">
                <a:solidFill>
                  <a:srgbClr val="52514E"/>
                </a:solidFill>
                <a:latin typeface="Calibri" pitchFamily="34" charset="0"/>
                <a:ea typeface="Calibri" pitchFamily="34" charset="-122"/>
                <a:cs typeface="Calibri" pitchFamily="34" charset="-120"/>
              </a:rPr>
              <a:t>17 числовых признаков</a:t>
            </a:r>
            <a:endParaRPr lang="en-US" sz="1300" dirty="0"/>
          </a:p>
        </p:txBody>
      </p:sp>
      <p:sp>
        <p:nvSpPr>
          <p:cNvPr id="9" name="Shape 7"/>
          <p:cNvSpPr/>
          <p:nvPr/>
        </p:nvSpPr>
        <p:spPr>
          <a:xfrm>
            <a:off x="457200" y="2322576"/>
            <a:ext cx="6647688" cy="512064"/>
          </a:xfrm>
          <a:prstGeom prst="roundRect">
            <a:avLst>
              <a:gd name="adj" fmla="val 14286"/>
            </a:avLst>
          </a:prstGeom>
          <a:solidFill>
            <a:srgbClr val="EAF2FC"/>
          </a:solidFill>
          <a:ln w="9525">
            <a:solidFill>
              <a:srgbClr val="EAF2FC"/>
            </a:solidFill>
            <a:prstDash val="solid"/>
          </a:ln>
        </p:spPr>
      </p:sp>
      <p:sp>
        <p:nvSpPr>
          <p:cNvPr id="10" name="Text 8"/>
          <p:cNvSpPr txBox="1"/>
          <p:nvPr/>
        </p:nvSpPr>
        <p:spPr>
          <a:xfrm>
            <a:off x="621792" y="2340864"/>
            <a:ext cx="2103120" cy="512064"/>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M0</a:t>
            </a:r>
            <a:r>
              <a:rPr lang="en-US" sz="1300" dirty="0">
                <a:solidFill>
                  <a:srgbClr val="52514E"/>
                </a:solidFill>
                <a:latin typeface="Calibri" pitchFamily="34" charset="0"/>
                <a:ea typeface="Calibri" pitchFamily="34" charset="-122"/>
                <a:cs typeface="Calibri" pitchFamily="34" charset="-120"/>
              </a:rPr>
              <a:t>  самая простая</a:t>
            </a:r>
            <a:endParaRPr lang="en-US" sz="1600" dirty="0"/>
          </a:p>
        </p:txBody>
      </p:sp>
      <p:sp>
        <p:nvSpPr>
          <p:cNvPr id="11" name="Shape 9"/>
          <p:cNvSpPr/>
          <p:nvPr/>
        </p:nvSpPr>
        <p:spPr>
          <a:xfrm>
            <a:off x="3172968" y="2459736"/>
            <a:ext cx="237744" cy="237744"/>
          </a:xfrm>
          <a:prstGeom prst="ellipse">
            <a:avLst/>
          </a:prstGeom>
          <a:solidFill>
            <a:srgbClr val="2A78D6"/>
          </a:solidFill>
          <a:ln w="15875">
            <a:solidFill>
              <a:srgbClr val="2A78D6"/>
            </a:solidFill>
            <a:prstDash val="solid"/>
          </a:ln>
        </p:spPr>
      </p:sp>
      <p:sp>
        <p:nvSpPr>
          <p:cNvPr id="12" name="Shape 10"/>
          <p:cNvSpPr/>
          <p:nvPr/>
        </p:nvSpPr>
        <p:spPr>
          <a:xfrm>
            <a:off x="4251960" y="2459736"/>
            <a:ext cx="237744" cy="237744"/>
          </a:xfrm>
          <a:prstGeom prst="ellipse">
            <a:avLst/>
          </a:prstGeom>
          <a:solidFill>
            <a:srgbClr val="FFFFFF">
              <a:alpha val="0"/>
            </a:srgbClr>
          </a:solidFill>
          <a:ln w="19050">
            <a:solidFill>
              <a:srgbClr val="C3C2B7"/>
            </a:solidFill>
            <a:prstDash val="solid"/>
          </a:ln>
        </p:spPr>
      </p:sp>
      <p:sp>
        <p:nvSpPr>
          <p:cNvPr id="13" name="Shape 11"/>
          <p:cNvSpPr/>
          <p:nvPr/>
        </p:nvSpPr>
        <p:spPr>
          <a:xfrm>
            <a:off x="5330952" y="2459736"/>
            <a:ext cx="237744" cy="237744"/>
          </a:xfrm>
          <a:prstGeom prst="ellipse">
            <a:avLst/>
          </a:prstGeom>
          <a:solidFill>
            <a:srgbClr val="FFFFFF">
              <a:alpha val="0"/>
            </a:srgbClr>
          </a:solidFill>
          <a:ln w="19050">
            <a:solidFill>
              <a:srgbClr val="C3C2B7"/>
            </a:solidFill>
            <a:prstDash val="solid"/>
          </a:ln>
        </p:spPr>
      </p:sp>
      <p:sp>
        <p:nvSpPr>
          <p:cNvPr id="14" name="Shape 12"/>
          <p:cNvSpPr/>
          <p:nvPr/>
        </p:nvSpPr>
        <p:spPr>
          <a:xfrm>
            <a:off x="6409944" y="2459736"/>
            <a:ext cx="237744" cy="237744"/>
          </a:xfrm>
          <a:prstGeom prst="ellipse">
            <a:avLst/>
          </a:prstGeom>
          <a:solidFill>
            <a:srgbClr val="FFFFFF">
              <a:alpha val="0"/>
            </a:srgbClr>
          </a:solidFill>
          <a:ln w="19050">
            <a:solidFill>
              <a:srgbClr val="C3C2B7"/>
            </a:solidFill>
            <a:prstDash val="solid"/>
          </a:ln>
        </p:spPr>
      </p:sp>
      <p:sp>
        <p:nvSpPr>
          <p:cNvPr id="15" name="Text 13"/>
          <p:cNvSpPr txBox="1"/>
          <p:nvPr/>
        </p:nvSpPr>
        <p:spPr>
          <a:xfrm>
            <a:off x="621792" y="2944368"/>
            <a:ext cx="2103120" cy="512064"/>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M1</a:t>
            </a:r>
            <a:endParaRPr lang="en-US" sz="1600" dirty="0"/>
          </a:p>
        </p:txBody>
      </p:sp>
      <p:sp>
        <p:nvSpPr>
          <p:cNvPr id="16" name="Shape 14"/>
          <p:cNvSpPr/>
          <p:nvPr/>
        </p:nvSpPr>
        <p:spPr>
          <a:xfrm>
            <a:off x="3172968" y="3063240"/>
            <a:ext cx="237744" cy="237744"/>
          </a:xfrm>
          <a:prstGeom prst="ellipse">
            <a:avLst/>
          </a:prstGeom>
          <a:solidFill>
            <a:srgbClr val="2A78D6"/>
          </a:solidFill>
          <a:ln w="15875">
            <a:solidFill>
              <a:srgbClr val="2A78D6"/>
            </a:solidFill>
            <a:prstDash val="solid"/>
          </a:ln>
        </p:spPr>
      </p:sp>
      <p:sp>
        <p:nvSpPr>
          <p:cNvPr id="17" name="Shape 15"/>
          <p:cNvSpPr/>
          <p:nvPr/>
        </p:nvSpPr>
        <p:spPr>
          <a:xfrm>
            <a:off x="4251960" y="3063240"/>
            <a:ext cx="237744" cy="237744"/>
          </a:xfrm>
          <a:prstGeom prst="ellipse">
            <a:avLst/>
          </a:prstGeom>
          <a:solidFill>
            <a:srgbClr val="2A78D6"/>
          </a:solidFill>
          <a:ln w="15875">
            <a:solidFill>
              <a:srgbClr val="2A78D6"/>
            </a:solidFill>
            <a:prstDash val="solid"/>
          </a:ln>
        </p:spPr>
      </p:sp>
      <p:sp>
        <p:nvSpPr>
          <p:cNvPr id="18" name="Shape 16"/>
          <p:cNvSpPr/>
          <p:nvPr/>
        </p:nvSpPr>
        <p:spPr>
          <a:xfrm>
            <a:off x="5330952" y="3063240"/>
            <a:ext cx="237744" cy="237744"/>
          </a:xfrm>
          <a:prstGeom prst="ellipse">
            <a:avLst/>
          </a:prstGeom>
          <a:solidFill>
            <a:srgbClr val="FFFFFF">
              <a:alpha val="0"/>
            </a:srgbClr>
          </a:solidFill>
          <a:ln w="19050">
            <a:solidFill>
              <a:srgbClr val="C3C2B7"/>
            </a:solidFill>
            <a:prstDash val="solid"/>
          </a:ln>
        </p:spPr>
      </p:sp>
      <p:sp>
        <p:nvSpPr>
          <p:cNvPr id="19" name="Shape 17"/>
          <p:cNvSpPr/>
          <p:nvPr/>
        </p:nvSpPr>
        <p:spPr>
          <a:xfrm>
            <a:off x="6409944" y="3063240"/>
            <a:ext cx="237744" cy="237744"/>
          </a:xfrm>
          <a:prstGeom prst="ellipse">
            <a:avLst/>
          </a:prstGeom>
          <a:solidFill>
            <a:srgbClr val="FFFFFF">
              <a:alpha val="0"/>
            </a:srgbClr>
          </a:solidFill>
          <a:ln w="19050">
            <a:solidFill>
              <a:srgbClr val="C3C2B7"/>
            </a:solidFill>
            <a:prstDash val="solid"/>
          </a:ln>
        </p:spPr>
      </p:sp>
      <p:sp>
        <p:nvSpPr>
          <p:cNvPr id="20" name="Shape 18"/>
          <p:cNvSpPr/>
          <p:nvPr/>
        </p:nvSpPr>
        <p:spPr>
          <a:xfrm>
            <a:off x="457200" y="3529584"/>
            <a:ext cx="6647688" cy="512064"/>
          </a:xfrm>
          <a:prstGeom prst="roundRect">
            <a:avLst>
              <a:gd name="adj" fmla="val 14286"/>
            </a:avLst>
          </a:prstGeom>
          <a:solidFill>
            <a:srgbClr val="EAF2FC"/>
          </a:solidFill>
          <a:ln w="9525">
            <a:solidFill>
              <a:srgbClr val="EAF2FC"/>
            </a:solidFill>
            <a:prstDash val="solid"/>
          </a:ln>
        </p:spPr>
      </p:sp>
      <p:sp>
        <p:nvSpPr>
          <p:cNvPr id="21" name="Text 19"/>
          <p:cNvSpPr txBox="1"/>
          <p:nvPr/>
        </p:nvSpPr>
        <p:spPr>
          <a:xfrm>
            <a:off x="621792" y="3547872"/>
            <a:ext cx="2103120" cy="512064"/>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M2</a:t>
            </a:r>
            <a:endParaRPr lang="en-US" sz="1600" dirty="0"/>
          </a:p>
        </p:txBody>
      </p:sp>
      <p:sp>
        <p:nvSpPr>
          <p:cNvPr id="22" name="Shape 20"/>
          <p:cNvSpPr/>
          <p:nvPr/>
        </p:nvSpPr>
        <p:spPr>
          <a:xfrm>
            <a:off x="3172968" y="3666744"/>
            <a:ext cx="237744" cy="237744"/>
          </a:xfrm>
          <a:prstGeom prst="ellipse">
            <a:avLst/>
          </a:prstGeom>
          <a:solidFill>
            <a:srgbClr val="2A78D6"/>
          </a:solidFill>
          <a:ln w="15875">
            <a:solidFill>
              <a:srgbClr val="2A78D6"/>
            </a:solidFill>
            <a:prstDash val="solid"/>
          </a:ln>
        </p:spPr>
      </p:sp>
      <p:sp>
        <p:nvSpPr>
          <p:cNvPr id="23" name="Shape 21"/>
          <p:cNvSpPr/>
          <p:nvPr/>
        </p:nvSpPr>
        <p:spPr>
          <a:xfrm>
            <a:off x="4251960" y="3666744"/>
            <a:ext cx="237744" cy="237744"/>
          </a:xfrm>
          <a:prstGeom prst="ellipse">
            <a:avLst/>
          </a:prstGeom>
          <a:solidFill>
            <a:srgbClr val="FFFFFF">
              <a:alpha val="0"/>
            </a:srgbClr>
          </a:solidFill>
          <a:ln w="19050">
            <a:solidFill>
              <a:srgbClr val="C3C2B7"/>
            </a:solidFill>
            <a:prstDash val="solid"/>
          </a:ln>
        </p:spPr>
      </p:sp>
      <p:sp>
        <p:nvSpPr>
          <p:cNvPr id="24" name="Shape 22"/>
          <p:cNvSpPr/>
          <p:nvPr/>
        </p:nvSpPr>
        <p:spPr>
          <a:xfrm>
            <a:off x="5330952" y="3666744"/>
            <a:ext cx="237744" cy="237744"/>
          </a:xfrm>
          <a:prstGeom prst="ellipse">
            <a:avLst/>
          </a:prstGeom>
          <a:solidFill>
            <a:srgbClr val="FFFFFF">
              <a:alpha val="0"/>
            </a:srgbClr>
          </a:solidFill>
          <a:ln w="19050">
            <a:solidFill>
              <a:srgbClr val="C3C2B7"/>
            </a:solidFill>
            <a:prstDash val="solid"/>
          </a:ln>
        </p:spPr>
      </p:sp>
      <p:sp>
        <p:nvSpPr>
          <p:cNvPr id="25" name="Shape 23"/>
          <p:cNvSpPr/>
          <p:nvPr/>
        </p:nvSpPr>
        <p:spPr>
          <a:xfrm>
            <a:off x="6409944" y="3666744"/>
            <a:ext cx="237744" cy="237744"/>
          </a:xfrm>
          <a:prstGeom prst="ellipse">
            <a:avLst/>
          </a:prstGeom>
          <a:solidFill>
            <a:srgbClr val="2A78D6"/>
          </a:solidFill>
          <a:ln w="15875">
            <a:solidFill>
              <a:srgbClr val="2A78D6"/>
            </a:solidFill>
            <a:prstDash val="solid"/>
          </a:ln>
        </p:spPr>
      </p:sp>
      <p:sp>
        <p:nvSpPr>
          <p:cNvPr id="26" name="Text 24"/>
          <p:cNvSpPr txBox="1"/>
          <p:nvPr/>
        </p:nvSpPr>
        <p:spPr>
          <a:xfrm>
            <a:off x="621792" y="4151376"/>
            <a:ext cx="2103120" cy="512064"/>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M3</a:t>
            </a:r>
            <a:endParaRPr lang="en-US" sz="1600" dirty="0"/>
          </a:p>
        </p:txBody>
      </p:sp>
      <p:sp>
        <p:nvSpPr>
          <p:cNvPr id="27" name="Shape 25"/>
          <p:cNvSpPr/>
          <p:nvPr/>
        </p:nvSpPr>
        <p:spPr>
          <a:xfrm>
            <a:off x="3172968" y="4270248"/>
            <a:ext cx="237744" cy="237744"/>
          </a:xfrm>
          <a:prstGeom prst="ellipse">
            <a:avLst/>
          </a:prstGeom>
          <a:solidFill>
            <a:srgbClr val="2A78D6"/>
          </a:solidFill>
          <a:ln w="15875">
            <a:solidFill>
              <a:srgbClr val="2A78D6"/>
            </a:solidFill>
            <a:prstDash val="solid"/>
          </a:ln>
        </p:spPr>
      </p:sp>
      <p:sp>
        <p:nvSpPr>
          <p:cNvPr id="28" name="Shape 26"/>
          <p:cNvSpPr/>
          <p:nvPr/>
        </p:nvSpPr>
        <p:spPr>
          <a:xfrm>
            <a:off x="4251960" y="4270248"/>
            <a:ext cx="237744" cy="237744"/>
          </a:xfrm>
          <a:prstGeom prst="ellipse">
            <a:avLst/>
          </a:prstGeom>
          <a:solidFill>
            <a:srgbClr val="FFFFFF">
              <a:alpha val="0"/>
            </a:srgbClr>
          </a:solidFill>
          <a:ln w="19050">
            <a:solidFill>
              <a:srgbClr val="C3C2B7"/>
            </a:solidFill>
            <a:prstDash val="solid"/>
          </a:ln>
        </p:spPr>
      </p:sp>
      <p:sp>
        <p:nvSpPr>
          <p:cNvPr id="29" name="Shape 27"/>
          <p:cNvSpPr/>
          <p:nvPr/>
        </p:nvSpPr>
        <p:spPr>
          <a:xfrm>
            <a:off x="5330952" y="4270248"/>
            <a:ext cx="237744" cy="237744"/>
          </a:xfrm>
          <a:prstGeom prst="ellipse">
            <a:avLst/>
          </a:prstGeom>
          <a:solidFill>
            <a:srgbClr val="2A78D6"/>
          </a:solidFill>
          <a:ln w="15875">
            <a:solidFill>
              <a:srgbClr val="2A78D6"/>
            </a:solidFill>
            <a:prstDash val="solid"/>
          </a:ln>
        </p:spPr>
      </p:sp>
      <p:sp>
        <p:nvSpPr>
          <p:cNvPr id="30" name="Shape 28"/>
          <p:cNvSpPr/>
          <p:nvPr/>
        </p:nvSpPr>
        <p:spPr>
          <a:xfrm>
            <a:off x="6409944" y="4270248"/>
            <a:ext cx="237744" cy="237744"/>
          </a:xfrm>
          <a:prstGeom prst="ellipse">
            <a:avLst/>
          </a:prstGeom>
          <a:solidFill>
            <a:srgbClr val="FFFFFF">
              <a:alpha val="0"/>
            </a:srgbClr>
          </a:solidFill>
          <a:ln w="19050">
            <a:solidFill>
              <a:srgbClr val="C3C2B7"/>
            </a:solidFill>
            <a:prstDash val="solid"/>
          </a:ln>
        </p:spPr>
      </p:sp>
      <p:sp>
        <p:nvSpPr>
          <p:cNvPr id="31" name="Shape 29"/>
          <p:cNvSpPr/>
          <p:nvPr/>
        </p:nvSpPr>
        <p:spPr>
          <a:xfrm>
            <a:off x="457200" y="4736592"/>
            <a:ext cx="6647688" cy="512064"/>
          </a:xfrm>
          <a:prstGeom prst="roundRect">
            <a:avLst>
              <a:gd name="adj" fmla="val 14286"/>
            </a:avLst>
          </a:prstGeom>
          <a:solidFill>
            <a:srgbClr val="EAF2FC"/>
          </a:solidFill>
          <a:ln w="9525">
            <a:solidFill>
              <a:srgbClr val="EAF2FC"/>
            </a:solidFill>
            <a:prstDash val="solid"/>
          </a:ln>
        </p:spPr>
      </p:sp>
      <p:sp>
        <p:nvSpPr>
          <p:cNvPr id="32" name="Text 30"/>
          <p:cNvSpPr txBox="1"/>
          <p:nvPr/>
        </p:nvSpPr>
        <p:spPr>
          <a:xfrm>
            <a:off x="621792" y="4754880"/>
            <a:ext cx="2103120" cy="512064"/>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M4</a:t>
            </a:r>
            <a:r>
              <a:rPr lang="en-US" sz="1300" dirty="0">
                <a:solidFill>
                  <a:srgbClr val="52514E"/>
                </a:solidFill>
                <a:latin typeface="Calibri" pitchFamily="34" charset="0"/>
                <a:ea typeface="Calibri" pitchFamily="34" charset="-122"/>
                <a:cs typeface="Calibri" pitchFamily="34" charset="-120"/>
              </a:rPr>
              <a:t>  все источники</a:t>
            </a:r>
            <a:endParaRPr lang="en-US" sz="1600" dirty="0"/>
          </a:p>
        </p:txBody>
      </p:sp>
      <p:sp>
        <p:nvSpPr>
          <p:cNvPr id="33" name="Shape 31"/>
          <p:cNvSpPr/>
          <p:nvPr/>
        </p:nvSpPr>
        <p:spPr>
          <a:xfrm>
            <a:off x="3172968" y="4873752"/>
            <a:ext cx="237744" cy="237744"/>
          </a:xfrm>
          <a:prstGeom prst="ellipse">
            <a:avLst/>
          </a:prstGeom>
          <a:solidFill>
            <a:srgbClr val="2A78D6"/>
          </a:solidFill>
          <a:ln w="15875">
            <a:solidFill>
              <a:srgbClr val="2A78D6"/>
            </a:solidFill>
            <a:prstDash val="solid"/>
          </a:ln>
        </p:spPr>
      </p:sp>
      <p:sp>
        <p:nvSpPr>
          <p:cNvPr id="34" name="Shape 32"/>
          <p:cNvSpPr/>
          <p:nvPr/>
        </p:nvSpPr>
        <p:spPr>
          <a:xfrm>
            <a:off x="4251960" y="4873752"/>
            <a:ext cx="237744" cy="237744"/>
          </a:xfrm>
          <a:prstGeom prst="ellipse">
            <a:avLst/>
          </a:prstGeom>
          <a:solidFill>
            <a:srgbClr val="2A78D6"/>
          </a:solidFill>
          <a:ln w="15875">
            <a:solidFill>
              <a:srgbClr val="2A78D6"/>
            </a:solidFill>
            <a:prstDash val="solid"/>
          </a:ln>
        </p:spPr>
      </p:sp>
      <p:sp>
        <p:nvSpPr>
          <p:cNvPr id="35" name="Shape 33"/>
          <p:cNvSpPr/>
          <p:nvPr/>
        </p:nvSpPr>
        <p:spPr>
          <a:xfrm>
            <a:off x="5330952" y="4873752"/>
            <a:ext cx="237744" cy="237744"/>
          </a:xfrm>
          <a:prstGeom prst="ellipse">
            <a:avLst/>
          </a:prstGeom>
          <a:solidFill>
            <a:srgbClr val="2A78D6"/>
          </a:solidFill>
          <a:ln w="15875">
            <a:solidFill>
              <a:srgbClr val="2A78D6"/>
            </a:solidFill>
            <a:prstDash val="solid"/>
          </a:ln>
        </p:spPr>
      </p:sp>
      <p:sp>
        <p:nvSpPr>
          <p:cNvPr id="36" name="Shape 34"/>
          <p:cNvSpPr/>
          <p:nvPr/>
        </p:nvSpPr>
        <p:spPr>
          <a:xfrm>
            <a:off x="6409944" y="4873752"/>
            <a:ext cx="237744" cy="237744"/>
          </a:xfrm>
          <a:prstGeom prst="ellipse">
            <a:avLst/>
          </a:prstGeom>
          <a:solidFill>
            <a:srgbClr val="2A78D6"/>
          </a:solidFill>
          <a:ln w="15875">
            <a:solidFill>
              <a:srgbClr val="2A78D6"/>
            </a:solidFill>
            <a:prstDash val="solid"/>
          </a:ln>
        </p:spPr>
      </p:sp>
      <p:sp>
        <p:nvSpPr>
          <p:cNvPr id="37" name="Text 35"/>
          <p:cNvSpPr txBox="1"/>
          <p:nvPr/>
        </p:nvSpPr>
        <p:spPr>
          <a:xfrm>
            <a:off x="548640" y="5431536"/>
            <a:ext cx="5943600" cy="274320"/>
          </a:xfrm>
          <a:prstGeom prst="rect">
            <a:avLst/>
          </a:prstGeom>
          <a:noFill/>
          <a:ln/>
        </p:spPr>
        <p:txBody>
          <a:bodyPr wrap="square" lIns="0" tIns="0" rIns="0" bIns="0" rtlCol="0" anchor="t"/>
          <a:lstStyle/>
          <a:p>
            <a:pPr marL="0" indent="0">
              <a:buNone/>
            </a:pPr>
            <a:r>
              <a:rPr lang="en-US" sz="1200" dirty="0">
                <a:solidFill>
                  <a:srgbClr val="898781"/>
                </a:solidFill>
                <a:latin typeface="Calibri" pitchFamily="34" charset="0"/>
                <a:ea typeface="Calibri" pitchFamily="34" charset="-122"/>
                <a:cs typeface="Calibri" pitchFamily="34" charset="-120"/>
              </a:rPr>
              <a:t>Выделены версии, прошедшие все этапы проверки</a:t>
            </a:r>
            <a:endParaRPr lang="en-US" sz="1200" dirty="0"/>
          </a:p>
        </p:txBody>
      </p:sp>
      <p:sp>
        <p:nvSpPr>
          <p:cNvPr id="38" name="Shape 36"/>
          <p:cNvSpPr/>
          <p:nvPr/>
        </p:nvSpPr>
        <p:spPr>
          <a:xfrm>
            <a:off x="7543800" y="1645920"/>
            <a:ext cx="4099255" cy="4343400"/>
          </a:xfrm>
          <a:prstGeom prst="roundRect">
            <a:avLst>
              <a:gd name="adj" fmla="val 1785"/>
            </a:avLst>
          </a:prstGeom>
          <a:solidFill>
            <a:srgbClr val="F2F3F5"/>
          </a:solidFill>
          <a:ln w="9525">
            <a:solidFill>
              <a:srgbClr val="F2F3F5"/>
            </a:solidFill>
            <a:prstDash val="solid"/>
          </a:ln>
        </p:spPr>
      </p:sp>
      <p:sp>
        <p:nvSpPr>
          <p:cNvPr id="39" name="Text 37"/>
          <p:cNvSpPr txBox="1"/>
          <p:nvPr/>
        </p:nvSpPr>
        <p:spPr>
          <a:xfrm>
            <a:off x="7818120" y="1874520"/>
            <a:ext cx="3550615" cy="2011680"/>
          </a:xfrm>
          <a:prstGeom prst="rect">
            <a:avLst/>
          </a:prstGeom>
          <a:noFill/>
          <a:ln/>
        </p:spPr>
        <p:txBody>
          <a:bodyPr wrap="square" lIns="0" tIns="0" rIns="0" bIns="0" rtlCol="0" anchor="t"/>
          <a:lstStyle/>
          <a:p>
            <a:pPr marL="0" indent="0">
              <a:spcAft>
                <a:spcPts val="800"/>
              </a:spcAft>
              <a:buNone/>
            </a:pPr>
            <a:r>
              <a:rPr lang="en-US" sz="1800" b="1" dirty="0">
                <a:solidFill>
                  <a:srgbClr val="141A23"/>
                </a:solidFill>
                <a:latin typeface="Calibri" pitchFamily="34" charset="0"/>
                <a:ea typeface="Calibri" pitchFamily="34" charset="-122"/>
                <a:cs typeface="Calibri" pitchFamily="34" charset="-120"/>
              </a:rPr>
              <a:t>Как обучали</a:t>
            </a:r>
            <a:endParaRPr lang="en-US" sz="1500" dirty="0"/>
          </a:p>
          <a:p>
            <a:pPr marL="0" indent="0">
              <a:spcAft>
                <a:spcPts val="800"/>
              </a:spcAft>
              <a:buNone/>
            </a:pPr>
            <a:r>
              <a:rPr lang="en-US" sz="1500" dirty="0">
                <a:solidFill>
                  <a:srgbClr val="141A23"/>
                </a:solidFill>
                <a:latin typeface="Calibri" pitchFamily="34" charset="0"/>
                <a:ea typeface="Calibri" pitchFamily="34" charset="-122"/>
                <a:cs typeface="Calibri" pitchFamily="34" charset="-120"/>
              </a:rPr>
              <a:t>Пары по одному участку генома: у одного человека — делеция, у другого — её нет. Запомнить координату бесполезно, модели приходится смотреть на прочтения конкретного человека.</a:t>
            </a:r>
            <a:endParaRPr lang="en-US" sz="1500" dirty="0"/>
          </a:p>
        </p:txBody>
      </p:sp>
      <p:sp>
        <p:nvSpPr>
          <p:cNvPr id="40" name="Text 38"/>
          <p:cNvSpPr txBox="1"/>
          <p:nvPr/>
        </p:nvSpPr>
        <p:spPr>
          <a:xfrm>
            <a:off x="7818120" y="3840480"/>
            <a:ext cx="3550615" cy="2011680"/>
          </a:xfrm>
          <a:prstGeom prst="rect">
            <a:avLst/>
          </a:prstGeom>
          <a:noFill/>
          <a:ln/>
        </p:spPr>
        <p:txBody>
          <a:bodyPr wrap="square" lIns="0" tIns="0" rIns="0" bIns="0" rtlCol="0" anchor="t"/>
          <a:lstStyle/>
          <a:p>
            <a:pPr marL="0" indent="0">
              <a:spcAft>
                <a:spcPts val="200"/>
              </a:spcAft>
              <a:buNone/>
            </a:pPr>
            <a:r>
              <a:rPr lang="en-US" sz="2600" b="1" dirty="0">
                <a:solidFill>
                  <a:srgbClr val="2A78D6"/>
                </a:solidFill>
                <a:latin typeface="Calibri" pitchFamily="34" charset="0"/>
                <a:ea typeface="Calibri" pitchFamily="34" charset="-122"/>
                <a:cs typeface="Calibri" pitchFamily="34" charset="-120"/>
              </a:rPr>
              <a:t>50 человек</a:t>
            </a:r>
            <a:endParaRPr lang="en-US" sz="1600" dirty="0"/>
          </a:p>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40 обучение · 5 настройка · 5 тест</a:t>
            </a:r>
            <a:endParaRPr lang="en-US" sz="1600" dirty="0"/>
          </a:p>
          <a:p>
            <a:pPr marL="0" indent="0">
              <a:spcAft>
                <a:spcPts val="200"/>
              </a:spcAft>
              <a:buNone/>
            </a:pPr>
            <a:r>
              <a:rPr lang="en-US" sz="2600" b="1" dirty="0">
                <a:solidFill>
                  <a:srgbClr val="2A78D6"/>
                </a:solidFill>
                <a:latin typeface="Calibri" pitchFamily="34" charset="0"/>
                <a:ea typeface="Calibri" pitchFamily="34" charset="-122"/>
                <a:cs typeface="Calibri" pitchFamily="34" charset="-120"/>
              </a:rPr>
              <a:t>12 272 пары участков</a:t>
            </a:r>
            <a:endParaRPr lang="en-US" sz="1600" dirty="0"/>
          </a:p>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4 из 4 проверок на утечку ответа пройдены до обучения</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ПРОВЕРКА</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Четыре уровня проверки</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4 / 17</a:t>
            </a:r>
            <a:endParaRPr lang="en-US" sz="1000" dirty="0"/>
          </a:p>
        </p:txBody>
      </p:sp>
      <p:sp>
        <p:nvSpPr>
          <p:cNvPr id="5" name="Shape 3"/>
          <p:cNvSpPr/>
          <p:nvPr/>
        </p:nvSpPr>
        <p:spPr>
          <a:xfrm>
            <a:off x="832104" y="2157984"/>
            <a:ext cx="8413394" cy="0"/>
          </a:xfrm>
          <a:prstGeom prst="line">
            <a:avLst/>
          </a:prstGeom>
          <a:noFill/>
          <a:ln w="19050">
            <a:solidFill>
              <a:srgbClr val="C3C2B7"/>
            </a:solidFill>
            <a:prstDash val="solid"/>
          </a:ln>
        </p:spPr>
      </p:sp>
      <p:sp>
        <p:nvSpPr>
          <p:cNvPr id="6" name="Shape 4"/>
          <p:cNvSpPr/>
          <p:nvPr/>
        </p:nvSpPr>
        <p:spPr>
          <a:xfrm>
            <a:off x="548640" y="1874520"/>
            <a:ext cx="566928" cy="566928"/>
          </a:xfrm>
          <a:prstGeom prst="ellipse">
            <a:avLst/>
          </a:prstGeom>
          <a:solidFill>
            <a:srgbClr val="0F1C2E"/>
          </a:solidFill>
          <a:ln w="15875">
            <a:solidFill>
              <a:srgbClr val="0F1C2E"/>
            </a:solidFill>
            <a:prstDash val="solid"/>
          </a:ln>
        </p:spPr>
      </p:sp>
      <p:sp>
        <p:nvSpPr>
          <p:cNvPr id="7" name="Text 5"/>
          <p:cNvSpPr txBox="1"/>
          <p:nvPr/>
        </p:nvSpPr>
        <p:spPr>
          <a:xfrm>
            <a:off x="548640" y="18745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548640" y="2651760"/>
            <a:ext cx="2514600" cy="658368"/>
          </a:xfrm>
          <a:prstGeom prst="rect">
            <a:avLst/>
          </a:prstGeom>
          <a:noFill/>
          <a:ln/>
        </p:spPr>
        <p:txBody>
          <a:bodyPr wrap="square" lIns="0" tIns="0" rIns="0" bIns="0" rtlCol="0" anchor="t"/>
          <a:lstStyle/>
          <a:p>
            <a:pPr marL="0" indent="0">
              <a:buNone/>
            </a:pPr>
            <a:r>
              <a:rPr lang="en-US" sz="1800" b="1" dirty="0">
                <a:solidFill>
                  <a:srgbClr val="141A23"/>
                </a:solidFill>
                <a:latin typeface="Calibri" pitchFamily="34" charset="0"/>
                <a:ea typeface="Calibri" pitchFamily="34" charset="-122"/>
                <a:cs typeface="Calibri" pitchFamily="34" charset="-120"/>
              </a:rPr>
              <a:t>Контролируемый тест</a:t>
            </a:r>
            <a:endParaRPr lang="en-US" sz="1800" dirty="0"/>
          </a:p>
        </p:txBody>
      </p:sp>
      <p:sp>
        <p:nvSpPr>
          <p:cNvPr id="9" name="Text 7"/>
          <p:cNvSpPr txBox="1"/>
          <p:nvPr/>
        </p:nvSpPr>
        <p:spPr>
          <a:xfrm>
            <a:off x="548640" y="3355848"/>
            <a:ext cx="2514600" cy="96012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5 отложенных людей, подготовленные пары</a:t>
            </a:r>
            <a:endParaRPr lang="en-US" sz="1500" dirty="0"/>
          </a:p>
        </p:txBody>
      </p:sp>
      <p:sp>
        <p:nvSpPr>
          <p:cNvPr id="10" name="Shape 8"/>
          <p:cNvSpPr/>
          <p:nvPr/>
        </p:nvSpPr>
        <p:spPr>
          <a:xfrm>
            <a:off x="3353105" y="1874520"/>
            <a:ext cx="566928" cy="566928"/>
          </a:xfrm>
          <a:prstGeom prst="ellipse">
            <a:avLst/>
          </a:prstGeom>
          <a:solidFill>
            <a:srgbClr val="0F1C2E"/>
          </a:solidFill>
          <a:ln w="15875">
            <a:solidFill>
              <a:srgbClr val="0F1C2E"/>
            </a:solidFill>
            <a:prstDash val="solid"/>
          </a:ln>
        </p:spPr>
      </p:sp>
      <p:sp>
        <p:nvSpPr>
          <p:cNvPr id="11" name="Text 9"/>
          <p:cNvSpPr txBox="1"/>
          <p:nvPr/>
        </p:nvSpPr>
        <p:spPr>
          <a:xfrm>
            <a:off x="3353105" y="18745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3353105" y="2651760"/>
            <a:ext cx="2514600" cy="658368"/>
          </a:xfrm>
          <a:prstGeom prst="rect">
            <a:avLst/>
          </a:prstGeom>
          <a:noFill/>
          <a:ln/>
        </p:spPr>
        <p:txBody>
          <a:bodyPr wrap="square" lIns="0" tIns="0" rIns="0" bIns="0" rtlCol="0" anchor="t"/>
          <a:lstStyle/>
          <a:p>
            <a:pPr marL="0" indent="0">
              <a:buNone/>
            </a:pPr>
            <a:r>
              <a:rPr lang="en-US" sz="1800" b="1" dirty="0">
                <a:solidFill>
                  <a:srgbClr val="141A23"/>
                </a:solidFill>
                <a:latin typeface="Calibri" pitchFamily="34" charset="0"/>
                <a:ea typeface="Calibri" pitchFamily="34" charset="-122"/>
                <a:cs typeface="Calibri" pitchFamily="34" charset="-120"/>
              </a:rPr>
              <a:t>Развёрточное исследование</a:t>
            </a:r>
            <a:endParaRPr lang="en-US" sz="1800" dirty="0"/>
          </a:p>
        </p:txBody>
      </p:sp>
      <p:sp>
        <p:nvSpPr>
          <p:cNvPr id="13" name="Text 11"/>
          <p:cNvSpPr txBox="1"/>
          <p:nvPr/>
        </p:nvSpPr>
        <p:spPr>
          <a:xfrm>
            <a:off x="3353105" y="3355848"/>
            <a:ext cx="2514600" cy="96012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5 человек, реальные находки Manta; подбор порога на 95% чувствительности</a:t>
            </a:r>
            <a:endParaRPr lang="en-US" sz="1500" dirty="0"/>
          </a:p>
        </p:txBody>
      </p:sp>
      <p:sp>
        <p:nvSpPr>
          <p:cNvPr id="14" name="Shape 12"/>
          <p:cNvSpPr/>
          <p:nvPr/>
        </p:nvSpPr>
        <p:spPr>
          <a:xfrm>
            <a:off x="6157570" y="1874520"/>
            <a:ext cx="566928" cy="566928"/>
          </a:xfrm>
          <a:prstGeom prst="ellipse">
            <a:avLst/>
          </a:prstGeom>
          <a:solidFill>
            <a:srgbClr val="0F1C2E"/>
          </a:solidFill>
          <a:ln w="15875">
            <a:solidFill>
              <a:srgbClr val="0F1C2E"/>
            </a:solidFill>
            <a:prstDash val="solid"/>
          </a:ln>
        </p:spPr>
      </p:sp>
      <p:sp>
        <p:nvSpPr>
          <p:cNvPr id="15" name="Text 13"/>
          <p:cNvSpPr txBox="1"/>
          <p:nvPr/>
        </p:nvSpPr>
        <p:spPr>
          <a:xfrm>
            <a:off x="6157570" y="18745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6157570" y="2651760"/>
            <a:ext cx="2514600" cy="658368"/>
          </a:xfrm>
          <a:prstGeom prst="rect">
            <a:avLst/>
          </a:prstGeom>
          <a:noFill/>
          <a:ln/>
        </p:spPr>
        <p:txBody>
          <a:bodyPr wrap="square" lIns="0" tIns="0" rIns="0" bIns="0" rtlCol="0" anchor="t"/>
          <a:lstStyle/>
          <a:p>
            <a:pPr marL="0" indent="0">
              <a:buNone/>
            </a:pPr>
            <a:r>
              <a:rPr lang="en-US" sz="1800" b="1" dirty="0">
                <a:solidFill>
                  <a:srgbClr val="141A23"/>
                </a:solidFill>
                <a:latin typeface="Calibri" pitchFamily="34" charset="0"/>
                <a:ea typeface="Calibri" pitchFamily="34" charset="-122"/>
                <a:cs typeface="Calibri" pitchFamily="34" charset="-120"/>
              </a:rPr>
              <a:t>Эталонный геном HG002</a:t>
            </a:r>
            <a:endParaRPr lang="en-US" sz="1800" dirty="0"/>
          </a:p>
        </p:txBody>
      </p:sp>
      <p:sp>
        <p:nvSpPr>
          <p:cNvPr id="17" name="Text 15"/>
          <p:cNvSpPr txBox="1"/>
          <p:nvPr/>
        </p:nvSpPr>
        <p:spPr>
          <a:xfrm>
            <a:off x="6157570" y="3355848"/>
            <a:ext cx="2514600" cy="96012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1 человек, открыт один раз</a:t>
            </a:r>
            <a:endParaRPr lang="en-US" sz="1500" dirty="0"/>
          </a:p>
        </p:txBody>
      </p:sp>
      <p:sp>
        <p:nvSpPr>
          <p:cNvPr id="18" name="Shape 16"/>
          <p:cNvSpPr/>
          <p:nvPr/>
        </p:nvSpPr>
        <p:spPr>
          <a:xfrm>
            <a:off x="8962034" y="1874520"/>
            <a:ext cx="566928" cy="566928"/>
          </a:xfrm>
          <a:prstGeom prst="ellipse">
            <a:avLst/>
          </a:prstGeom>
          <a:solidFill>
            <a:srgbClr val="0F1C2E"/>
          </a:solidFill>
          <a:ln w="15875">
            <a:solidFill>
              <a:srgbClr val="0F1C2E"/>
            </a:solidFill>
            <a:prstDash val="solid"/>
          </a:ln>
        </p:spPr>
      </p:sp>
      <p:sp>
        <p:nvSpPr>
          <p:cNvPr id="19" name="Text 17"/>
          <p:cNvSpPr txBox="1"/>
          <p:nvPr/>
        </p:nvSpPr>
        <p:spPr>
          <a:xfrm>
            <a:off x="8962034" y="18745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8962034" y="2651760"/>
            <a:ext cx="2514600" cy="658368"/>
          </a:xfrm>
          <a:prstGeom prst="rect">
            <a:avLst/>
          </a:prstGeom>
          <a:noFill/>
          <a:ln/>
        </p:spPr>
        <p:txBody>
          <a:bodyPr wrap="square" lIns="0" tIns="0" rIns="0" bIns="0" rtlCol="0" anchor="t"/>
          <a:lstStyle/>
          <a:p>
            <a:pPr marL="0" indent="0">
              <a:buNone/>
            </a:pPr>
            <a:r>
              <a:rPr lang="en-US" sz="1800" b="1" dirty="0">
                <a:solidFill>
                  <a:srgbClr val="141A23"/>
                </a:solidFill>
                <a:latin typeface="Calibri" pitchFamily="34" charset="0"/>
                <a:ea typeface="Calibri" pitchFamily="34" charset="-122"/>
                <a:cs typeface="Calibri" pitchFamily="34" charset="-120"/>
              </a:rPr>
              <a:t>Новая группа</a:t>
            </a:r>
            <a:endParaRPr lang="en-US" sz="1800" dirty="0"/>
          </a:p>
        </p:txBody>
      </p:sp>
      <p:sp>
        <p:nvSpPr>
          <p:cNvPr id="21" name="Text 19"/>
          <p:cNvSpPr txBox="1"/>
          <p:nvPr/>
        </p:nvSpPr>
        <p:spPr>
          <a:xfrm>
            <a:off x="8962034" y="3355848"/>
            <a:ext cx="2514600" cy="96012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30 человек, по 6 из 5 групп происхождения; открыта один раз</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КОНТРОЛИРУЕМЫЙ ТЕСТ</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Быстрая оценка вклада завышает его в 5–10 раз</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5 / 17</a:t>
            </a:r>
            <a:endParaRPr lang="en-US" sz="1000" dirty="0"/>
          </a:p>
        </p:txBody>
      </p:sp>
      <p:graphicFrame>
        <p:nvGraphicFramePr>
          <p:cNvPr id="5" name="Chart 0"/>
          <p:cNvGraphicFramePr/>
          <p:nvPr/>
        </p:nvGraphicFramePr>
        <p:xfrm>
          <a:off x="548640" y="1463040"/>
          <a:ext cx="68580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818120" y="1600200"/>
            <a:ext cx="3824935" cy="365760"/>
          </a:xfrm>
          <a:prstGeom prst="rect">
            <a:avLst/>
          </a:prstGeom>
          <a:noFill/>
          <a:ln/>
        </p:spPr>
        <p:txBody>
          <a:bodyPr wrap="square" lIns="0" tIns="0" rIns="0" bIns="0" rtlCol="0" anchor="t"/>
          <a:lstStyle/>
          <a:p>
            <a:pPr marL="0" indent="0">
              <a:buNone/>
            </a:pPr>
            <a:r>
              <a:rPr lang="en-US" sz="1600" b="1" dirty="0">
                <a:solidFill>
                  <a:srgbClr val="52514E"/>
                </a:solidFill>
                <a:latin typeface="Calibri" pitchFamily="34" charset="0"/>
                <a:ea typeface="Calibri" pitchFamily="34" charset="-122"/>
                <a:cs typeface="Calibri" pitchFamily="34" charset="-120"/>
              </a:rPr>
              <a:t>Во сколько раз завышено</a:t>
            </a:r>
            <a:endParaRPr lang="en-US" sz="1600" dirty="0"/>
          </a:p>
        </p:txBody>
      </p:sp>
      <p:sp>
        <p:nvSpPr>
          <p:cNvPr id="7" name="Text 4"/>
          <p:cNvSpPr txBox="1"/>
          <p:nvPr/>
        </p:nvSpPr>
        <p:spPr>
          <a:xfrm>
            <a:off x="7818120" y="2057400"/>
            <a:ext cx="1600200" cy="731520"/>
          </a:xfrm>
          <a:prstGeom prst="rect">
            <a:avLst/>
          </a:prstGeom>
          <a:noFill/>
          <a:ln/>
        </p:spPr>
        <p:txBody>
          <a:bodyPr wrap="square" lIns="0" tIns="0" rIns="0" bIns="0" rtlCol="0" anchor="ctr"/>
          <a:lstStyle/>
          <a:p>
            <a:pPr marL="0" indent="0">
              <a:buNone/>
            </a:pPr>
            <a:r>
              <a:rPr lang="en-US" sz="3800" b="1" dirty="0">
                <a:solidFill>
                  <a:srgbClr val="EB6834"/>
                </a:solidFill>
                <a:latin typeface="Calibri" pitchFamily="34" charset="0"/>
                <a:ea typeface="Calibri" pitchFamily="34" charset="-122"/>
                <a:cs typeface="Calibri" pitchFamily="34" charset="-120"/>
              </a:rPr>
              <a:t>×5,1</a:t>
            </a:r>
            <a:endParaRPr lang="en-US" sz="3800" dirty="0"/>
          </a:p>
        </p:txBody>
      </p:sp>
      <p:sp>
        <p:nvSpPr>
          <p:cNvPr id="8" name="Text 5"/>
          <p:cNvSpPr txBox="1"/>
          <p:nvPr/>
        </p:nvSpPr>
        <p:spPr>
          <a:xfrm>
            <a:off x="9464040" y="2057400"/>
            <a:ext cx="2179015" cy="731520"/>
          </a:xfrm>
          <a:prstGeom prst="rect">
            <a:avLst/>
          </a:prstGeom>
          <a:noFill/>
          <a:ln/>
        </p:spPr>
        <p:txBody>
          <a:bodyPr wrap="square" lIns="0" tIns="0" rIns="0" bIns="0" rtlCol="0" anchor="ctr"/>
          <a:lstStyle/>
          <a:p>
            <a:pPr marL="0" indent="0">
              <a:buNone/>
            </a:pPr>
            <a:r>
              <a:rPr lang="en-US" sz="1600" dirty="0">
                <a:solidFill>
                  <a:srgbClr val="141A23"/>
                </a:solidFill>
                <a:latin typeface="Calibri" pitchFamily="34" charset="0"/>
                <a:ea typeface="Calibri" pitchFamily="34" charset="-122"/>
                <a:cs typeface="Calibri" pitchFamily="34" charset="-120"/>
              </a:rPr>
              <a:t>Последовательность ДНК</a:t>
            </a:r>
            <a:endParaRPr lang="en-US" sz="1600" dirty="0"/>
          </a:p>
        </p:txBody>
      </p:sp>
      <p:sp>
        <p:nvSpPr>
          <p:cNvPr id="9" name="Text 6"/>
          <p:cNvSpPr txBox="1"/>
          <p:nvPr/>
        </p:nvSpPr>
        <p:spPr>
          <a:xfrm>
            <a:off x="7818120" y="2926080"/>
            <a:ext cx="1600200" cy="731520"/>
          </a:xfrm>
          <a:prstGeom prst="rect">
            <a:avLst/>
          </a:prstGeom>
          <a:noFill/>
          <a:ln/>
        </p:spPr>
        <p:txBody>
          <a:bodyPr wrap="square" lIns="0" tIns="0" rIns="0" bIns="0" rtlCol="0" anchor="ctr"/>
          <a:lstStyle/>
          <a:p>
            <a:pPr marL="0" indent="0">
              <a:buNone/>
            </a:pPr>
            <a:r>
              <a:rPr lang="en-US" sz="3800" b="1" dirty="0">
                <a:solidFill>
                  <a:srgbClr val="EB6834"/>
                </a:solidFill>
                <a:latin typeface="Calibri" pitchFamily="34" charset="0"/>
                <a:ea typeface="Calibri" pitchFamily="34" charset="-122"/>
                <a:cs typeface="Calibri" pitchFamily="34" charset="-120"/>
              </a:rPr>
              <a:t>×10,5</a:t>
            </a:r>
            <a:endParaRPr lang="en-US" sz="3800" dirty="0"/>
          </a:p>
        </p:txBody>
      </p:sp>
      <p:sp>
        <p:nvSpPr>
          <p:cNvPr id="10" name="Text 7"/>
          <p:cNvSpPr txBox="1"/>
          <p:nvPr/>
        </p:nvSpPr>
        <p:spPr>
          <a:xfrm>
            <a:off x="9464040" y="2926080"/>
            <a:ext cx="2179015" cy="731520"/>
          </a:xfrm>
          <a:prstGeom prst="rect">
            <a:avLst/>
          </a:prstGeom>
          <a:noFill/>
          <a:ln/>
        </p:spPr>
        <p:txBody>
          <a:bodyPr wrap="square" lIns="0" tIns="0" rIns="0" bIns="0" rtlCol="0" anchor="ctr"/>
          <a:lstStyle/>
          <a:p>
            <a:pPr marL="0" indent="0">
              <a:buNone/>
            </a:pPr>
            <a:r>
              <a:rPr lang="en-US" sz="1600" dirty="0">
                <a:solidFill>
                  <a:srgbClr val="141A23"/>
                </a:solidFill>
                <a:latin typeface="Calibri" pitchFamily="34" charset="0"/>
                <a:ea typeface="Calibri" pitchFamily="34" charset="-122"/>
                <a:cs typeface="Calibri" pitchFamily="34" charset="-120"/>
              </a:rPr>
              <a:t>Прочтения человека</a:t>
            </a:r>
            <a:endParaRPr lang="en-US" sz="1600" dirty="0"/>
          </a:p>
        </p:txBody>
      </p:sp>
      <p:sp>
        <p:nvSpPr>
          <p:cNvPr id="11" name="Text 8"/>
          <p:cNvSpPr txBox="1"/>
          <p:nvPr/>
        </p:nvSpPr>
        <p:spPr>
          <a:xfrm>
            <a:off x="7818120" y="3794760"/>
            <a:ext cx="1600200" cy="731520"/>
          </a:xfrm>
          <a:prstGeom prst="rect">
            <a:avLst/>
          </a:prstGeom>
          <a:noFill/>
          <a:ln/>
        </p:spPr>
        <p:txBody>
          <a:bodyPr wrap="square" lIns="0" tIns="0" rIns="0" bIns="0" rtlCol="0" anchor="ctr"/>
          <a:lstStyle/>
          <a:p>
            <a:pPr marL="0" indent="0">
              <a:buNone/>
            </a:pPr>
            <a:r>
              <a:rPr lang="en-US" sz="3800" b="1" dirty="0">
                <a:solidFill>
                  <a:srgbClr val="EB6834"/>
                </a:solidFill>
                <a:latin typeface="Calibri" pitchFamily="34" charset="0"/>
                <a:ea typeface="Calibri" pitchFamily="34" charset="-122"/>
                <a:cs typeface="Calibri" pitchFamily="34" charset="-120"/>
              </a:rPr>
              <a:t>×6,6</a:t>
            </a:r>
            <a:endParaRPr lang="en-US" sz="3800" dirty="0"/>
          </a:p>
        </p:txBody>
      </p:sp>
      <p:sp>
        <p:nvSpPr>
          <p:cNvPr id="12" name="Text 9"/>
          <p:cNvSpPr txBox="1"/>
          <p:nvPr/>
        </p:nvSpPr>
        <p:spPr>
          <a:xfrm>
            <a:off x="9464040" y="3794760"/>
            <a:ext cx="2179015" cy="731520"/>
          </a:xfrm>
          <a:prstGeom prst="rect">
            <a:avLst/>
          </a:prstGeom>
          <a:noFill/>
          <a:ln/>
        </p:spPr>
        <p:txBody>
          <a:bodyPr wrap="square" lIns="0" tIns="0" rIns="0" bIns="0" rtlCol="0" anchor="ctr"/>
          <a:lstStyle/>
          <a:p>
            <a:pPr marL="0" indent="0">
              <a:buNone/>
            </a:pPr>
            <a:r>
              <a:rPr lang="en-US" sz="1600" dirty="0">
                <a:solidFill>
                  <a:srgbClr val="141A23"/>
                </a:solidFill>
                <a:latin typeface="Calibri" pitchFamily="34" charset="0"/>
                <a:ea typeface="Calibri" pitchFamily="34" charset="-122"/>
                <a:cs typeface="Calibri" pitchFamily="34" charset="-120"/>
              </a:rPr>
              <a:t>17 числовых признаков</a:t>
            </a:r>
            <a:endParaRPr lang="en-US" sz="1600" dirty="0"/>
          </a:p>
        </p:txBody>
      </p:sp>
      <p:sp>
        <p:nvSpPr>
          <p:cNvPr id="13" name="Text 10"/>
          <p:cNvSpPr txBox="1"/>
          <p:nvPr/>
        </p:nvSpPr>
        <p:spPr>
          <a:xfrm>
            <a:off x="7818120" y="4709160"/>
            <a:ext cx="3824935" cy="1325880"/>
          </a:xfrm>
          <a:prstGeom prst="rect">
            <a:avLst/>
          </a:prstGeom>
          <a:noFill/>
          <a:ln/>
        </p:spPr>
        <p:txBody>
          <a:bodyPr wrap="square" lIns="0" tIns="0" rIns="0" bIns="0" rtlCol="0" anchor="t"/>
          <a:lstStyle/>
          <a:p>
            <a:pPr marL="0" indent="0">
              <a:spcAft>
                <a:spcPts val="600"/>
              </a:spcAft>
              <a:buNone/>
            </a:pPr>
            <a:r>
              <a:rPr lang="en-US" sz="1400" dirty="0">
                <a:solidFill>
                  <a:srgbClr val="52514E"/>
                </a:solidFill>
                <a:latin typeface="Calibri" pitchFamily="34" charset="0"/>
                <a:ea typeface="Calibri" pitchFamily="34" charset="-122"/>
                <a:cs typeface="Calibri" pitchFamily="34" charset="-120"/>
              </a:rPr>
              <a:t>Честная оценка вклада — 0,07–0,15 п.п. F1 на ветвь: ветви в основном дублируют друг друга.</a:t>
            </a:r>
            <a:endParaRPr lang="en-US" sz="1400" dirty="0"/>
          </a:p>
          <a:p>
            <a:pPr marL="0" indent="0">
              <a:spcAft>
                <a:spcPts val="600"/>
              </a:spcAft>
              <a:buNone/>
            </a:pPr>
            <a:r>
              <a:rPr lang="en-US" sz="1400" dirty="0">
                <a:solidFill>
                  <a:srgbClr val="52514E"/>
                </a:solidFill>
                <a:latin typeface="Calibri" pitchFamily="34" charset="0"/>
                <a:ea typeface="Calibri" pitchFamily="34" charset="-122"/>
                <a:cs typeface="Calibri" pitchFamily="34" charset="-120"/>
              </a:rPr>
              <a:t>M4 не лучше M2: разница 0,11 п.п., интервал от −0,23 до +0,43.</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РАЗВЁРТОЧНОЕ ИССЛЕДОВАНИЕ</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Порог пришлось подбирать заново на реальных данных</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6 / 17</a:t>
            </a:r>
            <a:endParaRPr lang="en-US" sz="1000" dirty="0"/>
          </a:p>
        </p:txBody>
      </p:sp>
      <p:sp>
        <p:nvSpPr>
          <p:cNvPr id="5" name="Shape 3"/>
          <p:cNvSpPr/>
          <p:nvPr/>
        </p:nvSpPr>
        <p:spPr>
          <a:xfrm>
            <a:off x="548640" y="1645920"/>
            <a:ext cx="4754880" cy="2514600"/>
          </a:xfrm>
          <a:prstGeom prst="roundRect">
            <a:avLst>
              <a:gd name="adj" fmla="val 2909"/>
            </a:avLst>
          </a:prstGeom>
          <a:solidFill>
            <a:srgbClr val="FDEEE7"/>
          </a:solidFill>
          <a:ln w="9525">
            <a:solidFill>
              <a:srgbClr val="FDEEE7"/>
            </a:solidFill>
            <a:prstDash val="solid"/>
          </a:ln>
        </p:spPr>
      </p:sp>
      <p:sp>
        <p:nvSpPr>
          <p:cNvPr id="6" name="Text 4"/>
          <p:cNvSpPr txBox="1"/>
          <p:nvPr/>
        </p:nvSpPr>
        <p:spPr>
          <a:xfrm>
            <a:off x="868680" y="1874520"/>
            <a:ext cx="4114800" cy="1097280"/>
          </a:xfrm>
          <a:prstGeom prst="rect">
            <a:avLst/>
          </a:prstGeom>
          <a:noFill/>
          <a:ln/>
        </p:spPr>
        <p:txBody>
          <a:bodyPr wrap="square" lIns="0" tIns="0" rIns="0" bIns="0" rtlCol="0" anchor="t"/>
          <a:lstStyle/>
          <a:p>
            <a:pPr marL="0" indent="0">
              <a:buNone/>
            </a:pPr>
            <a:r>
              <a:rPr lang="en-US" sz="6600" b="1" dirty="0">
                <a:solidFill>
                  <a:srgbClr val="EB6834"/>
                </a:solidFill>
                <a:latin typeface="Calibri" pitchFamily="34" charset="0"/>
                <a:ea typeface="Calibri" pitchFamily="34" charset="-122"/>
                <a:cs typeface="Calibri" pitchFamily="34" charset="-120"/>
              </a:rPr>
              <a:t>4–7%</a:t>
            </a:r>
            <a:endParaRPr lang="en-US" sz="6600" dirty="0"/>
          </a:p>
        </p:txBody>
      </p:sp>
      <p:sp>
        <p:nvSpPr>
          <p:cNvPr id="7" name="Text 5"/>
          <p:cNvSpPr txBox="1"/>
          <p:nvPr/>
        </p:nvSpPr>
        <p:spPr>
          <a:xfrm>
            <a:off x="868680" y="3017520"/>
            <a:ext cx="4114800" cy="100584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ложных находок отсеивалось с порогом, взятым с контролируемого теста: программа принимала почти всё</a:t>
            </a:r>
            <a:endParaRPr lang="en-US" sz="1600" dirty="0"/>
          </a:p>
        </p:txBody>
      </p:sp>
      <p:sp>
        <p:nvSpPr>
          <p:cNvPr id="8" name="Shape 6"/>
          <p:cNvSpPr/>
          <p:nvPr/>
        </p:nvSpPr>
        <p:spPr>
          <a:xfrm>
            <a:off x="5577840" y="2583180"/>
            <a:ext cx="868680" cy="640080"/>
          </a:xfrm>
          <a:prstGeom prst="rightArrow">
            <a:avLst/>
          </a:prstGeom>
          <a:solidFill>
            <a:srgbClr val="C3C2B7"/>
          </a:solidFill>
          <a:ln w="6350">
            <a:solidFill>
              <a:srgbClr val="C3C2B7"/>
            </a:solidFill>
            <a:prstDash val="solid"/>
          </a:ln>
        </p:spPr>
      </p:sp>
      <p:sp>
        <p:nvSpPr>
          <p:cNvPr id="9" name="Shape 7"/>
          <p:cNvSpPr/>
          <p:nvPr/>
        </p:nvSpPr>
        <p:spPr>
          <a:xfrm>
            <a:off x="6720840" y="1645920"/>
            <a:ext cx="4922215" cy="2514600"/>
          </a:xfrm>
          <a:prstGeom prst="roundRect">
            <a:avLst>
              <a:gd name="adj" fmla="val 2909"/>
            </a:avLst>
          </a:prstGeom>
          <a:solidFill>
            <a:srgbClr val="EAF2FC"/>
          </a:solidFill>
          <a:ln w="9525">
            <a:solidFill>
              <a:srgbClr val="EAF2FC"/>
            </a:solidFill>
            <a:prstDash val="solid"/>
          </a:ln>
        </p:spPr>
      </p:sp>
      <p:sp>
        <p:nvSpPr>
          <p:cNvPr id="10" name="Text 8"/>
          <p:cNvSpPr txBox="1"/>
          <p:nvPr/>
        </p:nvSpPr>
        <p:spPr>
          <a:xfrm>
            <a:off x="7040880" y="1874520"/>
            <a:ext cx="4282135" cy="1097280"/>
          </a:xfrm>
          <a:prstGeom prst="rect">
            <a:avLst/>
          </a:prstGeom>
          <a:noFill/>
          <a:ln/>
        </p:spPr>
        <p:txBody>
          <a:bodyPr wrap="square" lIns="0" tIns="0" rIns="0" bIns="0" rtlCol="0" anchor="t"/>
          <a:lstStyle/>
          <a:p>
            <a:pPr marL="0" indent="0">
              <a:buNone/>
            </a:pPr>
            <a:r>
              <a:rPr lang="en-US" sz="6600" b="1" dirty="0">
                <a:solidFill>
                  <a:srgbClr val="2A78D6"/>
                </a:solidFill>
                <a:latin typeface="Calibri" pitchFamily="34" charset="0"/>
                <a:ea typeface="Calibri" pitchFamily="34" charset="-122"/>
                <a:cs typeface="Calibri" pitchFamily="34" charset="-120"/>
              </a:rPr>
              <a:t>21–24%</a:t>
            </a:r>
            <a:endParaRPr lang="en-US" sz="6600" dirty="0"/>
          </a:p>
        </p:txBody>
      </p:sp>
      <p:sp>
        <p:nvSpPr>
          <p:cNvPr id="11" name="Text 9"/>
          <p:cNvSpPr txBox="1"/>
          <p:nvPr/>
        </p:nvSpPr>
        <p:spPr>
          <a:xfrm>
            <a:off x="7040880" y="3017520"/>
            <a:ext cx="4282135" cy="100584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после подбора порога поочерёдным исключением людей, при чувствительности около 95%</a:t>
            </a:r>
            <a:endParaRPr lang="en-US" sz="1600" dirty="0"/>
          </a:p>
        </p:txBody>
      </p:sp>
      <p:sp>
        <p:nvSpPr>
          <p:cNvPr id="12" name="Text 10"/>
          <p:cNvSpPr txBox="1"/>
          <p:nvPr/>
        </p:nvSpPr>
        <p:spPr>
          <a:xfrm>
            <a:off x="548640" y="4480560"/>
            <a:ext cx="11094415" cy="1600200"/>
          </a:xfrm>
          <a:prstGeom prst="rect">
            <a:avLst/>
          </a:prstGeom>
          <a:noFill/>
          <a:ln/>
        </p:spPr>
        <p:txBody>
          <a:bodyPr wrap="square" lIns="0" tIns="0" rIns="0" bIns="0" rtlCol="0" anchor="t"/>
          <a:lstStyle/>
          <a:p>
            <a:pPr marL="0" indent="0">
              <a:spcAft>
                <a:spcPts val="1000"/>
              </a:spcAft>
              <a:buNone/>
            </a:pPr>
            <a:r>
              <a:rPr lang="en-US" sz="1600" b="1" dirty="0">
                <a:solidFill>
                  <a:srgbClr val="141A23"/>
                </a:solidFill>
                <a:latin typeface="Calibri" pitchFamily="34" charset="0"/>
                <a:ea typeface="Calibri" pitchFamily="34" charset="-122"/>
                <a:cs typeface="Calibri" pitchFamily="34" charset="-120"/>
              </a:rPr>
              <a:t>Различать программа не разучилась: </a:t>
            </a:r>
            <a:r>
              <a:rPr lang="en-US" sz="1600" dirty="0">
                <a:solidFill>
                  <a:srgbClr val="141A23"/>
                </a:solidFill>
                <a:latin typeface="Calibri" pitchFamily="34" charset="0"/>
                <a:ea typeface="Calibri" pitchFamily="34" charset="-122"/>
                <a:cs typeface="Calibri" pitchFamily="34" charset="-120"/>
              </a:rPr>
              <a:t>площадь под ROC-кривой 0,75–0,76. Сдвинулась только граница отсечения — в реальном потоке почти 90% находок верные, а в подготовленных парах было поровну.</a:t>
            </a:r>
            <a:endParaRPr lang="en-US" sz="1600" dirty="0"/>
          </a:p>
          <a:p>
            <a:pPr marL="0" indent="0">
              <a:spcAft>
                <a:spcPts val="1000"/>
              </a:spcAft>
              <a:buNone/>
            </a:pPr>
            <a:r>
              <a:rPr lang="en-US" sz="1600" b="1" dirty="0">
                <a:solidFill>
                  <a:srgbClr val="141A23"/>
                </a:solidFill>
                <a:latin typeface="Calibri" pitchFamily="34" charset="0"/>
                <a:ea typeface="Calibri" pitchFamily="34" charset="-122"/>
                <a:cs typeface="Calibri" pitchFamily="34" charset="-120"/>
              </a:rPr>
              <a:t>Порог переносился без сбоев: </a:t>
            </a:r>
            <a:r>
              <a:rPr lang="en-US" sz="1600" dirty="0">
                <a:solidFill>
                  <a:srgbClr val="141A23"/>
                </a:solidFill>
                <a:latin typeface="Calibri" pitchFamily="34" charset="0"/>
                <a:ea typeface="Calibri" pitchFamily="34" charset="-122"/>
                <a:cs typeface="Calibri" pitchFamily="34" charset="-120"/>
              </a:rPr>
              <a:t>подобран на 4 людях, проверен на 5-м — все 45 проверок, худший случай чувствительности 0,9415.</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ЭТАЛОННЫЙ ГЕНОМ</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На эталонном геноме HG002 версии разошлись</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7 / 17</a:t>
            </a:r>
            <a:endParaRPr lang="en-US" sz="1000" dirty="0"/>
          </a:p>
        </p:txBody>
      </p:sp>
      <p:sp>
        <p:nvSpPr>
          <p:cNvPr id="5" name="Shape 3"/>
          <p:cNvSpPr/>
          <p:nvPr/>
        </p:nvSpPr>
        <p:spPr>
          <a:xfrm>
            <a:off x="548640" y="1600200"/>
            <a:ext cx="3429000" cy="2697480"/>
          </a:xfrm>
          <a:prstGeom prst="roundRect">
            <a:avLst>
              <a:gd name="adj" fmla="val 2712"/>
            </a:avLst>
          </a:prstGeom>
          <a:solidFill>
            <a:srgbClr val="F2F3F5"/>
          </a:solidFill>
          <a:ln w="9525">
            <a:solidFill>
              <a:srgbClr val="F2F3F5"/>
            </a:solidFill>
            <a:prstDash val="solid"/>
          </a:ln>
        </p:spPr>
      </p:sp>
      <p:sp>
        <p:nvSpPr>
          <p:cNvPr id="6" name="Text 4"/>
          <p:cNvSpPr txBox="1"/>
          <p:nvPr/>
        </p:nvSpPr>
        <p:spPr>
          <a:xfrm>
            <a:off x="822960" y="1801368"/>
            <a:ext cx="2880360" cy="411480"/>
          </a:xfrm>
          <a:prstGeom prst="rect">
            <a:avLst/>
          </a:prstGeom>
          <a:noFill/>
          <a:ln/>
        </p:spPr>
        <p:txBody>
          <a:bodyPr wrap="square" lIns="0" tIns="0" rIns="0" bIns="0" rtlCol="0" anchor="t"/>
          <a:lstStyle/>
          <a:p>
            <a:pPr marL="0" indent="0">
              <a:buNone/>
            </a:pPr>
            <a:r>
              <a:rPr lang="en-US" sz="2000" b="1" dirty="0">
                <a:solidFill>
                  <a:srgbClr val="52514E"/>
                </a:solidFill>
                <a:latin typeface="Calibri" pitchFamily="34" charset="0"/>
                <a:ea typeface="Calibri" pitchFamily="34" charset="-122"/>
                <a:cs typeface="Calibri" pitchFamily="34" charset="-120"/>
              </a:rPr>
              <a:t>M0</a:t>
            </a:r>
            <a:endParaRPr lang="en-US" sz="2000" dirty="0"/>
          </a:p>
        </p:txBody>
      </p:sp>
      <p:sp>
        <p:nvSpPr>
          <p:cNvPr id="7" name="Text 5"/>
          <p:cNvSpPr txBox="1"/>
          <p:nvPr/>
        </p:nvSpPr>
        <p:spPr>
          <a:xfrm>
            <a:off x="822960" y="2194560"/>
            <a:ext cx="2880360" cy="914400"/>
          </a:xfrm>
          <a:prstGeom prst="rect">
            <a:avLst/>
          </a:prstGeom>
          <a:noFill/>
          <a:ln/>
        </p:spPr>
        <p:txBody>
          <a:bodyPr wrap="square" lIns="0" tIns="0" rIns="0" bIns="0" rtlCol="0" anchor="t"/>
          <a:lstStyle/>
          <a:p>
            <a:pPr marL="0" indent="0">
              <a:buNone/>
            </a:pPr>
            <a:r>
              <a:rPr lang="en-US" sz="5600" b="1" dirty="0">
                <a:solidFill>
                  <a:srgbClr val="141A23"/>
                </a:solidFill>
                <a:latin typeface="Calibri" pitchFamily="34" charset="0"/>
                <a:ea typeface="Calibri" pitchFamily="34" charset="-122"/>
                <a:cs typeface="Calibri" pitchFamily="34" charset="-120"/>
              </a:rPr>
              <a:t>94,9%</a:t>
            </a:r>
            <a:endParaRPr lang="en-US" sz="5600" dirty="0"/>
          </a:p>
        </p:txBody>
      </p:sp>
      <p:sp>
        <p:nvSpPr>
          <p:cNvPr id="8" name="Text 6"/>
          <p:cNvSpPr txBox="1"/>
          <p:nvPr/>
        </p:nvSpPr>
        <p:spPr>
          <a:xfrm>
            <a:off x="822960" y="3136392"/>
            <a:ext cx="2880360" cy="1097280"/>
          </a:xfrm>
          <a:prstGeom prst="rect">
            <a:avLst/>
          </a:prstGeom>
          <a:noFill/>
          <a:ln/>
        </p:spPr>
        <p:txBody>
          <a:bodyPr wrap="square" lIns="0" tIns="0" rIns="0" bIns="0" rtlCol="0" anchor="t"/>
          <a:lstStyle/>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чувствительность</a:t>
            </a:r>
            <a:endParaRPr lang="en-US" sz="1600" dirty="0"/>
          </a:p>
          <a:p>
            <a:pPr marL="0" indent="0">
              <a:spcAft>
                <a:spcPts val="300"/>
              </a:spcAft>
              <a:buNone/>
            </a:pPr>
            <a:r>
              <a:rPr lang="en-US" sz="1600" b="1" dirty="0">
                <a:solidFill>
                  <a:srgbClr val="141A23"/>
                </a:solidFill>
                <a:latin typeface="Calibri" pitchFamily="34" charset="0"/>
                <a:ea typeface="Calibri" pitchFamily="34" charset="-122"/>
                <a:cs typeface="Calibri" pitchFamily="34" charset="-120"/>
              </a:rPr>
              <a:t>✗ ниже цели на 0,1 п.п.</a:t>
            </a:r>
            <a:endParaRPr lang="en-US" sz="1600" dirty="0"/>
          </a:p>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отсев ложных: 27,4%</a:t>
            </a:r>
            <a:endParaRPr lang="en-US" sz="1600" dirty="0"/>
          </a:p>
        </p:txBody>
      </p:sp>
      <p:sp>
        <p:nvSpPr>
          <p:cNvPr id="9" name="Shape 7"/>
          <p:cNvSpPr/>
          <p:nvPr/>
        </p:nvSpPr>
        <p:spPr>
          <a:xfrm>
            <a:off x="4366260" y="1600200"/>
            <a:ext cx="3429000" cy="2697480"/>
          </a:xfrm>
          <a:prstGeom prst="roundRect">
            <a:avLst>
              <a:gd name="adj" fmla="val 2712"/>
            </a:avLst>
          </a:prstGeom>
          <a:solidFill>
            <a:srgbClr val="EAF2FC"/>
          </a:solidFill>
          <a:ln w="9525">
            <a:solidFill>
              <a:srgbClr val="EAF2FC"/>
            </a:solidFill>
            <a:prstDash val="solid"/>
          </a:ln>
        </p:spPr>
      </p:sp>
      <p:sp>
        <p:nvSpPr>
          <p:cNvPr id="10" name="Text 8"/>
          <p:cNvSpPr txBox="1"/>
          <p:nvPr/>
        </p:nvSpPr>
        <p:spPr>
          <a:xfrm>
            <a:off x="4640580" y="1801368"/>
            <a:ext cx="2880360" cy="411480"/>
          </a:xfrm>
          <a:prstGeom prst="rect">
            <a:avLst/>
          </a:prstGeom>
          <a:noFill/>
          <a:ln/>
        </p:spPr>
        <p:txBody>
          <a:bodyPr wrap="square" lIns="0" tIns="0" rIns="0" bIns="0" rtlCol="0" anchor="t"/>
          <a:lstStyle/>
          <a:p>
            <a:pPr marL="0" indent="0">
              <a:buNone/>
            </a:pPr>
            <a:r>
              <a:rPr lang="en-US" sz="2000" b="1" dirty="0">
                <a:solidFill>
                  <a:srgbClr val="52514E"/>
                </a:solidFill>
                <a:latin typeface="Calibri" pitchFamily="34" charset="0"/>
                <a:ea typeface="Calibri" pitchFamily="34" charset="-122"/>
                <a:cs typeface="Calibri" pitchFamily="34" charset="-120"/>
              </a:rPr>
              <a:t>M2</a:t>
            </a:r>
            <a:endParaRPr lang="en-US" sz="2000" dirty="0"/>
          </a:p>
        </p:txBody>
      </p:sp>
      <p:sp>
        <p:nvSpPr>
          <p:cNvPr id="11" name="Text 9"/>
          <p:cNvSpPr txBox="1"/>
          <p:nvPr/>
        </p:nvSpPr>
        <p:spPr>
          <a:xfrm>
            <a:off x="4640580" y="2194560"/>
            <a:ext cx="2880360" cy="914400"/>
          </a:xfrm>
          <a:prstGeom prst="rect">
            <a:avLst/>
          </a:prstGeom>
          <a:noFill/>
          <a:ln/>
        </p:spPr>
        <p:txBody>
          <a:bodyPr wrap="square" lIns="0" tIns="0" rIns="0" bIns="0" rtlCol="0" anchor="t"/>
          <a:lstStyle/>
          <a:p>
            <a:pPr marL="0" indent="0">
              <a:buNone/>
            </a:pPr>
            <a:r>
              <a:rPr lang="en-US" sz="5600" b="1" dirty="0">
                <a:solidFill>
                  <a:srgbClr val="2A78D6"/>
                </a:solidFill>
                <a:latin typeface="Calibri" pitchFamily="34" charset="0"/>
                <a:ea typeface="Calibri" pitchFamily="34" charset="-122"/>
                <a:cs typeface="Calibri" pitchFamily="34" charset="-120"/>
              </a:rPr>
              <a:t>95,5%</a:t>
            </a:r>
            <a:endParaRPr lang="en-US" sz="5600" dirty="0"/>
          </a:p>
        </p:txBody>
      </p:sp>
      <p:sp>
        <p:nvSpPr>
          <p:cNvPr id="12" name="Text 10"/>
          <p:cNvSpPr txBox="1"/>
          <p:nvPr/>
        </p:nvSpPr>
        <p:spPr>
          <a:xfrm>
            <a:off x="4640580" y="3136392"/>
            <a:ext cx="2880360" cy="1097280"/>
          </a:xfrm>
          <a:prstGeom prst="rect">
            <a:avLst/>
          </a:prstGeom>
          <a:noFill/>
          <a:ln/>
        </p:spPr>
        <p:txBody>
          <a:bodyPr wrap="square" lIns="0" tIns="0" rIns="0" bIns="0" rtlCol="0" anchor="t"/>
          <a:lstStyle/>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чувствительность</a:t>
            </a:r>
            <a:endParaRPr lang="en-US" sz="1600" dirty="0"/>
          </a:p>
          <a:p>
            <a:pPr marL="0" indent="0">
              <a:spcAft>
                <a:spcPts val="300"/>
              </a:spcAft>
              <a:buNone/>
            </a:pPr>
            <a:r>
              <a:rPr lang="en-US" sz="1600" b="1" dirty="0">
                <a:solidFill>
                  <a:srgbClr val="141A23"/>
                </a:solidFill>
                <a:latin typeface="Calibri" pitchFamily="34" charset="0"/>
                <a:ea typeface="Calibri" pitchFamily="34" charset="-122"/>
                <a:cs typeface="Calibri" pitchFamily="34" charset="-120"/>
              </a:rPr>
              <a:t>✓ выше цели 95%</a:t>
            </a:r>
            <a:endParaRPr lang="en-US" sz="1600" dirty="0"/>
          </a:p>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отсев ложных: 25,0%</a:t>
            </a:r>
            <a:endParaRPr lang="en-US" sz="1600" dirty="0"/>
          </a:p>
        </p:txBody>
      </p:sp>
      <p:sp>
        <p:nvSpPr>
          <p:cNvPr id="13" name="Shape 11"/>
          <p:cNvSpPr/>
          <p:nvPr/>
        </p:nvSpPr>
        <p:spPr>
          <a:xfrm>
            <a:off x="8183880" y="1600200"/>
            <a:ext cx="3429000" cy="2697480"/>
          </a:xfrm>
          <a:prstGeom prst="roundRect">
            <a:avLst>
              <a:gd name="adj" fmla="val 2712"/>
            </a:avLst>
          </a:prstGeom>
          <a:solidFill>
            <a:srgbClr val="FDEEE7"/>
          </a:solidFill>
          <a:ln w="9525">
            <a:solidFill>
              <a:srgbClr val="FDEEE7"/>
            </a:solidFill>
            <a:prstDash val="solid"/>
          </a:ln>
        </p:spPr>
      </p:sp>
      <p:sp>
        <p:nvSpPr>
          <p:cNvPr id="14" name="Text 12"/>
          <p:cNvSpPr txBox="1"/>
          <p:nvPr/>
        </p:nvSpPr>
        <p:spPr>
          <a:xfrm>
            <a:off x="8458200" y="1801368"/>
            <a:ext cx="2880360" cy="411480"/>
          </a:xfrm>
          <a:prstGeom prst="rect">
            <a:avLst/>
          </a:prstGeom>
          <a:noFill/>
          <a:ln/>
        </p:spPr>
        <p:txBody>
          <a:bodyPr wrap="square" lIns="0" tIns="0" rIns="0" bIns="0" rtlCol="0" anchor="t"/>
          <a:lstStyle/>
          <a:p>
            <a:pPr marL="0" indent="0">
              <a:buNone/>
            </a:pPr>
            <a:r>
              <a:rPr lang="en-US" sz="2000" b="1" dirty="0">
                <a:solidFill>
                  <a:srgbClr val="52514E"/>
                </a:solidFill>
                <a:latin typeface="Calibri" pitchFamily="34" charset="0"/>
                <a:ea typeface="Calibri" pitchFamily="34" charset="-122"/>
                <a:cs typeface="Calibri" pitchFamily="34" charset="-120"/>
              </a:rPr>
              <a:t>M4</a:t>
            </a:r>
            <a:endParaRPr lang="en-US" sz="2000" dirty="0"/>
          </a:p>
        </p:txBody>
      </p:sp>
      <p:sp>
        <p:nvSpPr>
          <p:cNvPr id="15" name="Text 13"/>
          <p:cNvSpPr txBox="1"/>
          <p:nvPr/>
        </p:nvSpPr>
        <p:spPr>
          <a:xfrm>
            <a:off x="8458200" y="2194560"/>
            <a:ext cx="2880360" cy="914400"/>
          </a:xfrm>
          <a:prstGeom prst="rect">
            <a:avLst/>
          </a:prstGeom>
          <a:noFill/>
          <a:ln/>
        </p:spPr>
        <p:txBody>
          <a:bodyPr wrap="square" lIns="0" tIns="0" rIns="0" bIns="0" rtlCol="0" anchor="t"/>
          <a:lstStyle/>
          <a:p>
            <a:pPr marL="0" indent="0">
              <a:buNone/>
            </a:pPr>
            <a:r>
              <a:rPr lang="en-US" sz="5600" b="1" dirty="0">
                <a:solidFill>
                  <a:srgbClr val="EB6834"/>
                </a:solidFill>
                <a:latin typeface="Calibri" pitchFamily="34" charset="0"/>
                <a:ea typeface="Calibri" pitchFamily="34" charset="-122"/>
                <a:cs typeface="Calibri" pitchFamily="34" charset="-120"/>
              </a:rPr>
              <a:t>93,3%</a:t>
            </a:r>
            <a:endParaRPr lang="en-US" sz="5600" dirty="0"/>
          </a:p>
        </p:txBody>
      </p:sp>
      <p:sp>
        <p:nvSpPr>
          <p:cNvPr id="16" name="Text 14"/>
          <p:cNvSpPr txBox="1"/>
          <p:nvPr/>
        </p:nvSpPr>
        <p:spPr>
          <a:xfrm>
            <a:off x="8458200" y="3136392"/>
            <a:ext cx="2880360" cy="1097280"/>
          </a:xfrm>
          <a:prstGeom prst="rect">
            <a:avLst/>
          </a:prstGeom>
          <a:noFill/>
          <a:ln/>
        </p:spPr>
        <p:txBody>
          <a:bodyPr wrap="square" lIns="0" tIns="0" rIns="0" bIns="0" rtlCol="0" anchor="t"/>
          <a:lstStyle/>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чувствительность</a:t>
            </a:r>
            <a:endParaRPr lang="en-US" sz="1600" dirty="0"/>
          </a:p>
          <a:p>
            <a:pPr marL="0" indent="0">
              <a:spcAft>
                <a:spcPts val="300"/>
              </a:spcAft>
              <a:buNone/>
            </a:pPr>
            <a:r>
              <a:rPr lang="en-US" sz="1600" b="1" dirty="0">
                <a:solidFill>
                  <a:srgbClr val="141A23"/>
                </a:solidFill>
                <a:latin typeface="Calibri" pitchFamily="34" charset="0"/>
                <a:ea typeface="Calibri" pitchFamily="34" charset="-122"/>
                <a:cs typeface="Calibri" pitchFamily="34" charset="-120"/>
              </a:rPr>
              <a:t>✗ ниже цели на 1,7 п.п.</a:t>
            </a:r>
            <a:endParaRPr lang="en-US" sz="1600" dirty="0"/>
          </a:p>
          <a:p>
            <a:pPr marL="0" indent="0">
              <a:spcAft>
                <a:spcPts val="300"/>
              </a:spcAft>
              <a:buNone/>
            </a:pPr>
            <a:r>
              <a:rPr lang="en-US" sz="1600" dirty="0">
                <a:solidFill>
                  <a:srgbClr val="52514E"/>
                </a:solidFill>
                <a:latin typeface="Calibri" pitchFamily="34" charset="0"/>
                <a:ea typeface="Calibri" pitchFamily="34" charset="-122"/>
                <a:cs typeface="Calibri" pitchFamily="34" charset="-120"/>
              </a:rPr>
              <a:t>отсев ложных: 32,2%</a:t>
            </a:r>
            <a:endParaRPr lang="en-US" sz="1600" dirty="0"/>
          </a:p>
        </p:txBody>
      </p:sp>
      <p:sp>
        <p:nvSpPr>
          <p:cNvPr id="17" name="Shape 15"/>
          <p:cNvSpPr/>
          <p:nvPr/>
        </p:nvSpPr>
        <p:spPr>
          <a:xfrm>
            <a:off x="548640" y="4617720"/>
            <a:ext cx="11094415" cy="1005840"/>
          </a:xfrm>
          <a:prstGeom prst="roundRect">
            <a:avLst>
              <a:gd name="adj" fmla="val 7273"/>
            </a:avLst>
          </a:prstGeom>
          <a:solidFill>
            <a:srgbClr val="F2F3F5"/>
          </a:solidFill>
          <a:ln w="9525">
            <a:solidFill>
              <a:srgbClr val="F2F3F5"/>
            </a:solidFill>
            <a:prstDash val="solid"/>
          </a:ln>
        </p:spPr>
      </p:sp>
      <p:sp>
        <p:nvSpPr>
          <p:cNvPr id="18" name="Text 16"/>
          <p:cNvSpPr txBox="1"/>
          <p:nvPr/>
        </p:nvSpPr>
        <p:spPr>
          <a:xfrm>
            <a:off x="822960" y="4617720"/>
            <a:ext cx="10545775" cy="1005840"/>
          </a:xfrm>
          <a:prstGeom prst="rect">
            <a:avLst/>
          </a:prstGeom>
          <a:noFill/>
          <a:ln/>
        </p:spPr>
        <p:txBody>
          <a:bodyPr wrap="square" lIns="0" tIns="0" rIns="0" bIns="0" rtlCol="0" anchor="ctr"/>
          <a:lstStyle/>
          <a:p>
            <a:pPr marL="0" indent="0">
              <a:buNone/>
            </a:pPr>
            <a:r>
              <a:rPr lang="en-US" sz="1700" b="1" dirty="0">
                <a:solidFill>
                  <a:srgbClr val="141A23"/>
                </a:solidFill>
                <a:latin typeface="Calibri" pitchFamily="34" charset="0"/>
                <a:ea typeface="Calibri" pitchFamily="34" charset="-122"/>
                <a:cs typeface="Calibri" pitchFamily="34" charset="-120"/>
              </a:rPr>
              <a:t>Напрашивался вывод: </a:t>
            </a:r>
            <a:r>
              <a:rPr lang="en-US" sz="1700" dirty="0">
                <a:solidFill>
                  <a:srgbClr val="141A23"/>
                </a:solidFill>
                <a:latin typeface="Calibri" pitchFamily="34" charset="0"/>
                <a:ea typeface="Calibri" pitchFamily="34" charset="-122"/>
                <a:cs typeface="Calibri" pitchFamily="34" charset="-120"/>
              </a:rPr>
              <a:t>сложная M4 хуже переносится на нового человека — она на 2,2 п.п. ниже M2, хотя отсеивает больше всех. Мы записали это как гипотезу и проверили на 30 людях.</a:t>
            </a:r>
            <a:endParaRPr lang="en-US" sz="1700" dirty="0"/>
          </a:p>
        </p:txBody>
      </p:sp>
      <p:sp>
        <p:nvSpPr>
          <p:cNvPr id="19" name="Text 17"/>
          <p:cNvSpPr txBox="1"/>
          <p:nvPr/>
        </p:nvSpPr>
        <p:spPr>
          <a:xfrm>
            <a:off x="548640" y="5852160"/>
            <a:ext cx="9601200" cy="274320"/>
          </a:xfrm>
          <a:prstGeom prst="rect">
            <a:avLst/>
          </a:prstGeom>
          <a:noFill/>
          <a:ln/>
        </p:spPr>
        <p:txBody>
          <a:bodyPr wrap="square" lIns="0" tIns="0" rIns="0" bIns="0" rtlCol="0" anchor="t"/>
          <a:lstStyle/>
          <a:p>
            <a:pPr marL="0" indent="0">
              <a:buNone/>
            </a:pPr>
            <a:r>
              <a:rPr lang="en-US" sz="1200" dirty="0">
                <a:solidFill>
                  <a:srgbClr val="898781"/>
                </a:solidFill>
                <a:latin typeface="Calibri" pitchFamily="34" charset="0"/>
                <a:ea typeface="Calibri" pitchFamily="34" charset="-122"/>
                <a:cs typeface="Calibri" pitchFamily="34" charset="-120"/>
              </a:rPr>
              <a:t>Эталон — GIAB v5.0q. Порог подобран на 5 людях развёрточного исследования и не перенастраивался.</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30 ЧЕЛОВЕК</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На 30 людях разница между версиями исчезла</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8 / 17</a:t>
            </a:r>
            <a:endParaRPr lang="en-US" sz="1000" dirty="0"/>
          </a:p>
        </p:txBody>
      </p:sp>
      <p:sp>
        <p:nvSpPr>
          <p:cNvPr id="5" name="Text 3"/>
          <p:cNvSpPr txBox="1"/>
          <p:nvPr/>
        </p:nvSpPr>
        <p:spPr>
          <a:xfrm>
            <a:off x="548640" y="1600200"/>
            <a:ext cx="4023360" cy="1097280"/>
          </a:xfrm>
          <a:prstGeom prst="rect">
            <a:avLst/>
          </a:prstGeom>
          <a:noFill/>
          <a:ln/>
        </p:spPr>
        <p:txBody>
          <a:bodyPr wrap="square" lIns="0" tIns="0" rIns="0" bIns="0" rtlCol="0" anchor="t"/>
          <a:lstStyle/>
          <a:p>
            <a:pPr marL="0" indent="0">
              <a:buNone/>
            </a:pPr>
            <a:r>
              <a:rPr lang="en-US" sz="6400" b="1" dirty="0">
                <a:solidFill>
                  <a:srgbClr val="EB6834"/>
                </a:solidFill>
                <a:latin typeface="Calibri" pitchFamily="34" charset="0"/>
                <a:ea typeface="Calibri" pitchFamily="34" charset="-122"/>
                <a:cs typeface="Calibri" pitchFamily="34" charset="-120"/>
              </a:rPr>
              <a:t>в 35 раз</a:t>
            </a:r>
            <a:endParaRPr lang="en-US" sz="6400" dirty="0"/>
          </a:p>
        </p:txBody>
      </p:sp>
      <p:sp>
        <p:nvSpPr>
          <p:cNvPr id="6" name="Text 4"/>
          <p:cNvSpPr txBox="1"/>
          <p:nvPr/>
        </p:nvSpPr>
        <p:spPr>
          <a:xfrm>
            <a:off x="548640" y="2697480"/>
            <a:ext cx="3840480" cy="868680"/>
          </a:xfrm>
          <a:prstGeom prst="rect">
            <a:avLst/>
          </a:prstGeom>
          <a:noFill/>
          <a:ln/>
        </p:spPr>
        <p:txBody>
          <a:bodyPr wrap="square" lIns="0" tIns="0" rIns="0" bIns="0" rtlCol="0" anchor="t"/>
          <a:lstStyle/>
          <a:p>
            <a:pPr marL="0" indent="0">
              <a:buNone/>
            </a:pPr>
            <a:r>
              <a:rPr lang="en-US" sz="1800" dirty="0">
                <a:solidFill>
                  <a:srgbClr val="141A23"/>
                </a:solidFill>
                <a:latin typeface="Calibri" pitchFamily="34" charset="0"/>
                <a:ea typeface="Calibri" pitchFamily="34" charset="-122"/>
                <a:cs typeface="Calibri" pitchFamily="34" charset="-120"/>
              </a:rPr>
              <a:t>разница между M2 и M4 меньше обычного разброса между людьми</a:t>
            </a:r>
            <a:endParaRPr lang="en-US" sz="1800" dirty="0"/>
          </a:p>
        </p:txBody>
      </p:sp>
      <p:sp>
        <p:nvSpPr>
          <p:cNvPr id="7" name="Shape 5"/>
          <p:cNvSpPr/>
          <p:nvPr/>
        </p:nvSpPr>
        <p:spPr>
          <a:xfrm>
            <a:off x="548640" y="3794760"/>
            <a:ext cx="3840480" cy="658368"/>
          </a:xfrm>
          <a:prstGeom prst="roundRect">
            <a:avLst>
              <a:gd name="adj" fmla="val 11111"/>
            </a:avLst>
          </a:prstGeom>
          <a:solidFill>
            <a:srgbClr val="F2F3F5"/>
          </a:solidFill>
          <a:ln w="9525">
            <a:solidFill>
              <a:srgbClr val="F2F3F5"/>
            </a:solidFill>
            <a:prstDash val="solid"/>
          </a:ln>
        </p:spPr>
      </p:sp>
      <p:sp>
        <p:nvSpPr>
          <p:cNvPr id="8" name="Text 6"/>
          <p:cNvSpPr txBox="1"/>
          <p:nvPr/>
        </p:nvSpPr>
        <p:spPr>
          <a:xfrm>
            <a:off x="777240" y="3794760"/>
            <a:ext cx="2103120" cy="658368"/>
          </a:xfrm>
          <a:prstGeom prst="rect">
            <a:avLst/>
          </a:prstGeom>
          <a:noFill/>
          <a:ln/>
        </p:spPr>
        <p:txBody>
          <a:bodyPr wrap="square" lIns="0" tIns="0" rIns="0" bIns="0" rtlCol="0" anchor="ctr"/>
          <a:lstStyle/>
          <a:p>
            <a:pPr marL="0" indent="0">
              <a:buNone/>
            </a:pPr>
            <a:r>
              <a:rPr lang="en-US" sz="1500" dirty="0">
                <a:solidFill>
                  <a:srgbClr val="52514E"/>
                </a:solidFill>
                <a:latin typeface="Calibri" pitchFamily="34" charset="0"/>
                <a:ea typeface="Calibri" pitchFamily="34" charset="-122"/>
                <a:cs typeface="Calibri" pitchFamily="34" charset="-120"/>
              </a:rPr>
              <a:t>Разница M2 − M4</a:t>
            </a:r>
            <a:endParaRPr lang="en-US" sz="1500" dirty="0"/>
          </a:p>
        </p:txBody>
      </p:sp>
      <p:sp>
        <p:nvSpPr>
          <p:cNvPr id="9" name="Text 7"/>
          <p:cNvSpPr txBox="1"/>
          <p:nvPr/>
        </p:nvSpPr>
        <p:spPr>
          <a:xfrm>
            <a:off x="2743200" y="3794760"/>
            <a:ext cx="1463040" cy="658368"/>
          </a:xfrm>
          <a:prstGeom prst="rect">
            <a:avLst/>
          </a:prstGeom>
          <a:noFill/>
          <a:ln/>
        </p:spPr>
        <p:txBody>
          <a:bodyPr wrap="square" lIns="0" tIns="0" rIns="0" bIns="0" rtlCol="0" anchor="ctr"/>
          <a:lstStyle/>
          <a:p>
            <a:pPr marL="0" indent="0" algn="r">
              <a:buNone/>
            </a:pPr>
            <a:r>
              <a:rPr lang="en-US" sz="2200" b="1" dirty="0">
                <a:solidFill>
                  <a:srgbClr val="141A23"/>
                </a:solidFill>
                <a:latin typeface="Calibri" pitchFamily="34" charset="0"/>
                <a:ea typeface="Calibri" pitchFamily="34" charset="-122"/>
                <a:cs typeface="Calibri" pitchFamily="34" charset="-120"/>
              </a:rPr>
              <a:t>0,000176</a:t>
            </a:r>
            <a:endParaRPr lang="en-US" sz="2200" dirty="0"/>
          </a:p>
        </p:txBody>
      </p:sp>
      <p:sp>
        <p:nvSpPr>
          <p:cNvPr id="10" name="Shape 8"/>
          <p:cNvSpPr/>
          <p:nvPr/>
        </p:nvSpPr>
        <p:spPr>
          <a:xfrm>
            <a:off x="548640" y="4572000"/>
            <a:ext cx="3840480" cy="658368"/>
          </a:xfrm>
          <a:prstGeom prst="roundRect">
            <a:avLst>
              <a:gd name="adj" fmla="val 11111"/>
            </a:avLst>
          </a:prstGeom>
          <a:solidFill>
            <a:srgbClr val="F2F3F5"/>
          </a:solidFill>
          <a:ln w="9525">
            <a:solidFill>
              <a:srgbClr val="F2F3F5"/>
            </a:solidFill>
            <a:prstDash val="solid"/>
          </a:ln>
        </p:spPr>
      </p:sp>
      <p:sp>
        <p:nvSpPr>
          <p:cNvPr id="11" name="Text 9"/>
          <p:cNvSpPr txBox="1"/>
          <p:nvPr/>
        </p:nvSpPr>
        <p:spPr>
          <a:xfrm>
            <a:off x="777240" y="4572000"/>
            <a:ext cx="2103120" cy="658368"/>
          </a:xfrm>
          <a:prstGeom prst="rect">
            <a:avLst/>
          </a:prstGeom>
          <a:noFill/>
          <a:ln/>
        </p:spPr>
        <p:txBody>
          <a:bodyPr wrap="square" lIns="0" tIns="0" rIns="0" bIns="0" rtlCol="0" anchor="ctr"/>
          <a:lstStyle/>
          <a:p>
            <a:pPr marL="0" indent="0">
              <a:buNone/>
            </a:pPr>
            <a:r>
              <a:rPr lang="en-US" sz="1500" dirty="0">
                <a:solidFill>
                  <a:srgbClr val="52514E"/>
                </a:solidFill>
                <a:latin typeface="Calibri" pitchFamily="34" charset="0"/>
                <a:ea typeface="Calibri" pitchFamily="34" charset="-122"/>
                <a:cs typeface="Calibri" pitchFamily="34" charset="-120"/>
              </a:rPr>
              <a:t>Разброс между людьми</a:t>
            </a:r>
            <a:endParaRPr lang="en-US" sz="1500" dirty="0"/>
          </a:p>
        </p:txBody>
      </p:sp>
      <p:sp>
        <p:nvSpPr>
          <p:cNvPr id="12" name="Text 10"/>
          <p:cNvSpPr txBox="1"/>
          <p:nvPr/>
        </p:nvSpPr>
        <p:spPr>
          <a:xfrm>
            <a:off x="2743200" y="4572000"/>
            <a:ext cx="1463040" cy="658368"/>
          </a:xfrm>
          <a:prstGeom prst="rect">
            <a:avLst/>
          </a:prstGeom>
          <a:noFill/>
          <a:ln/>
        </p:spPr>
        <p:txBody>
          <a:bodyPr wrap="square" lIns="0" tIns="0" rIns="0" bIns="0" rtlCol="0" anchor="ctr"/>
          <a:lstStyle/>
          <a:p>
            <a:pPr marL="0" indent="0" algn="r">
              <a:buNone/>
            </a:pPr>
            <a:r>
              <a:rPr lang="en-US" sz="2200" b="1" dirty="0">
                <a:solidFill>
                  <a:srgbClr val="141A23"/>
                </a:solidFill>
                <a:latin typeface="Calibri" pitchFamily="34" charset="0"/>
                <a:ea typeface="Calibri" pitchFamily="34" charset="-122"/>
                <a:cs typeface="Calibri" pitchFamily="34" charset="-120"/>
              </a:rPr>
              <a:t>0,0062</a:t>
            </a:r>
            <a:endParaRPr lang="en-US" sz="2200" dirty="0"/>
          </a:p>
        </p:txBody>
      </p:sp>
      <p:sp>
        <p:nvSpPr>
          <p:cNvPr id="13" name="Text 11"/>
          <p:cNvSpPr txBox="1"/>
          <p:nvPr/>
        </p:nvSpPr>
        <p:spPr>
          <a:xfrm>
            <a:off x="548640" y="5394960"/>
            <a:ext cx="3840480" cy="502920"/>
          </a:xfrm>
          <a:prstGeom prst="rect">
            <a:avLst/>
          </a:prstGeom>
          <a:noFill/>
          <a:ln/>
        </p:spPr>
        <p:txBody>
          <a:bodyPr wrap="square" lIns="0" tIns="0" rIns="0" bIns="0" rtlCol="0" anchor="t"/>
          <a:lstStyle/>
          <a:p>
            <a:pPr marL="0" indent="0">
              <a:buNone/>
            </a:pPr>
            <a:r>
              <a:rPr lang="en-US" sz="1200" dirty="0">
                <a:solidFill>
                  <a:srgbClr val="898781"/>
                </a:solidFill>
                <a:latin typeface="Calibri" pitchFamily="34" charset="0"/>
                <a:ea typeface="Calibri" pitchFamily="34" charset="-122"/>
                <a:cs typeface="Calibri" pitchFamily="34" charset="-120"/>
              </a:rPr>
              <a:t>Разброс — стандартное отклонение чувствительности M4 по 30 людям</a:t>
            </a:r>
            <a:endParaRPr lang="en-US" sz="1200" dirty="0"/>
          </a:p>
        </p:txBody>
      </p:sp>
      <p:graphicFrame>
        <p:nvGraphicFramePr>
          <p:cNvPr id="14" name="Chart 0"/>
          <p:cNvGraphicFramePr/>
          <p:nvPr/>
        </p:nvGraphicFramePr>
        <p:xfrm>
          <a:off x="4754880" y="1463040"/>
          <a:ext cx="6888175" cy="45262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1 · 30 ЧЕЛОВЕК</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Цель 95% не достигнута, отсев хуже у одной группы</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9 / 17</a:t>
            </a:r>
            <a:endParaRPr lang="en-US" sz="1000" dirty="0"/>
          </a:p>
        </p:txBody>
      </p:sp>
      <p:sp>
        <p:nvSpPr>
          <p:cNvPr id="5" name="Text 3"/>
          <p:cNvSpPr txBox="1"/>
          <p:nvPr/>
        </p:nvSpPr>
        <p:spPr>
          <a:xfrm>
            <a:off x="548640" y="1600200"/>
            <a:ext cx="5120640" cy="457200"/>
          </a:xfrm>
          <a:prstGeom prst="rect">
            <a:avLst/>
          </a:prstGeom>
          <a:noFill/>
          <a:ln/>
        </p:spPr>
        <p:txBody>
          <a:bodyPr wrap="square" lIns="0" tIns="0" rIns="0" bIns="0" rtlCol="0" anchor="t"/>
          <a:lstStyle/>
          <a:p>
            <a:pPr marL="0" indent="0">
              <a:buNone/>
            </a:pPr>
            <a:r>
              <a:rPr lang="en-US" sz="2000" b="1" dirty="0">
                <a:solidFill>
                  <a:srgbClr val="141A23"/>
                </a:solidFill>
                <a:latin typeface="Calibri" pitchFamily="34" charset="0"/>
                <a:ea typeface="Calibri" pitchFamily="34" charset="-122"/>
                <a:cs typeface="Calibri" pitchFamily="34" charset="-120"/>
              </a:rPr>
              <a:t>Ни одна версия не достигла 95%</a:t>
            </a:r>
            <a:endParaRPr lang="en-US" sz="2000" dirty="0"/>
          </a:p>
        </p:txBody>
      </p:sp>
      <p:sp>
        <p:nvSpPr>
          <p:cNvPr id="6" name="Shape 4"/>
          <p:cNvSpPr/>
          <p:nvPr/>
        </p:nvSpPr>
        <p:spPr>
          <a:xfrm>
            <a:off x="548640" y="2194560"/>
            <a:ext cx="4846320" cy="621792"/>
          </a:xfrm>
          <a:prstGeom prst="roundRect">
            <a:avLst>
              <a:gd name="adj" fmla="val 11765"/>
            </a:avLst>
          </a:prstGeom>
          <a:solidFill>
            <a:srgbClr val="F2F3F5"/>
          </a:solidFill>
          <a:ln w="9525">
            <a:solidFill>
              <a:srgbClr val="F2F3F5"/>
            </a:solidFill>
            <a:prstDash val="solid"/>
          </a:ln>
        </p:spPr>
      </p:sp>
      <p:sp>
        <p:nvSpPr>
          <p:cNvPr id="7" name="Text 5"/>
          <p:cNvSpPr txBox="1"/>
          <p:nvPr/>
        </p:nvSpPr>
        <p:spPr>
          <a:xfrm>
            <a:off x="777240" y="2194560"/>
            <a:ext cx="1097280" cy="621792"/>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M0</a:t>
            </a:r>
            <a:endParaRPr lang="en-US" sz="1800" dirty="0"/>
          </a:p>
        </p:txBody>
      </p:sp>
      <p:sp>
        <p:nvSpPr>
          <p:cNvPr id="8" name="Text 6"/>
          <p:cNvSpPr txBox="1"/>
          <p:nvPr/>
        </p:nvSpPr>
        <p:spPr>
          <a:xfrm>
            <a:off x="1828800" y="2194560"/>
            <a:ext cx="2011680" cy="621792"/>
          </a:xfrm>
          <a:prstGeom prst="rect">
            <a:avLst/>
          </a:prstGeom>
          <a:noFill/>
          <a:ln/>
        </p:spPr>
        <p:txBody>
          <a:bodyPr wrap="square" lIns="0" tIns="0" rIns="0" bIns="0" rtlCol="0" anchor="ctr"/>
          <a:lstStyle/>
          <a:p>
            <a:pPr marL="0" indent="0">
              <a:buNone/>
            </a:pPr>
            <a:r>
              <a:rPr lang="en-US" sz="2600" b="1" dirty="0">
                <a:solidFill>
                  <a:srgbClr val="141A23"/>
                </a:solidFill>
                <a:latin typeface="Calibri" pitchFamily="34" charset="0"/>
                <a:ea typeface="Calibri" pitchFamily="34" charset="-122"/>
                <a:cs typeface="Calibri" pitchFamily="34" charset="-120"/>
              </a:rPr>
              <a:t>94,53%</a:t>
            </a:r>
            <a:endParaRPr lang="en-US" sz="2600" dirty="0"/>
          </a:p>
        </p:txBody>
      </p:sp>
      <p:sp>
        <p:nvSpPr>
          <p:cNvPr id="9" name="Text 7"/>
          <p:cNvSpPr txBox="1"/>
          <p:nvPr/>
        </p:nvSpPr>
        <p:spPr>
          <a:xfrm>
            <a:off x="3611880" y="2194560"/>
            <a:ext cx="1645920" cy="621792"/>
          </a:xfrm>
          <a:prstGeom prst="rect">
            <a:avLst/>
          </a:prstGeom>
          <a:noFill/>
          <a:ln/>
        </p:spPr>
        <p:txBody>
          <a:bodyPr wrap="square" lIns="0" tIns="0" rIns="0" bIns="0" rtlCol="0" anchor="ctr"/>
          <a:lstStyle/>
          <a:p>
            <a:pPr marL="0" indent="0">
              <a:buNone/>
            </a:pPr>
            <a:r>
              <a:rPr lang="en-US" sz="1300" dirty="0">
                <a:solidFill>
                  <a:srgbClr val="52514E"/>
                </a:solidFill>
                <a:latin typeface="Calibri" pitchFamily="34" charset="0"/>
                <a:ea typeface="Calibri" pitchFamily="34" charset="-122"/>
                <a:cs typeface="Calibri" pitchFamily="34" charset="-120"/>
              </a:rPr>
              <a:t>чувствительность</a:t>
            </a:r>
            <a:endParaRPr lang="en-US" sz="1300" dirty="0"/>
          </a:p>
        </p:txBody>
      </p:sp>
      <p:sp>
        <p:nvSpPr>
          <p:cNvPr id="10" name="Shape 8"/>
          <p:cNvSpPr/>
          <p:nvPr/>
        </p:nvSpPr>
        <p:spPr>
          <a:xfrm>
            <a:off x="548640" y="2944368"/>
            <a:ext cx="4846320" cy="621792"/>
          </a:xfrm>
          <a:prstGeom prst="roundRect">
            <a:avLst>
              <a:gd name="adj" fmla="val 11765"/>
            </a:avLst>
          </a:prstGeom>
          <a:solidFill>
            <a:srgbClr val="F2F3F5"/>
          </a:solidFill>
          <a:ln w="9525">
            <a:solidFill>
              <a:srgbClr val="F2F3F5"/>
            </a:solidFill>
            <a:prstDash val="solid"/>
          </a:ln>
        </p:spPr>
      </p:sp>
      <p:sp>
        <p:nvSpPr>
          <p:cNvPr id="11" name="Text 9"/>
          <p:cNvSpPr txBox="1"/>
          <p:nvPr/>
        </p:nvSpPr>
        <p:spPr>
          <a:xfrm>
            <a:off x="777240" y="2944368"/>
            <a:ext cx="1097280" cy="621792"/>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M2</a:t>
            </a:r>
            <a:endParaRPr lang="en-US" sz="1800" dirty="0"/>
          </a:p>
        </p:txBody>
      </p:sp>
      <p:sp>
        <p:nvSpPr>
          <p:cNvPr id="12" name="Text 10"/>
          <p:cNvSpPr txBox="1"/>
          <p:nvPr/>
        </p:nvSpPr>
        <p:spPr>
          <a:xfrm>
            <a:off x="1828800" y="2944368"/>
            <a:ext cx="2011680" cy="621792"/>
          </a:xfrm>
          <a:prstGeom prst="rect">
            <a:avLst/>
          </a:prstGeom>
          <a:noFill/>
          <a:ln/>
        </p:spPr>
        <p:txBody>
          <a:bodyPr wrap="square" lIns="0" tIns="0" rIns="0" bIns="0" rtlCol="0" anchor="ctr"/>
          <a:lstStyle/>
          <a:p>
            <a:pPr marL="0" indent="0">
              <a:buNone/>
            </a:pPr>
            <a:r>
              <a:rPr lang="en-US" sz="2600" b="1" dirty="0">
                <a:solidFill>
                  <a:srgbClr val="141A23"/>
                </a:solidFill>
                <a:latin typeface="Calibri" pitchFamily="34" charset="0"/>
                <a:ea typeface="Calibri" pitchFamily="34" charset="-122"/>
                <a:cs typeface="Calibri" pitchFamily="34" charset="-120"/>
              </a:rPr>
              <a:t>94,73%</a:t>
            </a:r>
            <a:endParaRPr lang="en-US" sz="2600" dirty="0"/>
          </a:p>
        </p:txBody>
      </p:sp>
      <p:sp>
        <p:nvSpPr>
          <p:cNvPr id="13" name="Text 11"/>
          <p:cNvSpPr txBox="1"/>
          <p:nvPr/>
        </p:nvSpPr>
        <p:spPr>
          <a:xfrm>
            <a:off x="3611880" y="2944368"/>
            <a:ext cx="1645920" cy="621792"/>
          </a:xfrm>
          <a:prstGeom prst="rect">
            <a:avLst/>
          </a:prstGeom>
          <a:noFill/>
          <a:ln/>
        </p:spPr>
        <p:txBody>
          <a:bodyPr wrap="square" lIns="0" tIns="0" rIns="0" bIns="0" rtlCol="0" anchor="ctr"/>
          <a:lstStyle/>
          <a:p>
            <a:pPr marL="0" indent="0">
              <a:buNone/>
            </a:pPr>
            <a:r>
              <a:rPr lang="en-US" sz="1300" dirty="0">
                <a:solidFill>
                  <a:srgbClr val="52514E"/>
                </a:solidFill>
                <a:latin typeface="Calibri" pitchFamily="34" charset="0"/>
                <a:ea typeface="Calibri" pitchFamily="34" charset="-122"/>
                <a:cs typeface="Calibri" pitchFamily="34" charset="-120"/>
              </a:rPr>
              <a:t>чувствительность</a:t>
            </a:r>
            <a:endParaRPr lang="en-US" sz="1300" dirty="0"/>
          </a:p>
        </p:txBody>
      </p:sp>
      <p:sp>
        <p:nvSpPr>
          <p:cNvPr id="14" name="Shape 12"/>
          <p:cNvSpPr/>
          <p:nvPr/>
        </p:nvSpPr>
        <p:spPr>
          <a:xfrm>
            <a:off x="548640" y="3694176"/>
            <a:ext cx="4846320" cy="621792"/>
          </a:xfrm>
          <a:prstGeom prst="roundRect">
            <a:avLst>
              <a:gd name="adj" fmla="val 11765"/>
            </a:avLst>
          </a:prstGeom>
          <a:solidFill>
            <a:srgbClr val="F2F3F5"/>
          </a:solidFill>
          <a:ln w="9525">
            <a:solidFill>
              <a:srgbClr val="F2F3F5"/>
            </a:solidFill>
            <a:prstDash val="solid"/>
          </a:ln>
        </p:spPr>
      </p:sp>
      <p:sp>
        <p:nvSpPr>
          <p:cNvPr id="15" name="Text 13"/>
          <p:cNvSpPr txBox="1"/>
          <p:nvPr/>
        </p:nvSpPr>
        <p:spPr>
          <a:xfrm>
            <a:off x="777240" y="3694176"/>
            <a:ext cx="1097280" cy="621792"/>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M4</a:t>
            </a:r>
            <a:endParaRPr lang="en-US" sz="1800" dirty="0"/>
          </a:p>
        </p:txBody>
      </p:sp>
      <p:sp>
        <p:nvSpPr>
          <p:cNvPr id="16" name="Text 14"/>
          <p:cNvSpPr txBox="1"/>
          <p:nvPr/>
        </p:nvSpPr>
        <p:spPr>
          <a:xfrm>
            <a:off x="1828800" y="3694176"/>
            <a:ext cx="2011680" cy="621792"/>
          </a:xfrm>
          <a:prstGeom prst="rect">
            <a:avLst/>
          </a:prstGeom>
          <a:noFill/>
          <a:ln/>
        </p:spPr>
        <p:txBody>
          <a:bodyPr wrap="square" lIns="0" tIns="0" rIns="0" bIns="0" rtlCol="0" anchor="ctr"/>
          <a:lstStyle/>
          <a:p>
            <a:pPr marL="0" indent="0">
              <a:buNone/>
            </a:pPr>
            <a:r>
              <a:rPr lang="en-US" sz="2600" b="1" dirty="0">
                <a:solidFill>
                  <a:srgbClr val="141A23"/>
                </a:solidFill>
                <a:latin typeface="Calibri" pitchFamily="34" charset="0"/>
                <a:ea typeface="Calibri" pitchFamily="34" charset="-122"/>
                <a:cs typeface="Calibri" pitchFamily="34" charset="-120"/>
              </a:rPr>
              <a:t>94,71%</a:t>
            </a:r>
            <a:endParaRPr lang="en-US" sz="2600" dirty="0"/>
          </a:p>
        </p:txBody>
      </p:sp>
      <p:sp>
        <p:nvSpPr>
          <p:cNvPr id="17" name="Text 15"/>
          <p:cNvSpPr txBox="1"/>
          <p:nvPr/>
        </p:nvSpPr>
        <p:spPr>
          <a:xfrm>
            <a:off x="3611880" y="3694176"/>
            <a:ext cx="1645920" cy="621792"/>
          </a:xfrm>
          <a:prstGeom prst="rect">
            <a:avLst/>
          </a:prstGeom>
          <a:noFill/>
          <a:ln/>
        </p:spPr>
        <p:txBody>
          <a:bodyPr wrap="square" lIns="0" tIns="0" rIns="0" bIns="0" rtlCol="0" anchor="ctr"/>
          <a:lstStyle/>
          <a:p>
            <a:pPr marL="0" indent="0">
              <a:buNone/>
            </a:pPr>
            <a:r>
              <a:rPr lang="en-US" sz="1300" dirty="0">
                <a:solidFill>
                  <a:srgbClr val="52514E"/>
                </a:solidFill>
                <a:latin typeface="Calibri" pitchFamily="34" charset="0"/>
                <a:ea typeface="Calibri" pitchFamily="34" charset="-122"/>
                <a:cs typeface="Calibri" pitchFamily="34" charset="-120"/>
              </a:rPr>
              <a:t>чувствительность</a:t>
            </a:r>
            <a:endParaRPr lang="en-US" sz="1300" dirty="0"/>
          </a:p>
        </p:txBody>
      </p:sp>
      <p:sp>
        <p:nvSpPr>
          <p:cNvPr id="18" name="Text 16"/>
          <p:cNvSpPr txBox="1"/>
          <p:nvPr/>
        </p:nvSpPr>
        <p:spPr>
          <a:xfrm>
            <a:off x="548640" y="4526280"/>
            <a:ext cx="4846320" cy="128016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Недобор одинаковый у всех: разброс между людьми около 0,6 п.п., все 30 человек — от 92,8% до 96,2%. После промаха порог не перенастраивали.</a:t>
            </a:r>
            <a:endParaRPr lang="en-US" sz="1500" dirty="0"/>
          </a:p>
        </p:txBody>
      </p:sp>
      <p:graphicFrame>
        <p:nvGraphicFramePr>
          <p:cNvPr id="19" name="Chart 0"/>
          <p:cNvGraphicFramePr/>
          <p:nvPr/>
        </p:nvGraphicFramePr>
        <p:xfrm>
          <a:off x="5897880" y="1463040"/>
          <a:ext cx="5745175"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7"/>
          <p:cNvSpPr txBox="1"/>
          <p:nvPr/>
        </p:nvSpPr>
        <p:spPr>
          <a:xfrm>
            <a:off x="5897880" y="5074920"/>
            <a:ext cx="5745175" cy="1005840"/>
          </a:xfrm>
          <a:prstGeom prst="rect">
            <a:avLst/>
          </a:prstGeom>
          <a:noFill/>
          <a:ln/>
        </p:spPr>
        <p:txBody>
          <a:bodyPr wrap="square" lIns="0" tIns="0" rIns="0" bIns="0" rtlCol="0" anchor="t"/>
          <a:lstStyle/>
          <a:p>
            <a:pPr marL="0" indent="0">
              <a:buNone/>
            </a:pPr>
            <a:r>
              <a:rPr lang="en-US" sz="1400" b="1" dirty="0">
                <a:solidFill>
                  <a:srgbClr val="52514E"/>
                </a:solidFill>
                <a:latin typeface="Calibri" pitchFamily="34" charset="0"/>
                <a:ea typeface="Calibri" pitchFamily="34" charset="-122"/>
                <a:cs typeface="Calibri" pitchFamily="34" charset="-120"/>
              </a:rPr>
              <a:t>Находить делеции хуже не стала: </a:t>
            </a:r>
            <a:r>
              <a:rPr lang="en-US" sz="1400" dirty="0">
                <a:solidFill>
                  <a:srgbClr val="52514E"/>
                </a:solidFill>
                <a:latin typeface="Calibri" pitchFamily="34" charset="0"/>
                <a:ea typeface="Calibri" pitchFamily="34" charset="-122"/>
                <a:cs typeface="Calibri" pitchFamily="34" charset="-120"/>
              </a:rPr>
              <a:t>чувствительность 94,2%–94,9% во всех группах. Вероятная причина — справочник эталонных ответов: по африканским популяциям в нём меньше данных. Причина не доказана.</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C2E"/>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b="1" kern="0" spc="200" dirty="0">
                <a:solidFill>
                  <a:srgbClr val="C3C2B7"/>
                </a:solidFill>
                <a:latin typeface="Calibri" pitchFamily="34" charset="0"/>
                <a:ea typeface="Calibri" pitchFamily="34" charset="-122"/>
                <a:cs typeface="Calibri" pitchFamily="34" charset="-120"/>
              </a:rPr>
              <a:t>ИТОГ СТАТЬИ 1</a:t>
            </a:r>
            <a:endParaRPr lang="en-US" sz="1200" dirty="0"/>
          </a:p>
        </p:txBody>
      </p:sp>
      <p:sp>
        <p:nvSpPr>
          <p:cNvPr id="3" name="Text 1"/>
          <p:cNvSpPr txBox="1"/>
          <p:nvPr/>
        </p:nvSpPr>
        <p:spPr>
          <a:xfrm>
            <a:off x="548640" y="914400"/>
            <a:ext cx="10241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Проверки на одном геноме недостаточно — даже безупречно проведённой</a:t>
            </a:r>
            <a:endParaRPr lang="en-US" sz="3600" dirty="0"/>
          </a:p>
        </p:txBody>
      </p:sp>
      <p:sp>
        <p:nvSpPr>
          <p:cNvPr id="4" name="Shape 2"/>
          <p:cNvSpPr/>
          <p:nvPr/>
        </p:nvSpPr>
        <p:spPr>
          <a:xfrm>
            <a:off x="548640" y="2834640"/>
            <a:ext cx="3429000" cy="2148840"/>
          </a:xfrm>
          <a:prstGeom prst="roundRect">
            <a:avLst>
              <a:gd name="adj" fmla="val 3404"/>
            </a:avLst>
          </a:prstGeom>
          <a:solidFill>
            <a:srgbClr val="1B2C44"/>
          </a:solidFill>
          <a:ln w="9525">
            <a:solidFill>
              <a:srgbClr val="1B2C44"/>
            </a:solidFill>
            <a:prstDash val="solid"/>
          </a:ln>
        </p:spPr>
      </p:sp>
      <p:sp>
        <p:nvSpPr>
          <p:cNvPr id="5" name="Text 3"/>
          <p:cNvSpPr txBox="1"/>
          <p:nvPr/>
        </p:nvSpPr>
        <p:spPr>
          <a:xfrm>
            <a:off x="822960" y="3090672"/>
            <a:ext cx="2880360" cy="1691640"/>
          </a:xfrm>
          <a:prstGeom prst="rect">
            <a:avLst/>
          </a:prstGeom>
          <a:noFill/>
          <a:ln/>
        </p:spPr>
        <p:txBody>
          <a:bodyPr wrap="square" lIns="0" tIns="0" rIns="0" bIns="0" rtlCol="0" anchor="t"/>
          <a:lstStyle/>
          <a:p>
            <a:pPr marL="0" indent="0">
              <a:spcAft>
                <a:spcPts val="800"/>
              </a:spcAft>
              <a:buNone/>
            </a:pPr>
            <a:r>
              <a:rPr lang="en-US" sz="2000" b="1" dirty="0">
                <a:solidFill>
                  <a:srgbClr val="FFFFFF"/>
                </a:solidFill>
                <a:latin typeface="Calibri" pitchFamily="34" charset="0"/>
                <a:ea typeface="Calibri" pitchFamily="34" charset="-122"/>
                <a:cs typeface="Calibri" pitchFamily="34" charset="-120"/>
              </a:rPr>
              <a:t>Качество</a:t>
            </a:r>
            <a:endParaRPr lang="en-US" sz="1600" dirty="0"/>
          </a:p>
          <a:p>
            <a:pPr marL="0" indent="0">
              <a:spcAft>
                <a:spcPts val="800"/>
              </a:spcAft>
              <a:buNone/>
            </a:pPr>
            <a:r>
              <a:rPr lang="en-US" sz="1600" dirty="0">
                <a:solidFill>
                  <a:srgbClr val="C3C2B7"/>
                </a:solidFill>
                <a:latin typeface="Calibri" pitchFamily="34" charset="0"/>
                <a:ea typeface="Calibri" pitchFamily="34" charset="-122"/>
                <a:cs typeface="Calibri" pitchFamily="34" charset="-120"/>
              </a:rPr>
              <a:t>Цель 95% не достигнута ни одной версией; недобор одинаковый у всех 30 человек</a:t>
            </a:r>
            <a:endParaRPr lang="en-US" sz="1600" dirty="0"/>
          </a:p>
        </p:txBody>
      </p:sp>
      <p:sp>
        <p:nvSpPr>
          <p:cNvPr id="6" name="Shape 4"/>
          <p:cNvSpPr/>
          <p:nvPr/>
        </p:nvSpPr>
        <p:spPr>
          <a:xfrm>
            <a:off x="4366260" y="2834640"/>
            <a:ext cx="3429000" cy="2148840"/>
          </a:xfrm>
          <a:prstGeom prst="roundRect">
            <a:avLst>
              <a:gd name="adj" fmla="val 3404"/>
            </a:avLst>
          </a:prstGeom>
          <a:solidFill>
            <a:srgbClr val="1B2C44"/>
          </a:solidFill>
          <a:ln w="9525">
            <a:solidFill>
              <a:srgbClr val="1B2C44"/>
            </a:solidFill>
            <a:prstDash val="solid"/>
          </a:ln>
        </p:spPr>
      </p:sp>
      <p:sp>
        <p:nvSpPr>
          <p:cNvPr id="7" name="Text 5"/>
          <p:cNvSpPr txBox="1"/>
          <p:nvPr/>
        </p:nvSpPr>
        <p:spPr>
          <a:xfrm>
            <a:off x="4640580" y="3090672"/>
            <a:ext cx="2880360" cy="1691640"/>
          </a:xfrm>
          <a:prstGeom prst="rect">
            <a:avLst/>
          </a:prstGeom>
          <a:noFill/>
          <a:ln/>
        </p:spPr>
        <p:txBody>
          <a:bodyPr wrap="square" lIns="0" tIns="0" rIns="0" bIns="0" rtlCol="0" anchor="t"/>
          <a:lstStyle/>
          <a:p>
            <a:pPr marL="0" indent="0">
              <a:spcAft>
                <a:spcPts val="800"/>
              </a:spcAft>
              <a:buNone/>
            </a:pPr>
            <a:r>
              <a:rPr lang="en-US" sz="2000" b="1" dirty="0">
                <a:solidFill>
                  <a:srgbClr val="FFFFFF"/>
                </a:solidFill>
                <a:latin typeface="Calibri" pitchFamily="34" charset="0"/>
                <a:ea typeface="Calibri" pitchFamily="34" charset="-122"/>
                <a:cs typeface="Calibri" pitchFamily="34" charset="-120"/>
              </a:rPr>
              <a:t>Обобщаемость</a:t>
            </a:r>
            <a:endParaRPr lang="en-US" sz="1600" dirty="0"/>
          </a:p>
          <a:p>
            <a:pPr marL="0" indent="0">
              <a:spcAft>
                <a:spcPts val="800"/>
              </a:spcAft>
              <a:buNone/>
            </a:pPr>
            <a:r>
              <a:rPr lang="en-US" sz="1600" dirty="0">
                <a:solidFill>
                  <a:srgbClr val="C3C2B7"/>
                </a:solidFill>
                <a:latin typeface="Calibri" pitchFamily="34" charset="0"/>
                <a:ea typeface="Calibri" pitchFamily="34" charset="-122"/>
                <a:cs typeface="Calibri" pitchFamily="34" charset="-120"/>
              </a:rPr>
              <a:t>Различие M2 и M4 на HG002 не воспроизвелось на 30 людях</a:t>
            </a:r>
            <a:endParaRPr lang="en-US" sz="1600" dirty="0"/>
          </a:p>
        </p:txBody>
      </p:sp>
      <p:sp>
        <p:nvSpPr>
          <p:cNvPr id="8" name="Shape 6"/>
          <p:cNvSpPr/>
          <p:nvPr/>
        </p:nvSpPr>
        <p:spPr>
          <a:xfrm>
            <a:off x="8183880" y="2834640"/>
            <a:ext cx="3429000" cy="2148840"/>
          </a:xfrm>
          <a:prstGeom prst="roundRect">
            <a:avLst>
              <a:gd name="adj" fmla="val 3404"/>
            </a:avLst>
          </a:prstGeom>
          <a:solidFill>
            <a:srgbClr val="1B2C44"/>
          </a:solidFill>
          <a:ln w="9525">
            <a:solidFill>
              <a:srgbClr val="1B2C44"/>
            </a:solidFill>
            <a:prstDash val="solid"/>
          </a:ln>
        </p:spPr>
      </p:sp>
      <p:sp>
        <p:nvSpPr>
          <p:cNvPr id="9" name="Text 7"/>
          <p:cNvSpPr txBox="1"/>
          <p:nvPr/>
        </p:nvSpPr>
        <p:spPr>
          <a:xfrm>
            <a:off x="8458200" y="3090672"/>
            <a:ext cx="2880360" cy="1691640"/>
          </a:xfrm>
          <a:prstGeom prst="rect">
            <a:avLst/>
          </a:prstGeom>
          <a:noFill/>
          <a:ln/>
        </p:spPr>
        <p:txBody>
          <a:bodyPr wrap="square" lIns="0" tIns="0" rIns="0" bIns="0" rtlCol="0" anchor="t"/>
          <a:lstStyle/>
          <a:p>
            <a:pPr marL="0" indent="0">
              <a:spcAft>
                <a:spcPts val="800"/>
              </a:spcAft>
              <a:buNone/>
            </a:pPr>
            <a:r>
              <a:rPr lang="en-US" sz="2000" b="1" dirty="0">
                <a:solidFill>
                  <a:srgbClr val="FFFFFF"/>
                </a:solidFill>
                <a:latin typeface="Calibri" pitchFamily="34" charset="0"/>
                <a:ea typeface="Calibri" pitchFamily="34" charset="-122"/>
                <a:cs typeface="Calibri" pitchFamily="34" charset="-120"/>
              </a:rPr>
              <a:t>Методика оценки</a:t>
            </a:r>
            <a:endParaRPr lang="en-US" sz="1600" dirty="0"/>
          </a:p>
          <a:p>
            <a:pPr marL="0" indent="0">
              <a:spcAft>
                <a:spcPts val="800"/>
              </a:spcAft>
              <a:buNone/>
            </a:pPr>
            <a:r>
              <a:rPr lang="en-US" sz="1600" dirty="0">
                <a:solidFill>
                  <a:srgbClr val="C3C2B7"/>
                </a:solidFill>
                <a:latin typeface="Calibri" pitchFamily="34" charset="0"/>
                <a:ea typeface="Calibri" pitchFamily="34" charset="-122"/>
                <a:cs typeface="Calibri" pitchFamily="34" charset="-120"/>
              </a:rPr>
              <a:t>Оба дешёвых способа — один геном и обнуление входа — дали завышенный эффект</a:t>
            </a:r>
            <a:endParaRPr lang="en-US" sz="1600" dirty="0"/>
          </a:p>
        </p:txBody>
      </p:sp>
      <p:sp>
        <p:nvSpPr>
          <p:cNvPr id="10" name="Text 8"/>
          <p:cNvSpPr txBox="1"/>
          <p:nvPr/>
        </p:nvSpPr>
        <p:spPr>
          <a:xfrm>
            <a:off x="548640" y="5486400"/>
            <a:ext cx="10058400" cy="365760"/>
          </a:xfrm>
          <a:prstGeom prst="rect">
            <a:avLst/>
          </a:prstGeom>
          <a:noFill/>
          <a:ln/>
        </p:spPr>
        <p:txBody>
          <a:bodyPr wrap="square" lIns="0" tIns="0" rIns="0" bIns="0" rtlCol="0" anchor="t"/>
          <a:lstStyle/>
          <a:p>
            <a:pPr marL="0" indent="0">
              <a:buNone/>
            </a:pPr>
            <a:r>
              <a:rPr lang="en-US" sz="1600" dirty="0">
                <a:solidFill>
                  <a:srgbClr val="C3C2B7"/>
                </a:solidFill>
                <a:latin typeface="Calibri" pitchFamily="34" charset="0"/>
                <a:ea typeface="Calibri" pitchFamily="34" charset="-122"/>
                <a:cs typeface="Calibri" pitchFamily="34" charset="-120"/>
              </a:rPr>
              <a:t>Статья готова к подаче: английская версия и полная русская версия с PDF</a:t>
            </a:r>
            <a:endParaRPr lang="en-US" sz="1600" dirty="0"/>
          </a:p>
        </p:txBody>
      </p:sp>
      <p:sp>
        <p:nvSpPr>
          <p:cNvPr id="11" name="Text 9"/>
          <p:cNvSpPr txBox="1"/>
          <p:nvPr/>
        </p:nvSpPr>
        <p:spPr>
          <a:xfrm>
            <a:off x="10545775" y="6473952"/>
            <a:ext cx="1097280" cy="237744"/>
          </a:xfrm>
          <a:prstGeom prst="rect">
            <a:avLst/>
          </a:prstGeom>
          <a:noFill/>
          <a:ln/>
        </p:spPr>
        <p:txBody>
          <a:bodyPr wrap="square" lIns="0" tIns="0" rIns="0" bIns="0" rtlCol="0" anchor="t"/>
          <a:lstStyle/>
          <a:p>
            <a:pPr marL="0" indent="0" algn="r">
              <a:buNone/>
            </a:pPr>
            <a:r>
              <a:rPr lang="en-US" sz="1000" dirty="0">
                <a:solidFill>
                  <a:srgbClr val="C3C2B7"/>
                </a:solidFill>
                <a:latin typeface="Calibri" pitchFamily="34" charset="0"/>
                <a:ea typeface="Calibri" pitchFamily="34" charset="-122"/>
                <a:cs typeface="Calibri" pitchFamily="34" charset="-120"/>
              </a:rPr>
              <a:t>10 /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2 · ВОПРОС</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Вторая статья: порог с гарантией</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11 / 17</a:t>
            </a:r>
            <a:endParaRPr lang="en-US" sz="1000" dirty="0"/>
          </a:p>
        </p:txBody>
      </p:sp>
      <p:sp>
        <p:nvSpPr>
          <p:cNvPr id="5" name="Text 3"/>
          <p:cNvSpPr txBox="1"/>
          <p:nvPr/>
        </p:nvSpPr>
        <p:spPr>
          <a:xfrm>
            <a:off x="548640" y="1554480"/>
            <a:ext cx="11094415" cy="777240"/>
          </a:xfrm>
          <a:prstGeom prst="rect">
            <a:avLst/>
          </a:prstGeom>
          <a:noFill/>
          <a:ln/>
        </p:spPr>
        <p:txBody>
          <a:bodyPr wrap="square" lIns="0" tIns="0" rIns="0" bIns="0" rtlCol="0" anchor="t"/>
          <a:lstStyle/>
          <a:p>
            <a:pPr marL="0" indent="0">
              <a:buNone/>
            </a:pPr>
            <a:r>
              <a:rPr lang="en-US" sz="1700" dirty="0">
                <a:solidFill>
                  <a:srgbClr val="141A23"/>
                </a:solidFill>
                <a:latin typeface="Calibri" pitchFamily="34" charset="0"/>
                <a:ea typeface="Calibri" pitchFamily="34" charset="-122"/>
                <a:cs typeface="Calibri" pitchFamily="34" charset="-120"/>
              </a:rPr>
              <a:t>Старая процедура подбирает порог так, чтобы в среднем чувствительность была 95%. Держит ли она цель у нового человека? Проверка на всех 30: порог подобран на 29, результат — у 30-го.</a:t>
            </a:r>
            <a:endParaRPr lang="en-US" sz="1700" dirty="0"/>
          </a:p>
        </p:txBody>
      </p:sp>
      <p:sp>
        <p:nvSpPr>
          <p:cNvPr id="6" name="Text 4"/>
          <p:cNvSpPr txBox="1"/>
          <p:nvPr/>
        </p:nvSpPr>
        <p:spPr>
          <a:xfrm>
            <a:off x="548640" y="2560320"/>
            <a:ext cx="731520" cy="320040"/>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M0</a:t>
            </a:r>
            <a:endParaRPr lang="en-US" sz="1800" dirty="0"/>
          </a:p>
        </p:txBody>
      </p:sp>
      <p:sp>
        <p:nvSpPr>
          <p:cNvPr id="7" name="Shape 5"/>
          <p:cNvSpPr/>
          <p:nvPr/>
        </p:nvSpPr>
        <p:spPr>
          <a:xfrm>
            <a:off x="1371600" y="2606040"/>
            <a:ext cx="228600" cy="228600"/>
          </a:xfrm>
          <a:prstGeom prst="ellipse">
            <a:avLst/>
          </a:prstGeom>
          <a:solidFill>
            <a:srgbClr val="FFFFFF">
              <a:alpha val="0"/>
            </a:srgbClr>
          </a:solidFill>
          <a:ln w="19050">
            <a:solidFill>
              <a:srgbClr val="2A78D6"/>
            </a:solidFill>
            <a:prstDash val="solid"/>
          </a:ln>
        </p:spPr>
      </p:sp>
      <p:sp>
        <p:nvSpPr>
          <p:cNvPr id="8" name="Shape 6"/>
          <p:cNvSpPr/>
          <p:nvPr/>
        </p:nvSpPr>
        <p:spPr>
          <a:xfrm>
            <a:off x="1668780" y="2606040"/>
            <a:ext cx="228600" cy="228600"/>
          </a:xfrm>
          <a:prstGeom prst="ellipse">
            <a:avLst/>
          </a:prstGeom>
          <a:solidFill>
            <a:srgbClr val="2A78D6"/>
          </a:solidFill>
          <a:ln w="15875">
            <a:solidFill>
              <a:srgbClr val="2A78D6"/>
            </a:solidFill>
            <a:prstDash val="solid"/>
          </a:ln>
        </p:spPr>
      </p:sp>
      <p:sp>
        <p:nvSpPr>
          <p:cNvPr id="9" name="Shape 7"/>
          <p:cNvSpPr/>
          <p:nvPr/>
        </p:nvSpPr>
        <p:spPr>
          <a:xfrm>
            <a:off x="1965960" y="2606040"/>
            <a:ext cx="228600" cy="228600"/>
          </a:xfrm>
          <a:prstGeom prst="ellipse">
            <a:avLst/>
          </a:prstGeom>
          <a:solidFill>
            <a:srgbClr val="FFFFFF">
              <a:alpha val="0"/>
            </a:srgbClr>
          </a:solidFill>
          <a:ln w="19050">
            <a:solidFill>
              <a:srgbClr val="2A78D6"/>
            </a:solidFill>
            <a:prstDash val="solid"/>
          </a:ln>
        </p:spPr>
      </p:sp>
      <p:sp>
        <p:nvSpPr>
          <p:cNvPr id="10" name="Shape 8"/>
          <p:cNvSpPr/>
          <p:nvPr/>
        </p:nvSpPr>
        <p:spPr>
          <a:xfrm>
            <a:off x="2263140" y="2606040"/>
            <a:ext cx="228600" cy="228600"/>
          </a:xfrm>
          <a:prstGeom prst="ellipse">
            <a:avLst/>
          </a:prstGeom>
          <a:solidFill>
            <a:srgbClr val="2A78D6"/>
          </a:solidFill>
          <a:ln w="15875">
            <a:solidFill>
              <a:srgbClr val="2A78D6"/>
            </a:solidFill>
            <a:prstDash val="solid"/>
          </a:ln>
        </p:spPr>
      </p:sp>
      <p:sp>
        <p:nvSpPr>
          <p:cNvPr id="11" name="Shape 9"/>
          <p:cNvSpPr/>
          <p:nvPr/>
        </p:nvSpPr>
        <p:spPr>
          <a:xfrm>
            <a:off x="2560320" y="2606040"/>
            <a:ext cx="228600" cy="228600"/>
          </a:xfrm>
          <a:prstGeom prst="ellipse">
            <a:avLst/>
          </a:prstGeom>
          <a:solidFill>
            <a:srgbClr val="2A78D6"/>
          </a:solidFill>
          <a:ln w="15875">
            <a:solidFill>
              <a:srgbClr val="2A78D6"/>
            </a:solidFill>
            <a:prstDash val="solid"/>
          </a:ln>
        </p:spPr>
      </p:sp>
      <p:sp>
        <p:nvSpPr>
          <p:cNvPr id="12" name="Shape 10"/>
          <p:cNvSpPr/>
          <p:nvPr/>
        </p:nvSpPr>
        <p:spPr>
          <a:xfrm>
            <a:off x="2857500" y="2606040"/>
            <a:ext cx="228600" cy="228600"/>
          </a:xfrm>
          <a:prstGeom prst="ellipse">
            <a:avLst/>
          </a:prstGeom>
          <a:solidFill>
            <a:srgbClr val="2A78D6"/>
          </a:solidFill>
          <a:ln w="15875">
            <a:solidFill>
              <a:srgbClr val="2A78D6"/>
            </a:solidFill>
            <a:prstDash val="solid"/>
          </a:ln>
        </p:spPr>
      </p:sp>
      <p:sp>
        <p:nvSpPr>
          <p:cNvPr id="13" name="Shape 11"/>
          <p:cNvSpPr/>
          <p:nvPr/>
        </p:nvSpPr>
        <p:spPr>
          <a:xfrm>
            <a:off x="3154680" y="2606040"/>
            <a:ext cx="228600" cy="228600"/>
          </a:xfrm>
          <a:prstGeom prst="ellipse">
            <a:avLst/>
          </a:prstGeom>
          <a:solidFill>
            <a:srgbClr val="FFFFFF">
              <a:alpha val="0"/>
            </a:srgbClr>
          </a:solidFill>
          <a:ln w="19050">
            <a:solidFill>
              <a:srgbClr val="2A78D6"/>
            </a:solidFill>
            <a:prstDash val="solid"/>
          </a:ln>
        </p:spPr>
      </p:sp>
      <p:sp>
        <p:nvSpPr>
          <p:cNvPr id="14" name="Shape 12"/>
          <p:cNvSpPr/>
          <p:nvPr/>
        </p:nvSpPr>
        <p:spPr>
          <a:xfrm>
            <a:off x="3451860" y="2606040"/>
            <a:ext cx="228600" cy="228600"/>
          </a:xfrm>
          <a:prstGeom prst="ellipse">
            <a:avLst/>
          </a:prstGeom>
          <a:solidFill>
            <a:srgbClr val="FFFFFF">
              <a:alpha val="0"/>
            </a:srgbClr>
          </a:solidFill>
          <a:ln w="19050">
            <a:solidFill>
              <a:srgbClr val="2A78D6"/>
            </a:solidFill>
            <a:prstDash val="solid"/>
          </a:ln>
        </p:spPr>
      </p:sp>
      <p:sp>
        <p:nvSpPr>
          <p:cNvPr id="15" name="Shape 13"/>
          <p:cNvSpPr/>
          <p:nvPr/>
        </p:nvSpPr>
        <p:spPr>
          <a:xfrm>
            <a:off x="3749040" y="2606040"/>
            <a:ext cx="228600" cy="228600"/>
          </a:xfrm>
          <a:prstGeom prst="ellipse">
            <a:avLst/>
          </a:prstGeom>
          <a:solidFill>
            <a:srgbClr val="FFFFFF">
              <a:alpha val="0"/>
            </a:srgbClr>
          </a:solidFill>
          <a:ln w="19050">
            <a:solidFill>
              <a:srgbClr val="2A78D6"/>
            </a:solidFill>
            <a:prstDash val="solid"/>
          </a:ln>
        </p:spPr>
      </p:sp>
      <p:sp>
        <p:nvSpPr>
          <p:cNvPr id="16" name="Shape 14"/>
          <p:cNvSpPr/>
          <p:nvPr/>
        </p:nvSpPr>
        <p:spPr>
          <a:xfrm>
            <a:off x="4046220" y="2606040"/>
            <a:ext cx="228600" cy="228600"/>
          </a:xfrm>
          <a:prstGeom prst="ellipse">
            <a:avLst/>
          </a:prstGeom>
          <a:solidFill>
            <a:srgbClr val="FFFFFF">
              <a:alpha val="0"/>
            </a:srgbClr>
          </a:solidFill>
          <a:ln w="19050">
            <a:solidFill>
              <a:srgbClr val="2A78D6"/>
            </a:solidFill>
            <a:prstDash val="solid"/>
          </a:ln>
        </p:spPr>
      </p:sp>
      <p:sp>
        <p:nvSpPr>
          <p:cNvPr id="17" name="Shape 15"/>
          <p:cNvSpPr/>
          <p:nvPr/>
        </p:nvSpPr>
        <p:spPr>
          <a:xfrm>
            <a:off x="4343400" y="2606040"/>
            <a:ext cx="228600" cy="228600"/>
          </a:xfrm>
          <a:prstGeom prst="ellipse">
            <a:avLst/>
          </a:prstGeom>
          <a:solidFill>
            <a:srgbClr val="FFFFFF">
              <a:alpha val="0"/>
            </a:srgbClr>
          </a:solidFill>
          <a:ln w="19050">
            <a:solidFill>
              <a:srgbClr val="2A78D6"/>
            </a:solidFill>
            <a:prstDash val="solid"/>
          </a:ln>
        </p:spPr>
      </p:sp>
      <p:sp>
        <p:nvSpPr>
          <p:cNvPr id="18" name="Shape 16"/>
          <p:cNvSpPr/>
          <p:nvPr/>
        </p:nvSpPr>
        <p:spPr>
          <a:xfrm>
            <a:off x="4640580" y="2606040"/>
            <a:ext cx="228600" cy="228600"/>
          </a:xfrm>
          <a:prstGeom prst="ellipse">
            <a:avLst/>
          </a:prstGeom>
          <a:solidFill>
            <a:srgbClr val="2A78D6"/>
          </a:solidFill>
          <a:ln w="15875">
            <a:solidFill>
              <a:srgbClr val="2A78D6"/>
            </a:solidFill>
            <a:prstDash val="solid"/>
          </a:ln>
        </p:spPr>
      </p:sp>
      <p:sp>
        <p:nvSpPr>
          <p:cNvPr id="19" name="Shape 17"/>
          <p:cNvSpPr/>
          <p:nvPr/>
        </p:nvSpPr>
        <p:spPr>
          <a:xfrm>
            <a:off x="4937760" y="2606040"/>
            <a:ext cx="228600" cy="228600"/>
          </a:xfrm>
          <a:prstGeom prst="ellipse">
            <a:avLst/>
          </a:prstGeom>
          <a:solidFill>
            <a:srgbClr val="FFFFFF">
              <a:alpha val="0"/>
            </a:srgbClr>
          </a:solidFill>
          <a:ln w="19050">
            <a:solidFill>
              <a:srgbClr val="2A78D6"/>
            </a:solidFill>
            <a:prstDash val="solid"/>
          </a:ln>
        </p:spPr>
      </p:sp>
      <p:sp>
        <p:nvSpPr>
          <p:cNvPr id="20" name="Shape 18"/>
          <p:cNvSpPr/>
          <p:nvPr/>
        </p:nvSpPr>
        <p:spPr>
          <a:xfrm>
            <a:off x="5234940" y="2606040"/>
            <a:ext cx="228600" cy="228600"/>
          </a:xfrm>
          <a:prstGeom prst="ellipse">
            <a:avLst/>
          </a:prstGeom>
          <a:solidFill>
            <a:srgbClr val="FFFFFF">
              <a:alpha val="0"/>
            </a:srgbClr>
          </a:solidFill>
          <a:ln w="19050">
            <a:solidFill>
              <a:srgbClr val="2A78D6"/>
            </a:solidFill>
            <a:prstDash val="solid"/>
          </a:ln>
        </p:spPr>
      </p:sp>
      <p:sp>
        <p:nvSpPr>
          <p:cNvPr id="21" name="Shape 19"/>
          <p:cNvSpPr/>
          <p:nvPr/>
        </p:nvSpPr>
        <p:spPr>
          <a:xfrm>
            <a:off x="5532120" y="2606040"/>
            <a:ext cx="228600" cy="228600"/>
          </a:xfrm>
          <a:prstGeom prst="ellipse">
            <a:avLst/>
          </a:prstGeom>
          <a:solidFill>
            <a:srgbClr val="FFFFFF">
              <a:alpha val="0"/>
            </a:srgbClr>
          </a:solidFill>
          <a:ln w="19050">
            <a:solidFill>
              <a:srgbClr val="2A78D6"/>
            </a:solidFill>
            <a:prstDash val="solid"/>
          </a:ln>
        </p:spPr>
      </p:sp>
      <p:sp>
        <p:nvSpPr>
          <p:cNvPr id="22" name="Shape 20"/>
          <p:cNvSpPr/>
          <p:nvPr/>
        </p:nvSpPr>
        <p:spPr>
          <a:xfrm>
            <a:off x="5829300" y="2606040"/>
            <a:ext cx="228600" cy="228600"/>
          </a:xfrm>
          <a:prstGeom prst="ellipse">
            <a:avLst/>
          </a:prstGeom>
          <a:solidFill>
            <a:srgbClr val="2A78D6"/>
          </a:solidFill>
          <a:ln w="15875">
            <a:solidFill>
              <a:srgbClr val="2A78D6"/>
            </a:solidFill>
            <a:prstDash val="solid"/>
          </a:ln>
        </p:spPr>
      </p:sp>
      <p:sp>
        <p:nvSpPr>
          <p:cNvPr id="23" name="Shape 21"/>
          <p:cNvSpPr/>
          <p:nvPr/>
        </p:nvSpPr>
        <p:spPr>
          <a:xfrm>
            <a:off x="6126480" y="2606040"/>
            <a:ext cx="228600" cy="228600"/>
          </a:xfrm>
          <a:prstGeom prst="ellipse">
            <a:avLst/>
          </a:prstGeom>
          <a:solidFill>
            <a:srgbClr val="2A78D6"/>
          </a:solidFill>
          <a:ln w="15875">
            <a:solidFill>
              <a:srgbClr val="2A78D6"/>
            </a:solidFill>
            <a:prstDash val="solid"/>
          </a:ln>
        </p:spPr>
      </p:sp>
      <p:sp>
        <p:nvSpPr>
          <p:cNvPr id="24" name="Shape 22"/>
          <p:cNvSpPr/>
          <p:nvPr/>
        </p:nvSpPr>
        <p:spPr>
          <a:xfrm>
            <a:off x="6423660" y="2606040"/>
            <a:ext cx="228600" cy="228600"/>
          </a:xfrm>
          <a:prstGeom prst="ellipse">
            <a:avLst/>
          </a:prstGeom>
          <a:solidFill>
            <a:srgbClr val="FFFFFF">
              <a:alpha val="0"/>
            </a:srgbClr>
          </a:solidFill>
          <a:ln w="19050">
            <a:solidFill>
              <a:srgbClr val="2A78D6"/>
            </a:solidFill>
            <a:prstDash val="solid"/>
          </a:ln>
        </p:spPr>
      </p:sp>
      <p:sp>
        <p:nvSpPr>
          <p:cNvPr id="25" name="Shape 23"/>
          <p:cNvSpPr/>
          <p:nvPr/>
        </p:nvSpPr>
        <p:spPr>
          <a:xfrm>
            <a:off x="6720840" y="2606040"/>
            <a:ext cx="228600" cy="228600"/>
          </a:xfrm>
          <a:prstGeom prst="ellipse">
            <a:avLst/>
          </a:prstGeom>
          <a:solidFill>
            <a:srgbClr val="2A78D6"/>
          </a:solidFill>
          <a:ln w="15875">
            <a:solidFill>
              <a:srgbClr val="2A78D6"/>
            </a:solidFill>
            <a:prstDash val="solid"/>
          </a:ln>
        </p:spPr>
      </p:sp>
      <p:sp>
        <p:nvSpPr>
          <p:cNvPr id="26" name="Shape 24"/>
          <p:cNvSpPr/>
          <p:nvPr/>
        </p:nvSpPr>
        <p:spPr>
          <a:xfrm>
            <a:off x="7018020" y="2606040"/>
            <a:ext cx="228600" cy="228600"/>
          </a:xfrm>
          <a:prstGeom prst="ellipse">
            <a:avLst/>
          </a:prstGeom>
          <a:solidFill>
            <a:srgbClr val="FFFFFF">
              <a:alpha val="0"/>
            </a:srgbClr>
          </a:solidFill>
          <a:ln w="19050">
            <a:solidFill>
              <a:srgbClr val="2A78D6"/>
            </a:solidFill>
            <a:prstDash val="solid"/>
          </a:ln>
        </p:spPr>
      </p:sp>
      <p:sp>
        <p:nvSpPr>
          <p:cNvPr id="27" name="Shape 25"/>
          <p:cNvSpPr/>
          <p:nvPr/>
        </p:nvSpPr>
        <p:spPr>
          <a:xfrm>
            <a:off x="7315200" y="2606040"/>
            <a:ext cx="228600" cy="228600"/>
          </a:xfrm>
          <a:prstGeom prst="ellipse">
            <a:avLst/>
          </a:prstGeom>
          <a:solidFill>
            <a:srgbClr val="FFFFFF">
              <a:alpha val="0"/>
            </a:srgbClr>
          </a:solidFill>
          <a:ln w="19050">
            <a:solidFill>
              <a:srgbClr val="2A78D6"/>
            </a:solidFill>
            <a:prstDash val="solid"/>
          </a:ln>
        </p:spPr>
      </p:sp>
      <p:sp>
        <p:nvSpPr>
          <p:cNvPr id="28" name="Shape 26"/>
          <p:cNvSpPr/>
          <p:nvPr/>
        </p:nvSpPr>
        <p:spPr>
          <a:xfrm>
            <a:off x="7612380" y="2606040"/>
            <a:ext cx="228600" cy="228600"/>
          </a:xfrm>
          <a:prstGeom prst="ellipse">
            <a:avLst/>
          </a:prstGeom>
          <a:solidFill>
            <a:srgbClr val="FFFFFF">
              <a:alpha val="0"/>
            </a:srgbClr>
          </a:solidFill>
          <a:ln w="19050">
            <a:solidFill>
              <a:srgbClr val="2A78D6"/>
            </a:solidFill>
            <a:prstDash val="solid"/>
          </a:ln>
        </p:spPr>
      </p:sp>
      <p:sp>
        <p:nvSpPr>
          <p:cNvPr id="29" name="Shape 27"/>
          <p:cNvSpPr/>
          <p:nvPr/>
        </p:nvSpPr>
        <p:spPr>
          <a:xfrm>
            <a:off x="7909560" y="2606040"/>
            <a:ext cx="228600" cy="228600"/>
          </a:xfrm>
          <a:prstGeom prst="ellipse">
            <a:avLst/>
          </a:prstGeom>
          <a:solidFill>
            <a:srgbClr val="2A78D6"/>
          </a:solidFill>
          <a:ln w="15875">
            <a:solidFill>
              <a:srgbClr val="2A78D6"/>
            </a:solidFill>
            <a:prstDash val="solid"/>
          </a:ln>
        </p:spPr>
      </p:sp>
      <p:sp>
        <p:nvSpPr>
          <p:cNvPr id="30" name="Shape 28"/>
          <p:cNvSpPr/>
          <p:nvPr/>
        </p:nvSpPr>
        <p:spPr>
          <a:xfrm>
            <a:off x="8206740" y="2606040"/>
            <a:ext cx="228600" cy="228600"/>
          </a:xfrm>
          <a:prstGeom prst="ellipse">
            <a:avLst/>
          </a:prstGeom>
          <a:solidFill>
            <a:srgbClr val="2A78D6"/>
          </a:solidFill>
          <a:ln w="15875">
            <a:solidFill>
              <a:srgbClr val="2A78D6"/>
            </a:solidFill>
            <a:prstDash val="solid"/>
          </a:ln>
        </p:spPr>
      </p:sp>
      <p:sp>
        <p:nvSpPr>
          <p:cNvPr id="31" name="Shape 29"/>
          <p:cNvSpPr/>
          <p:nvPr/>
        </p:nvSpPr>
        <p:spPr>
          <a:xfrm>
            <a:off x="8503920" y="2606040"/>
            <a:ext cx="228600" cy="228600"/>
          </a:xfrm>
          <a:prstGeom prst="ellipse">
            <a:avLst/>
          </a:prstGeom>
          <a:solidFill>
            <a:srgbClr val="FFFFFF">
              <a:alpha val="0"/>
            </a:srgbClr>
          </a:solidFill>
          <a:ln w="19050">
            <a:solidFill>
              <a:srgbClr val="2A78D6"/>
            </a:solidFill>
            <a:prstDash val="solid"/>
          </a:ln>
        </p:spPr>
      </p:sp>
      <p:sp>
        <p:nvSpPr>
          <p:cNvPr id="32" name="Shape 30"/>
          <p:cNvSpPr/>
          <p:nvPr/>
        </p:nvSpPr>
        <p:spPr>
          <a:xfrm>
            <a:off x="8801100" y="2606040"/>
            <a:ext cx="228600" cy="228600"/>
          </a:xfrm>
          <a:prstGeom prst="ellipse">
            <a:avLst/>
          </a:prstGeom>
          <a:solidFill>
            <a:srgbClr val="2A78D6"/>
          </a:solidFill>
          <a:ln w="15875">
            <a:solidFill>
              <a:srgbClr val="2A78D6"/>
            </a:solidFill>
            <a:prstDash val="solid"/>
          </a:ln>
        </p:spPr>
      </p:sp>
      <p:sp>
        <p:nvSpPr>
          <p:cNvPr id="33" name="Shape 31"/>
          <p:cNvSpPr/>
          <p:nvPr/>
        </p:nvSpPr>
        <p:spPr>
          <a:xfrm>
            <a:off x="9098280" y="2606040"/>
            <a:ext cx="228600" cy="228600"/>
          </a:xfrm>
          <a:prstGeom prst="ellipse">
            <a:avLst/>
          </a:prstGeom>
          <a:solidFill>
            <a:srgbClr val="2A78D6"/>
          </a:solidFill>
          <a:ln w="15875">
            <a:solidFill>
              <a:srgbClr val="2A78D6"/>
            </a:solidFill>
            <a:prstDash val="solid"/>
          </a:ln>
        </p:spPr>
      </p:sp>
      <p:sp>
        <p:nvSpPr>
          <p:cNvPr id="34" name="Shape 32"/>
          <p:cNvSpPr/>
          <p:nvPr/>
        </p:nvSpPr>
        <p:spPr>
          <a:xfrm>
            <a:off x="9395460" y="2606040"/>
            <a:ext cx="228600" cy="228600"/>
          </a:xfrm>
          <a:prstGeom prst="ellipse">
            <a:avLst/>
          </a:prstGeom>
          <a:solidFill>
            <a:srgbClr val="2A78D6"/>
          </a:solidFill>
          <a:ln w="15875">
            <a:solidFill>
              <a:srgbClr val="2A78D6"/>
            </a:solidFill>
            <a:prstDash val="solid"/>
          </a:ln>
        </p:spPr>
      </p:sp>
      <p:sp>
        <p:nvSpPr>
          <p:cNvPr id="35" name="Shape 33"/>
          <p:cNvSpPr/>
          <p:nvPr/>
        </p:nvSpPr>
        <p:spPr>
          <a:xfrm>
            <a:off x="9692640" y="2606040"/>
            <a:ext cx="228600" cy="228600"/>
          </a:xfrm>
          <a:prstGeom prst="ellipse">
            <a:avLst/>
          </a:prstGeom>
          <a:solidFill>
            <a:srgbClr val="2A78D6"/>
          </a:solidFill>
          <a:ln w="15875">
            <a:solidFill>
              <a:srgbClr val="2A78D6"/>
            </a:solidFill>
            <a:prstDash val="solid"/>
          </a:ln>
        </p:spPr>
      </p:sp>
      <p:sp>
        <p:nvSpPr>
          <p:cNvPr id="36" name="Shape 34"/>
          <p:cNvSpPr/>
          <p:nvPr/>
        </p:nvSpPr>
        <p:spPr>
          <a:xfrm>
            <a:off x="9989820" y="2606040"/>
            <a:ext cx="228600" cy="228600"/>
          </a:xfrm>
          <a:prstGeom prst="ellipse">
            <a:avLst/>
          </a:prstGeom>
          <a:solidFill>
            <a:srgbClr val="2A78D6"/>
          </a:solidFill>
          <a:ln w="15875">
            <a:solidFill>
              <a:srgbClr val="2A78D6"/>
            </a:solidFill>
            <a:prstDash val="solid"/>
          </a:ln>
        </p:spPr>
      </p:sp>
      <p:sp>
        <p:nvSpPr>
          <p:cNvPr id="37" name="Text 35"/>
          <p:cNvSpPr txBox="1"/>
          <p:nvPr/>
        </p:nvSpPr>
        <p:spPr>
          <a:xfrm>
            <a:off x="10424160" y="2560320"/>
            <a:ext cx="1463040" cy="320040"/>
          </a:xfrm>
          <a:prstGeom prst="rect">
            <a:avLst/>
          </a:prstGeom>
          <a:noFill/>
          <a:ln/>
        </p:spPr>
        <p:txBody>
          <a:bodyPr wrap="square" lIns="0" tIns="0" rIns="0" bIns="0" rtlCol="0" anchor="ctr"/>
          <a:lstStyle/>
          <a:p>
            <a:pPr marL="0" indent="0">
              <a:buNone/>
            </a:pPr>
            <a:r>
              <a:rPr lang="en-US" sz="1800" b="1" dirty="0">
                <a:solidFill>
                  <a:srgbClr val="141A23"/>
                </a:solidFill>
                <a:latin typeface="Calibri" pitchFamily="34" charset="0"/>
                <a:ea typeface="Calibri" pitchFamily="34" charset="-122"/>
                <a:cs typeface="Calibri" pitchFamily="34" charset="-120"/>
              </a:rPr>
              <a:t>15 из 30</a:t>
            </a:r>
            <a:endParaRPr lang="en-US" sz="1800" dirty="0"/>
          </a:p>
        </p:txBody>
      </p:sp>
      <p:sp>
        <p:nvSpPr>
          <p:cNvPr id="38" name="Text 36"/>
          <p:cNvSpPr txBox="1"/>
          <p:nvPr/>
        </p:nvSpPr>
        <p:spPr>
          <a:xfrm>
            <a:off x="548640" y="3035808"/>
            <a:ext cx="731520" cy="320040"/>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M2</a:t>
            </a:r>
            <a:endParaRPr lang="en-US" sz="1800" dirty="0"/>
          </a:p>
        </p:txBody>
      </p:sp>
      <p:sp>
        <p:nvSpPr>
          <p:cNvPr id="39" name="Shape 37"/>
          <p:cNvSpPr/>
          <p:nvPr/>
        </p:nvSpPr>
        <p:spPr>
          <a:xfrm>
            <a:off x="1371600" y="3081528"/>
            <a:ext cx="228600" cy="228600"/>
          </a:xfrm>
          <a:prstGeom prst="ellipse">
            <a:avLst/>
          </a:prstGeom>
          <a:solidFill>
            <a:srgbClr val="FFFFFF">
              <a:alpha val="0"/>
            </a:srgbClr>
          </a:solidFill>
          <a:ln w="19050">
            <a:solidFill>
              <a:srgbClr val="2A78D6"/>
            </a:solidFill>
            <a:prstDash val="solid"/>
          </a:ln>
        </p:spPr>
      </p:sp>
      <p:sp>
        <p:nvSpPr>
          <p:cNvPr id="40" name="Shape 38"/>
          <p:cNvSpPr/>
          <p:nvPr/>
        </p:nvSpPr>
        <p:spPr>
          <a:xfrm>
            <a:off x="1668780" y="3081528"/>
            <a:ext cx="228600" cy="228600"/>
          </a:xfrm>
          <a:prstGeom prst="ellipse">
            <a:avLst/>
          </a:prstGeom>
          <a:solidFill>
            <a:srgbClr val="2A78D6"/>
          </a:solidFill>
          <a:ln w="15875">
            <a:solidFill>
              <a:srgbClr val="2A78D6"/>
            </a:solidFill>
            <a:prstDash val="solid"/>
          </a:ln>
        </p:spPr>
      </p:sp>
      <p:sp>
        <p:nvSpPr>
          <p:cNvPr id="41" name="Shape 39"/>
          <p:cNvSpPr/>
          <p:nvPr/>
        </p:nvSpPr>
        <p:spPr>
          <a:xfrm>
            <a:off x="1965960" y="3081528"/>
            <a:ext cx="228600" cy="228600"/>
          </a:xfrm>
          <a:prstGeom prst="ellipse">
            <a:avLst/>
          </a:prstGeom>
          <a:solidFill>
            <a:srgbClr val="FFFFFF">
              <a:alpha val="0"/>
            </a:srgbClr>
          </a:solidFill>
          <a:ln w="19050">
            <a:solidFill>
              <a:srgbClr val="2A78D6"/>
            </a:solidFill>
            <a:prstDash val="solid"/>
          </a:ln>
        </p:spPr>
      </p:sp>
      <p:sp>
        <p:nvSpPr>
          <p:cNvPr id="42" name="Shape 40"/>
          <p:cNvSpPr/>
          <p:nvPr/>
        </p:nvSpPr>
        <p:spPr>
          <a:xfrm>
            <a:off x="2263140" y="3081528"/>
            <a:ext cx="228600" cy="228600"/>
          </a:xfrm>
          <a:prstGeom prst="ellipse">
            <a:avLst/>
          </a:prstGeom>
          <a:solidFill>
            <a:srgbClr val="2A78D6"/>
          </a:solidFill>
          <a:ln w="15875">
            <a:solidFill>
              <a:srgbClr val="2A78D6"/>
            </a:solidFill>
            <a:prstDash val="solid"/>
          </a:ln>
        </p:spPr>
      </p:sp>
      <p:sp>
        <p:nvSpPr>
          <p:cNvPr id="43" name="Shape 41"/>
          <p:cNvSpPr/>
          <p:nvPr/>
        </p:nvSpPr>
        <p:spPr>
          <a:xfrm>
            <a:off x="2560320" y="3081528"/>
            <a:ext cx="228600" cy="228600"/>
          </a:xfrm>
          <a:prstGeom prst="ellipse">
            <a:avLst/>
          </a:prstGeom>
          <a:solidFill>
            <a:srgbClr val="2A78D6"/>
          </a:solidFill>
          <a:ln w="15875">
            <a:solidFill>
              <a:srgbClr val="2A78D6"/>
            </a:solidFill>
            <a:prstDash val="solid"/>
          </a:ln>
        </p:spPr>
      </p:sp>
      <p:sp>
        <p:nvSpPr>
          <p:cNvPr id="44" name="Shape 42"/>
          <p:cNvSpPr/>
          <p:nvPr/>
        </p:nvSpPr>
        <p:spPr>
          <a:xfrm>
            <a:off x="2857500" y="3081528"/>
            <a:ext cx="228600" cy="228600"/>
          </a:xfrm>
          <a:prstGeom prst="ellipse">
            <a:avLst/>
          </a:prstGeom>
          <a:solidFill>
            <a:srgbClr val="2A78D6"/>
          </a:solidFill>
          <a:ln w="15875">
            <a:solidFill>
              <a:srgbClr val="2A78D6"/>
            </a:solidFill>
            <a:prstDash val="solid"/>
          </a:ln>
        </p:spPr>
      </p:sp>
      <p:sp>
        <p:nvSpPr>
          <p:cNvPr id="45" name="Shape 43"/>
          <p:cNvSpPr/>
          <p:nvPr/>
        </p:nvSpPr>
        <p:spPr>
          <a:xfrm>
            <a:off x="3154680" y="3081528"/>
            <a:ext cx="228600" cy="228600"/>
          </a:xfrm>
          <a:prstGeom prst="ellipse">
            <a:avLst/>
          </a:prstGeom>
          <a:solidFill>
            <a:srgbClr val="FFFFFF">
              <a:alpha val="0"/>
            </a:srgbClr>
          </a:solidFill>
          <a:ln w="19050">
            <a:solidFill>
              <a:srgbClr val="2A78D6"/>
            </a:solidFill>
            <a:prstDash val="solid"/>
          </a:ln>
        </p:spPr>
      </p:sp>
      <p:sp>
        <p:nvSpPr>
          <p:cNvPr id="46" name="Shape 44"/>
          <p:cNvSpPr/>
          <p:nvPr/>
        </p:nvSpPr>
        <p:spPr>
          <a:xfrm>
            <a:off x="3451860" y="3081528"/>
            <a:ext cx="228600" cy="228600"/>
          </a:xfrm>
          <a:prstGeom prst="ellipse">
            <a:avLst/>
          </a:prstGeom>
          <a:solidFill>
            <a:srgbClr val="FFFFFF">
              <a:alpha val="0"/>
            </a:srgbClr>
          </a:solidFill>
          <a:ln w="19050">
            <a:solidFill>
              <a:srgbClr val="2A78D6"/>
            </a:solidFill>
            <a:prstDash val="solid"/>
          </a:ln>
        </p:spPr>
      </p:sp>
      <p:sp>
        <p:nvSpPr>
          <p:cNvPr id="47" name="Shape 45"/>
          <p:cNvSpPr/>
          <p:nvPr/>
        </p:nvSpPr>
        <p:spPr>
          <a:xfrm>
            <a:off x="3749040" y="3081528"/>
            <a:ext cx="228600" cy="228600"/>
          </a:xfrm>
          <a:prstGeom prst="ellipse">
            <a:avLst/>
          </a:prstGeom>
          <a:solidFill>
            <a:srgbClr val="FFFFFF">
              <a:alpha val="0"/>
            </a:srgbClr>
          </a:solidFill>
          <a:ln w="19050">
            <a:solidFill>
              <a:srgbClr val="2A78D6"/>
            </a:solidFill>
            <a:prstDash val="solid"/>
          </a:ln>
        </p:spPr>
      </p:sp>
      <p:sp>
        <p:nvSpPr>
          <p:cNvPr id="48" name="Shape 46"/>
          <p:cNvSpPr/>
          <p:nvPr/>
        </p:nvSpPr>
        <p:spPr>
          <a:xfrm>
            <a:off x="4046220" y="3081528"/>
            <a:ext cx="228600" cy="228600"/>
          </a:xfrm>
          <a:prstGeom prst="ellipse">
            <a:avLst/>
          </a:prstGeom>
          <a:solidFill>
            <a:srgbClr val="2A78D6"/>
          </a:solidFill>
          <a:ln w="15875">
            <a:solidFill>
              <a:srgbClr val="2A78D6"/>
            </a:solidFill>
            <a:prstDash val="solid"/>
          </a:ln>
        </p:spPr>
      </p:sp>
      <p:sp>
        <p:nvSpPr>
          <p:cNvPr id="49" name="Shape 47"/>
          <p:cNvSpPr/>
          <p:nvPr/>
        </p:nvSpPr>
        <p:spPr>
          <a:xfrm>
            <a:off x="4343400" y="3081528"/>
            <a:ext cx="228600" cy="228600"/>
          </a:xfrm>
          <a:prstGeom prst="ellipse">
            <a:avLst/>
          </a:prstGeom>
          <a:solidFill>
            <a:srgbClr val="FFFFFF">
              <a:alpha val="0"/>
            </a:srgbClr>
          </a:solidFill>
          <a:ln w="19050">
            <a:solidFill>
              <a:srgbClr val="2A78D6"/>
            </a:solidFill>
            <a:prstDash val="solid"/>
          </a:ln>
        </p:spPr>
      </p:sp>
      <p:sp>
        <p:nvSpPr>
          <p:cNvPr id="50" name="Shape 48"/>
          <p:cNvSpPr/>
          <p:nvPr/>
        </p:nvSpPr>
        <p:spPr>
          <a:xfrm>
            <a:off x="4640580" y="3081528"/>
            <a:ext cx="228600" cy="228600"/>
          </a:xfrm>
          <a:prstGeom prst="ellipse">
            <a:avLst/>
          </a:prstGeom>
          <a:solidFill>
            <a:srgbClr val="2A78D6"/>
          </a:solidFill>
          <a:ln w="15875">
            <a:solidFill>
              <a:srgbClr val="2A78D6"/>
            </a:solidFill>
            <a:prstDash val="solid"/>
          </a:ln>
        </p:spPr>
      </p:sp>
      <p:sp>
        <p:nvSpPr>
          <p:cNvPr id="51" name="Shape 49"/>
          <p:cNvSpPr/>
          <p:nvPr/>
        </p:nvSpPr>
        <p:spPr>
          <a:xfrm>
            <a:off x="4937760" y="3081528"/>
            <a:ext cx="228600" cy="228600"/>
          </a:xfrm>
          <a:prstGeom prst="ellipse">
            <a:avLst/>
          </a:prstGeom>
          <a:solidFill>
            <a:srgbClr val="FFFFFF">
              <a:alpha val="0"/>
            </a:srgbClr>
          </a:solidFill>
          <a:ln w="19050">
            <a:solidFill>
              <a:srgbClr val="2A78D6"/>
            </a:solidFill>
            <a:prstDash val="solid"/>
          </a:ln>
        </p:spPr>
      </p:sp>
      <p:sp>
        <p:nvSpPr>
          <p:cNvPr id="52" name="Shape 50"/>
          <p:cNvSpPr/>
          <p:nvPr/>
        </p:nvSpPr>
        <p:spPr>
          <a:xfrm>
            <a:off x="5234940" y="3081528"/>
            <a:ext cx="228600" cy="228600"/>
          </a:xfrm>
          <a:prstGeom prst="ellipse">
            <a:avLst/>
          </a:prstGeom>
          <a:solidFill>
            <a:srgbClr val="2A78D6"/>
          </a:solidFill>
          <a:ln w="15875">
            <a:solidFill>
              <a:srgbClr val="2A78D6"/>
            </a:solidFill>
            <a:prstDash val="solid"/>
          </a:ln>
        </p:spPr>
      </p:sp>
      <p:sp>
        <p:nvSpPr>
          <p:cNvPr id="53" name="Shape 51"/>
          <p:cNvSpPr/>
          <p:nvPr/>
        </p:nvSpPr>
        <p:spPr>
          <a:xfrm>
            <a:off x="5532120" y="3081528"/>
            <a:ext cx="228600" cy="228600"/>
          </a:xfrm>
          <a:prstGeom prst="ellipse">
            <a:avLst/>
          </a:prstGeom>
          <a:solidFill>
            <a:srgbClr val="FFFFFF">
              <a:alpha val="0"/>
            </a:srgbClr>
          </a:solidFill>
          <a:ln w="19050">
            <a:solidFill>
              <a:srgbClr val="2A78D6"/>
            </a:solidFill>
            <a:prstDash val="solid"/>
          </a:ln>
        </p:spPr>
      </p:sp>
      <p:sp>
        <p:nvSpPr>
          <p:cNvPr id="54" name="Shape 52"/>
          <p:cNvSpPr/>
          <p:nvPr/>
        </p:nvSpPr>
        <p:spPr>
          <a:xfrm>
            <a:off x="5829300" y="3081528"/>
            <a:ext cx="228600" cy="228600"/>
          </a:xfrm>
          <a:prstGeom prst="ellipse">
            <a:avLst/>
          </a:prstGeom>
          <a:solidFill>
            <a:srgbClr val="2A78D6"/>
          </a:solidFill>
          <a:ln w="15875">
            <a:solidFill>
              <a:srgbClr val="2A78D6"/>
            </a:solidFill>
            <a:prstDash val="solid"/>
          </a:ln>
        </p:spPr>
      </p:sp>
      <p:sp>
        <p:nvSpPr>
          <p:cNvPr id="55" name="Shape 53"/>
          <p:cNvSpPr/>
          <p:nvPr/>
        </p:nvSpPr>
        <p:spPr>
          <a:xfrm>
            <a:off x="6126480" y="3081528"/>
            <a:ext cx="228600" cy="228600"/>
          </a:xfrm>
          <a:prstGeom prst="ellipse">
            <a:avLst/>
          </a:prstGeom>
          <a:solidFill>
            <a:srgbClr val="2A78D6"/>
          </a:solidFill>
          <a:ln w="15875">
            <a:solidFill>
              <a:srgbClr val="2A78D6"/>
            </a:solidFill>
            <a:prstDash val="solid"/>
          </a:ln>
        </p:spPr>
      </p:sp>
      <p:sp>
        <p:nvSpPr>
          <p:cNvPr id="56" name="Shape 54"/>
          <p:cNvSpPr/>
          <p:nvPr/>
        </p:nvSpPr>
        <p:spPr>
          <a:xfrm>
            <a:off x="6423660" y="3081528"/>
            <a:ext cx="228600" cy="228600"/>
          </a:xfrm>
          <a:prstGeom prst="ellipse">
            <a:avLst/>
          </a:prstGeom>
          <a:solidFill>
            <a:srgbClr val="FFFFFF">
              <a:alpha val="0"/>
            </a:srgbClr>
          </a:solidFill>
          <a:ln w="19050">
            <a:solidFill>
              <a:srgbClr val="2A78D6"/>
            </a:solidFill>
            <a:prstDash val="solid"/>
          </a:ln>
        </p:spPr>
      </p:sp>
      <p:sp>
        <p:nvSpPr>
          <p:cNvPr id="57" name="Shape 55"/>
          <p:cNvSpPr/>
          <p:nvPr/>
        </p:nvSpPr>
        <p:spPr>
          <a:xfrm>
            <a:off x="6720840" y="3081528"/>
            <a:ext cx="228600" cy="228600"/>
          </a:xfrm>
          <a:prstGeom prst="ellipse">
            <a:avLst/>
          </a:prstGeom>
          <a:solidFill>
            <a:srgbClr val="2A78D6"/>
          </a:solidFill>
          <a:ln w="15875">
            <a:solidFill>
              <a:srgbClr val="2A78D6"/>
            </a:solidFill>
            <a:prstDash val="solid"/>
          </a:ln>
        </p:spPr>
      </p:sp>
      <p:sp>
        <p:nvSpPr>
          <p:cNvPr id="58" name="Shape 56"/>
          <p:cNvSpPr/>
          <p:nvPr/>
        </p:nvSpPr>
        <p:spPr>
          <a:xfrm>
            <a:off x="7018020" y="3081528"/>
            <a:ext cx="228600" cy="228600"/>
          </a:xfrm>
          <a:prstGeom prst="ellipse">
            <a:avLst/>
          </a:prstGeom>
          <a:solidFill>
            <a:srgbClr val="FFFFFF">
              <a:alpha val="0"/>
            </a:srgbClr>
          </a:solidFill>
          <a:ln w="19050">
            <a:solidFill>
              <a:srgbClr val="2A78D6"/>
            </a:solidFill>
            <a:prstDash val="solid"/>
          </a:ln>
        </p:spPr>
      </p:sp>
      <p:sp>
        <p:nvSpPr>
          <p:cNvPr id="59" name="Shape 57"/>
          <p:cNvSpPr/>
          <p:nvPr/>
        </p:nvSpPr>
        <p:spPr>
          <a:xfrm>
            <a:off x="7315200" y="3081528"/>
            <a:ext cx="228600" cy="228600"/>
          </a:xfrm>
          <a:prstGeom prst="ellipse">
            <a:avLst/>
          </a:prstGeom>
          <a:solidFill>
            <a:srgbClr val="2A78D6"/>
          </a:solidFill>
          <a:ln w="15875">
            <a:solidFill>
              <a:srgbClr val="2A78D6"/>
            </a:solidFill>
            <a:prstDash val="solid"/>
          </a:ln>
        </p:spPr>
      </p:sp>
      <p:sp>
        <p:nvSpPr>
          <p:cNvPr id="60" name="Shape 58"/>
          <p:cNvSpPr/>
          <p:nvPr/>
        </p:nvSpPr>
        <p:spPr>
          <a:xfrm>
            <a:off x="7612380" y="3081528"/>
            <a:ext cx="228600" cy="228600"/>
          </a:xfrm>
          <a:prstGeom prst="ellipse">
            <a:avLst/>
          </a:prstGeom>
          <a:solidFill>
            <a:srgbClr val="2A78D6"/>
          </a:solidFill>
          <a:ln w="15875">
            <a:solidFill>
              <a:srgbClr val="2A78D6"/>
            </a:solidFill>
            <a:prstDash val="solid"/>
          </a:ln>
        </p:spPr>
      </p:sp>
      <p:sp>
        <p:nvSpPr>
          <p:cNvPr id="61" name="Shape 59"/>
          <p:cNvSpPr/>
          <p:nvPr/>
        </p:nvSpPr>
        <p:spPr>
          <a:xfrm>
            <a:off x="7909560" y="3081528"/>
            <a:ext cx="228600" cy="228600"/>
          </a:xfrm>
          <a:prstGeom prst="ellipse">
            <a:avLst/>
          </a:prstGeom>
          <a:solidFill>
            <a:srgbClr val="2A78D6"/>
          </a:solidFill>
          <a:ln w="15875">
            <a:solidFill>
              <a:srgbClr val="2A78D6"/>
            </a:solidFill>
            <a:prstDash val="solid"/>
          </a:ln>
        </p:spPr>
      </p:sp>
      <p:sp>
        <p:nvSpPr>
          <p:cNvPr id="62" name="Shape 60"/>
          <p:cNvSpPr/>
          <p:nvPr/>
        </p:nvSpPr>
        <p:spPr>
          <a:xfrm>
            <a:off x="8206740" y="3081528"/>
            <a:ext cx="228600" cy="228600"/>
          </a:xfrm>
          <a:prstGeom prst="ellipse">
            <a:avLst/>
          </a:prstGeom>
          <a:solidFill>
            <a:srgbClr val="2A78D6"/>
          </a:solidFill>
          <a:ln w="15875">
            <a:solidFill>
              <a:srgbClr val="2A78D6"/>
            </a:solidFill>
            <a:prstDash val="solid"/>
          </a:ln>
        </p:spPr>
      </p:sp>
      <p:sp>
        <p:nvSpPr>
          <p:cNvPr id="63" name="Shape 61"/>
          <p:cNvSpPr/>
          <p:nvPr/>
        </p:nvSpPr>
        <p:spPr>
          <a:xfrm>
            <a:off x="8503920" y="3081528"/>
            <a:ext cx="228600" cy="228600"/>
          </a:xfrm>
          <a:prstGeom prst="ellipse">
            <a:avLst/>
          </a:prstGeom>
          <a:solidFill>
            <a:srgbClr val="FFFFFF">
              <a:alpha val="0"/>
            </a:srgbClr>
          </a:solidFill>
          <a:ln w="19050">
            <a:solidFill>
              <a:srgbClr val="2A78D6"/>
            </a:solidFill>
            <a:prstDash val="solid"/>
          </a:ln>
        </p:spPr>
      </p:sp>
      <p:sp>
        <p:nvSpPr>
          <p:cNvPr id="64" name="Shape 62"/>
          <p:cNvSpPr/>
          <p:nvPr/>
        </p:nvSpPr>
        <p:spPr>
          <a:xfrm>
            <a:off x="8801100" y="3081528"/>
            <a:ext cx="228600" cy="228600"/>
          </a:xfrm>
          <a:prstGeom prst="ellipse">
            <a:avLst/>
          </a:prstGeom>
          <a:solidFill>
            <a:srgbClr val="FFFFFF">
              <a:alpha val="0"/>
            </a:srgbClr>
          </a:solidFill>
          <a:ln w="19050">
            <a:solidFill>
              <a:srgbClr val="2A78D6"/>
            </a:solidFill>
            <a:prstDash val="solid"/>
          </a:ln>
        </p:spPr>
      </p:sp>
      <p:sp>
        <p:nvSpPr>
          <p:cNvPr id="65" name="Shape 63"/>
          <p:cNvSpPr/>
          <p:nvPr/>
        </p:nvSpPr>
        <p:spPr>
          <a:xfrm>
            <a:off x="9098280" y="3081528"/>
            <a:ext cx="228600" cy="228600"/>
          </a:xfrm>
          <a:prstGeom prst="ellipse">
            <a:avLst/>
          </a:prstGeom>
          <a:solidFill>
            <a:srgbClr val="2A78D6"/>
          </a:solidFill>
          <a:ln w="15875">
            <a:solidFill>
              <a:srgbClr val="2A78D6"/>
            </a:solidFill>
            <a:prstDash val="solid"/>
          </a:ln>
        </p:spPr>
      </p:sp>
      <p:sp>
        <p:nvSpPr>
          <p:cNvPr id="66" name="Shape 64"/>
          <p:cNvSpPr/>
          <p:nvPr/>
        </p:nvSpPr>
        <p:spPr>
          <a:xfrm>
            <a:off x="9395460" y="3081528"/>
            <a:ext cx="228600" cy="228600"/>
          </a:xfrm>
          <a:prstGeom prst="ellipse">
            <a:avLst/>
          </a:prstGeom>
          <a:solidFill>
            <a:srgbClr val="2A78D6"/>
          </a:solidFill>
          <a:ln w="15875">
            <a:solidFill>
              <a:srgbClr val="2A78D6"/>
            </a:solidFill>
            <a:prstDash val="solid"/>
          </a:ln>
        </p:spPr>
      </p:sp>
      <p:sp>
        <p:nvSpPr>
          <p:cNvPr id="67" name="Shape 65"/>
          <p:cNvSpPr/>
          <p:nvPr/>
        </p:nvSpPr>
        <p:spPr>
          <a:xfrm>
            <a:off x="9692640" y="3081528"/>
            <a:ext cx="228600" cy="228600"/>
          </a:xfrm>
          <a:prstGeom prst="ellipse">
            <a:avLst/>
          </a:prstGeom>
          <a:solidFill>
            <a:srgbClr val="2A78D6"/>
          </a:solidFill>
          <a:ln w="15875">
            <a:solidFill>
              <a:srgbClr val="2A78D6"/>
            </a:solidFill>
            <a:prstDash val="solid"/>
          </a:ln>
        </p:spPr>
      </p:sp>
      <p:sp>
        <p:nvSpPr>
          <p:cNvPr id="68" name="Shape 66"/>
          <p:cNvSpPr/>
          <p:nvPr/>
        </p:nvSpPr>
        <p:spPr>
          <a:xfrm>
            <a:off x="9989820" y="3081528"/>
            <a:ext cx="228600" cy="228600"/>
          </a:xfrm>
          <a:prstGeom prst="ellipse">
            <a:avLst/>
          </a:prstGeom>
          <a:solidFill>
            <a:srgbClr val="2A78D6"/>
          </a:solidFill>
          <a:ln w="15875">
            <a:solidFill>
              <a:srgbClr val="2A78D6"/>
            </a:solidFill>
            <a:prstDash val="solid"/>
          </a:ln>
        </p:spPr>
      </p:sp>
      <p:sp>
        <p:nvSpPr>
          <p:cNvPr id="69" name="Text 67"/>
          <p:cNvSpPr txBox="1"/>
          <p:nvPr/>
        </p:nvSpPr>
        <p:spPr>
          <a:xfrm>
            <a:off x="10424160" y="3035808"/>
            <a:ext cx="1463040" cy="320040"/>
          </a:xfrm>
          <a:prstGeom prst="rect">
            <a:avLst/>
          </a:prstGeom>
          <a:noFill/>
          <a:ln/>
        </p:spPr>
        <p:txBody>
          <a:bodyPr wrap="square" lIns="0" tIns="0" rIns="0" bIns="0" rtlCol="0" anchor="ctr"/>
          <a:lstStyle/>
          <a:p>
            <a:pPr marL="0" indent="0">
              <a:buNone/>
            </a:pPr>
            <a:r>
              <a:rPr lang="en-US" sz="1800" b="1" dirty="0">
                <a:solidFill>
                  <a:srgbClr val="141A23"/>
                </a:solidFill>
                <a:latin typeface="Calibri" pitchFamily="34" charset="0"/>
                <a:ea typeface="Calibri" pitchFamily="34" charset="-122"/>
                <a:cs typeface="Calibri" pitchFamily="34" charset="-120"/>
              </a:rPr>
              <a:t>18 из 30</a:t>
            </a:r>
            <a:endParaRPr lang="en-US" sz="1800" dirty="0"/>
          </a:p>
        </p:txBody>
      </p:sp>
      <p:sp>
        <p:nvSpPr>
          <p:cNvPr id="70" name="Text 68"/>
          <p:cNvSpPr txBox="1"/>
          <p:nvPr/>
        </p:nvSpPr>
        <p:spPr>
          <a:xfrm>
            <a:off x="548640" y="3511296"/>
            <a:ext cx="731520" cy="320040"/>
          </a:xfrm>
          <a:prstGeom prst="rect">
            <a:avLst/>
          </a:prstGeom>
          <a:noFill/>
          <a:ln/>
        </p:spPr>
        <p:txBody>
          <a:bodyPr wrap="square" lIns="0" tIns="0" rIns="0" bIns="0" rtlCol="0" anchor="ctr"/>
          <a:lstStyle/>
          <a:p>
            <a:pPr marL="0" indent="0">
              <a:buNone/>
            </a:pPr>
            <a:r>
              <a:rPr lang="en-US" sz="1800" b="1" dirty="0">
                <a:solidFill>
                  <a:srgbClr val="52514E"/>
                </a:solidFill>
                <a:latin typeface="Calibri" pitchFamily="34" charset="0"/>
                <a:ea typeface="Calibri" pitchFamily="34" charset="-122"/>
                <a:cs typeface="Calibri" pitchFamily="34" charset="-120"/>
              </a:rPr>
              <a:t>M4</a:t>
            </a:r>
            <a:endParaRPr lang="en-US" sz="1800" dirty="0"/>
          </a:p>
        </p:txBody>
      </p:sp>
      <p:sp>
        <p:nvSpPr>
          <p:cNvPr id="71" name="Shape 69"/>
          <p:cNvSpPr/>
          <p:nvPr/>
        </p:nvSpPr>
        <p:spPr>
          <a:xfrm>
            <a:off x="1371600" y="3557016"/>
            <a:ext cx="228600" cy="228600"/>
          </a:xfrm>
          <a:prstGeom prst="ellipse">
            <a:avLst/>
          </a:prstGeom>
          <a:solidFill>
            <a:srgbClr val="FFFFFF">
              <a:alpha val="0"/>
            </a:srgbClr>
          </a:solidFill>
          <a:ln w="19050">
            <a:solidFill>
              <a:srgbClr val="2A78D6"/>
            </a:solidFill>
            <a:prstDash val="solid"/>
          </a:ln>
        </p:spPr>
      </p:sp>
      <p:sp>
        <p:nvSpPr>
          <p:cNvPr id="72" name="Shape 70"/>
          <p:cNvSpPr/>
          <p:nvPr/>
        </p:nvSpPr>
        <p:spPr>
          <a:xfrm>
            <a:off x="1668780" y="3557016"/>
            <a:ext cx="228600" cy="228600"/>
          </a:xfrm>
          <a:prstGeom prst="ellipse">
            <a:avLst/>
          </a:prstGeom>
          <a:solidFill>
            <a:srgbClr val="2A78D6"/>
          </a:solidFill>
          <a:ln w="15875">
            <a:solidFill>
              <a:srgbClr val="2A78D6"/>
            </a:solidFill>
            <a:prstDash val="solid"/>
          </a:ln>
        </p:spPr>
      </p:sp>
      <p:sp>
        <p:nvSpPr>
          <p:cNvPr id="73" name="Shape 71"/>
          <p:cNvSpPr/>
          <p:nvPr/>
        </p:nvSpPr>
        <p:spPr>
          <a:xfrm>
            <a:off x="1965960" y="3557016"/>
            <a:ext cx="228600" cy="228600"/>
          </a:xfrm>
          <a:prstGeom prst="ellipse">
            <a:avLst/>
          </a:prstGeom>
          <a:solidFill>
            <a:srgbClr val="FFFFFF">
              <a:alpha val="0"/>
            </a:srgbClr>
          </a:solidFill>
          <a:ln w="19050">
            <a:solidFill>
              <a:srgbClr val="2A78D6"/>
            </a:solidFill>
            <a:prstDash val="solid"/>
          </a:ln>
        </p:spPr>
      </p:sp>
      <p:sp>
        <p:nvSpPr>
          <p:cNvPr id="74" name="Shape 72"/>
          <p:cNvSpPr/>
          <p:nvPr/>
        </p:nvSpPr>
        <p:spPr>
          <a:xfrm>
            <a:off x="2263140" y="3557016"/>
            <a:ext cx="228600" cy="228600"/>
          </a:xfrm>
          <a:prstGeom prst="ellipse">
            <a:avLst/>
          </a:prstGeom>
          <a:solidFill>
            <a:srgbClr val="2A78D6"/>
          </a:solidFill>
          <a:ln w="15875">
            <a:solidFill>
              <a:srgbClr val="2A78D6"/>
            </a:solidFill>
            <a:prstDash val="solid"/>
          </a:ln>
        </p:spPr>
      </p:sp>
      <p:sp>
        <p:nvSpPr>
          <p:cNvPr id="75" name="Shape 73"/>
          <p:cNvSpPr/>
          <p:nvPr/>
        </p:nvSpPr>
        <p:spPr>
          <a:xfrm>
            <a:off x="2560320" y="3557016"/>
            <a:ext cx="228600" cy="228600"/>
          </a:xfrm>
          <a:prstGeom prst="ellipse">
            <a:avLst/>
          </a:prstGeom>
          <a:solidFill>
            <a:srgbClr val="2A78D6"/>
          </a:solidFill>
          <a:ln w="15875">
            <a:solidFill>
              <a:srgbClr val="2A78D6"/>
            </a:solidFill>
            <a:prstDash val="solid"/>
          </a:ln>
        </p:spPr>
      </p:sp>
      <p:sp>
        <p:nvSpPr>
          <p:cNvPr id="76" name="Shape 74"/>
          <p:cNvSpPr/>
          <p:nvPr/>
        </p:nvSpPr>
        <p:spPr>
          <a:xfrm>
            <a:off x="2857500" y="3557016"/>
            <a:ext cx="228600" cy="228600"/>
          </a:xfrm>
          <a:prstGeom prst="ellipse">
            <a:avLst/>
          </a:prstGeom>
          <a:solidFill>
            <a:srgbClr val="FFFFFF">
              <a:alpha val="0"/>
            </a:srgbClr>
          </a:solidFill>
          <a:ln w="19050">
            <a:solidFill>
              <a:srgbClr val="2A78D6"/>
            </a:solidFill>
            <a:prstDash val="solid"/>
          </a:ln>
        </p:spPr>
      </p:sp>
      <p:sp>
        <p:nvSpPr>
          <p:cNvPr id="77" name="Shape 75"/>
          <p:cNvSpPr/>
          <p:nvPr/>
        </p:nvSpPr>
        <p:spPr>
          <a:xfrm>
            <a:off x="3154680" y="3557016"/>
            <a:ext cx="228600" cy="228600"/>
          </a:xfrm>
          <a:prstGeom prst="ellipse">
            <a:avLst/>
          </a:prstGeom>
          <a:solidFill>
            <a:srgbClr val="2A78D6"/>
          </a:solidFill>
          <a:ln w="15875">
            <a:solidFill>
              <a:srgbClr val="2A78D6"/>
            </a:solidFill>
            <a:prstDash val="solid"/>
          </a:ln>
        </p:spPr>
      </p:sp>
      <p:sp>
        <p:nvSpPr>
          <p:cNvPr id="78" name="Shape 76"/>
          <p:cNvSpPr/>
          <p:nvPr/>
        </p:nvSpPr>
        <p:spPr>
          <a:xfrm>
            <a:off x="3451860" y="3557016"/>
            <a:ext cx="228600" cy="228600"/>
          </a:xfrm>
          <a:prstGeom prst="ellipse">
            <a:avLst/>
          </a:prstGeom>
          <a:solidFill>
            <a:srgbClr val="2A78D6"/>
          </a:solidFill>
          <a:ln w="15875">
            <a:solidFill>
              <a:srgbClr val="2A78D6"/>
            </a:solidFill>
            <a:prstDash val="solid"/>
          </a:ln>
        </p:spPr>
      </p:sp>
      <p:sp>
        <p:nvSpPr>
          <p:cNvPr id="79" name="Shape 77"/>
          <p:cNvSpPr/>
          <p:nvPr/>
        </p:nvSpPr>
        <p:spPr>
          <a:xfrm>
            <a:off x="3749040" y="3557016"/>
            <a:ext cx="228600" cy="228600"/>
          </a:xfrm>
          <a:prstGeom prst="ellipse">
            <a:avLst/>
          </a:prstGeom>
          <a:solidFill>
            <a:srgbClr val="FFFFFF">
              <a:alpha val="0"/>
            </a:srgbClr>
          </a:solidFill>
          <a:ln w="19050">
            <a:solidFill>
              <a:srgbClr val="2A78D6"/>
            </a:solidFill>
            <a:prstDash val="solid"/>
          </a:ln>
        </p:spPr>
      </p:sp>
      <p:sp>
        <p:nvSpPr>
          <p:cNvPr id="80" name="Shape 78"/>
          <p:cNvSpPr/>
          <p:nvPr/>
        </p:nvSpPr>
        <p:spPr>
          <a:xfrm>
            <a:off x="4046220" y="3557016"/>
            <a:ext cx="228600" cy="228600"/>
          </a:xfrm>
          <a:prstGeom prst="ellipse">
            <a:avLst/>
          </a:prstGeom>
          <a:solidFill>
            <a:srgbClr val="2A78D6"/>
          </a:solidFill>
          <a:ln w="15875">
            <a:solidFill>
              <a:srgbClr val="2A78D6"/>
            </a:solidFill>
            <a:prstDash val="solid"/>
          </a:ln>
        </p:spPr>
      </p:sp>
      <p:sp>
        <p:nvSpPr>
          <p:cNvPr id="81" name="Shape 79"/>
          <p:cNvSpPr/>
          <p:nvPr/>
        </p:nvSpPr>
        <p:spPr>
          <a:xfrm>
            <a:off x="4343400" y="3557016"/>
            <a:ext cx="228600" cy="228600"/>
          </a:xfrm>
          <a:prstGeom prst="ellipse">
            <a:avLst/>
          </a:prstGeom>
          <a:solidFill>
            <a:srgbClr val="FFFFFF">
              <a:alpha val="0"/>
            </a:srgbClr>
          </a:solidFill>
          <a:ln w="19050">
            <a:solidFill>
              <a:srgbClr val="2A78D6"/>
            </a:solidFill>
            <a:prstDash val="solid"/>
          </a:ln>
        </p:spPr>
      </p:sp>
      <p:sp>
        <p:nvSpPr>
          <p:cNvPr id="82" name="Shape 80"/>
          <p:cNvSpPr/>
          <p:nvPr/>
        </p:nvSpPr>
        <p:spPr>
          <a:xfrm>
            <a:off x="4640580" y="3557016"/>
            <a:ext cx="228600" cy="228600"/>
          </a:xfrm>
          <a:prstGeom prst="ellipse">
            <a:avLst/>
          </a:prstGeom>
          <a:solidFill>
            <a:srgbClr val="2A78D6"/>
          </a:solidFill>
          <a:ln w="15875">
            <a:solidFill>
              <a:srgbClr val="2A78D6"/>
            </a:solidFill>
            <a:prstDash val="solid"/>
          </a:ln>
        </p:spPr>
      </p:sp>
      <p:sp>
        <p:nvSpPr>
          <p:cNvPr id="83" name="Shape 81"/>
          <p:cNvSpPr/>
          <p:nvPr/>
        </p:nvSpPr>
        <p:spPr>
          <a:xfrm>
            <a:off x="4937760" y="3557016"/>
            <a:ext cx="228600" cy="228600"/>
          </a:xfrm>
          <a:prstGeom prst="ellipse">
            <a:avLst/>
          </a:prstGeom>
          <a:solidFill>
            <a:srgbClr val="FFFFFF">
              <a:alpha val="0"/>
            </a:srgbClr>
          </a:solidFill>
          <a:ln w="19050">
            <a:solidFill>
              <a:srgbClr val="2A78D6"/>
            </a:solidFill>
            <a:prstDash val="solid"/>
          </a:ln>
        </p:spPr>
      </p:sp>
      <p:sp>
        <p:nvSpPr>
          <p:cNvPr id="84" name="Shape 82"/>
          <p:cNvSpPr/>
          <p:nvPr/>
        </p:nvSpPr>
        <p:spPr>
          <a:xfrm>
            <a:off x="5234940" y="3557016"/>
            <a:ext cx="228600" cy="228600"/>
          </a:xfrm>
          <a:prstGeom prst="ellipse">
            <a:avLst/>
          </a:prstGeom>
          <a:solidFill>
            <a:srgbClr val="2A78D6"/>
          </a:solidFill>
          <a:ln w="15875">
            <a:solidFill>
              <a:srgbClr val="2A78D6"/>
            </a:solidFill>
            <a:prstDash val="solid"/>
          </a:ln>
        </p:spPr>
      </p:sp>
      <p:sp>
        <p:nvSpPr>
          <p:cNvPr id="85" name="Shape 83"/>
          <p:cNvSpPr/>
          <p:nvPr/>
        </p:nvSpPr>
        <p:spPr>
          <a:xfrm>
            <a:off x="5532120" y="3557016"/>
            <a:ext cx="228600" cy="228600"/>
          </a:xfrm>
          <a:prstGeom prst="ellipse">
            <a:avLst/>
          </a:prstGeom>
          <a:solidFill>
            <a:srgbClr val="FFFFFF">
              <a:alpha val="0"/>
            </a:srgbClr>
          </a:solidFill>
          <a:ln w="19050">
            <a:solidFill>
              <a:srgbClr val="2A78D6"/>
            </a:solidFill>
            <a:prstDash val="solid"/>
          </a:ln>
        </p:spPr>
      </p:sp>
      <p:sp>
        <p:nvSpPr>
          <p:cNvPr id="86" name="Shape 84"/>
          <p:cNvSpPr/>
          <p:nvPr/>
        </p:nvSpPr>
        <p:spPr>
          <a:xfrm>
            <a:off x="5829300" y="3557016"/>
            <a:ext cx="228600" cy="228600"/>
          </a:xfrm>
          <a:prstGeom prst="ellipse">
            <a:avLst/>
          </a:prstGeom>
          <a:solidFill>
            <a:srgbClr val="2A78D6"/>
          </a:solidFill>
          <a:ln w="15875">
            <a:solidFill>
              <a:srgbClr val="2A78D6"/>
            </a:solidFill>
            <a:prstDash val="solid"/>
          </a:ln>
        </p:spPr>
      </p:sp>
      <p:sp>
        <p:nvSpPr>
          <p:cNvPr id="87" name="Shape 85"/>
          <p:cNvSpPr/>
          <p:nvPr/>
        </p:nvSpPr>
        <p:spPr>
          <a:xfrm>
            <a:off x="6126480" y="3557016"/>
            <a:ext cx="228600" cy="228600"/>
          </a:xfrm>
          <a:prstGeom prst="ellipse">
            <a:avLst/>
          </a:prstGeom>
          <a:solidFill>
            <a:srgbClr val="2A78D6"/>
          </a:solidFill>
          <a:ln w="15875">
            <a:solidFill>
              <a:srgbClr val="2A78D6"/>
            </a:solidFill>
            <a:prstDash val="solid"/>
          </a:ln>
        </p:spPr>
      </p:sp>
      <p:sp>
        <p:nvSpPr>
          <p:cNvPr id="88" name="Shape 86"/>
          <p:cNvSpPr/>
          <p:nvPr/>
        </p:nvSpPr>
        <p:spPr>
          <a:xfrm>
            <a:off x="6423660" y="3557016"/>
            <a:ext cx="228600" cy="228600"/>
          </a:xfrm>
          <a:prstGeom prst="ellipse">
            <a:avLst/>
          </a:prstGeom>
          <a:solidFill>
            <a:srgbClr val="FFFFFF">
              <a:alpha val="0"/>
            </a:srgbClr>
          </a:solidFill>
          <a:ln w="19050">
            <a:solidFill>
              <a:srgbClr val="2A78D6"/>
            </a:solidFill>
            <a:prstDash val="solid"/>
          </a:ln>
        </p:spPr>
      </p:sp>
      <p:sp>
        <p:nvSpPr>
          <p:cNvPr id="89" name="Shape 87"/>
          <p:cNvSpPr/>
          <p:nvPr/>
        </p:nvSpPr>
        <p:spPr>
          <a:xfrm>
            <a:off x="6720840" y="3557016"/>
            <a:ext cx="228600" cy="228600"/>
          </a:xfrm>
          <a:prstGeom prst="ellipse">
            <a:avLst/>
          </a:prstGeom>
          <a:solidFill>
            <a:srgbClr val="2A78D6"/>
          </a:solidFill>
          <a:ln w="15875">
            <a:solidFill>
              <a:srgbClr val="2A78D6"/>
            </a:solidFill>
            <a:prstDash val="solid"/>
          </a:ln>
        </p:spPr>
      </p:sp>
      <p:sp>
        <p:nvSpPr>
          <p:cNvPr id="90" name="Shape 88"/>
          <p:cNvSpPr/>
          <p:nvPr/>
        </p:nvSpPr>
        <p:spPr>
          <a:xfrm>
            <a:off x="7018020" y="3557016"/>
            <a:ext cx="228600" cy="228600"/>
          </a:xfrm>
          <a:prstGeom prst="ellipse">
            <a:avLst/>
          </a:prstGeom>
          <a:solidFill>
            <a:srgbClr val="2A78D6"/>
          </a:solidFill>
          <a:ln w="15875">
            <a:solidFill>
              <a:srgbClr val="2A78D6"/>
            </a:solidFill>
            <a:prstDash val="solid"/>
          </a:ln>
        </p:spPr>
      </p:sp>
      <p:sp>
        <p:nvSpPr>
          <p:cNvPr id="91" name="Shape 89"/>
          <p:cNvSpPr/>
          <p:nvPr/>
        </p:nvSpPr>
        <p:spPr>
          <a:xfrm>
            <a:off x="7315200" y="3557016"/>
            <a:ext cx="228600" cy="228600"/>
          </a:xfrm>
          <a:prstGeom prst="ellipse">
            <a:avLst/>
          </a:prstGeom>
          <a:solidFill>
            <a:srgbClr val="FFFFFF">
              <a:alpha val="0"/>
            </a:srgbClr>
          </a:solidFill>
          <a:ln w="19050">
            <a:solidFill>
              <a:srgbClr val="2A78D6"/>
            </a:solidFill>
            <a:prstDash val="solid"/>
          </a:ln>
        </p:spPr>
      </p:sp>
      <p:sp>
        <p:nvSpPr>
          <p:cNvPr id="92" name="Shape 90"/>
          <p:cNvSpPr/>
          <p:nvPr/>
        </p:nvSpPr>
        <p:spPr>
          <a:xfrm>
            <a:off x="7612380" y="3557016"/>
            <a:ext cx="228600" cy="228600"/>
          </a:xfrm>
          <a:prstGeom prst="ellipse">
            <a:avLst/>
          </a:prstGeom>
          <a:solidFill>
            <a:srgbClr val="2A78D6"/>
          </a:solidFill>
          <a:ln w="15875">
            <a:solidFill>
              <a:srgbClr val="2A78D6"/>
            </a:solidFill>
            <a:prstDash val="solid"/>
          </a:ln>
        </p:spPr>
      </p:sp>
      <p:sp>
        <p:nvSpPr>
          <p:cNvPr id="93" name="Shape 91"/>
          <p:cNvSpPr/>
          <p:nvPr/>
        </p:nvSpPr>
        <p:spPr>
          <a:xfrm>
            <a:off x="7909560" y="3557016"/>
            <a:ext cx="228600" cy="228600"/>
          </a:xfrm>
          <a:prstGeom prst="ellipse">
            <a:avLst/>
          </a:prstGeom>
          <a:solidFill>
            <a:srgbClr val="2A78D6"/>
          </a:solidFill>
          <a:ln w="15875">
            <a:solidFill>
              <a:srgbClr val="2A78D6"/>
            </a:solidFill>
            <a:prstDash val="solid"/>
          </a:ln>
        </p:spPr>
      </p:sp>
      <p:sp>
        <p:nvSpPr>
          <p:cNvPr id="94" name="Shape 92"/>
          <p:cNvSpPr/>
          <p:nvPr/>
        </p:nvSpPr>
        <p:spPr>
          <a:xfrm>
            <a:off x="8206740" y="3557016"/>
            <a:ext cx="228600" cy="228600"/>
          </a:xfrm>
          <a:prstGeom prst="ellipse">
            <a:avLst/>
          </a:prstGeom>
          <a:solidFill>
            <a:srgbClr val="FFFFFF">
              <a:alpha val="0"/>
            </a:srgbClr>
          </a:solidFill>
          <a:ln w="19050">
            <a:solidFill>
              <a:srgbClr val="2A78D6"/>
            </a:solidFill>
            <a:prstDash val="solid"/>
          </a:ln>
        </p:spPr>
      </p:sp>
      <p:sp>
        <p:nvSpPr>
          <p:cNvPr id="95" name="Shape 93"/>
          <p:cNvSpPr/>
          <p:nvPr/>
        </p:nvSpPr>
        <p:spPr>
          <a:xfrm>
            <a:off x="8503920" y="3557016"/>
            <a:ext cx="228600" cy="228600"/>
          </a:xfrm>
          <a:prstGeom prst="ellipse">
            <a:avLst/>
          </a:prstGeom>
          <a:solidFill>
            <a:srgbClr val="FFFFFF">
              <a:alpha val="0"/>
            </a:srgbClr>
          </a:solidFill>
          <a:ln w="19050">
            <a:solidFill>
              <a:srgbClr val="2A78D6"/>
            </a:solidFill>
            <a:prstDash val="solid"/>
          </a:ln>
        </p:spPr>
      </p:sp>
      <p:sp>
        <p:nvSpPr>
          <p:cNvPr id="96" name="Shape 94"/>
          <p:cNvSpPr/>
          <p:nvPr/>
        </p:nvSpPr>
        <p:spPr>
          <a:xfrm>
            <a:off x="8801100" y="3557016"/>
            <a:ext cx="228600" cy="228600"/>
          </a:xfrm>
          <a:prstGeom prst="ellipse">
            <a:avLst/>
          </a:prstGeom>
          <a:solidFill>
            <a:srgbClr val="FFFFFF">
              <a:alpha val="0"/>
            </a:srgbClr>
          </a:solidFill>
          <a:ln w="19050">
            <a:solidFill>
              <a:srgbClr val="2A78D6"/>
            </a:solidFill>
            <a:prstDash val="solid"/>
          </a:ln>
        </p:spPr>
      </p:sp>
      <p:sp>
        <p:nvSpPr>
          <p:cNvPr id="97" name="Shape 95"/>
          <p:cNvSpPr/>
          <p:nvPr/>
        </p:nvSpPr>
        <p:spPr>
          <a:xfrm>
            <a:off x="9098280" y="3557016"/>
            <a:ext cx="228600" cy="228600"/>
          </a:xfrm>
          <a:prstGeom prst="ellipse">
            <a:avLst/>
          </a:prstGeom>
          <a:solidFill>
            <a:srgbClr val="2A78D6"/>
          </a:solidFill>
          <a:ln w="15875">
            <a:solidFill>
              <a:srgbClr val="2A78D6"/>
            </a:solidFill>
            <a:prstDash val="solid"/>
          </a:ln>
        </p:spPr>
      </p:sp>
      <p:sp>
        <p:nvSpPr>
          <p:cNvPr id="98" name="Shape 96"/>
          <p:cNvSpPr/>
          <p:nvPr/>
        </p:nvSpPr>
        <p:spPr>
          <a:xfrm>
            <a:off x="9395460" y="3557016"/>
            <a:ext cx="228600" cy="228600"/>
          </a:xfrm>
          <a:prstGeom prst="ellipse">
            <a:avLst/>
          </a:prstGeom>
          <a:solidFill>
            <a:srgbClr val="2A78D6"/>
          </a:solidFill>
          <a:ln w="15875">
            <a:solidFill>
              <a:srgbClr val="2A78D6"/>
            </a:solidFill>
            <a:prstDash val="solid"/>
          </a:ln>
        </p:spPr>
      </p:sp>
      <p:sp>
        <p:nvSpPr>
          <p:cNvPr id="99" name="Shape 97"/>
          <p:cNvSpPr/>
          <p:nvPr/>
        </p:nvSpPr>
        <p:spPr>
          <a:xfrm>
            <a:off x="9692640" y="3557016"/>
            <a:ext cx="228600" cy="228600"/>
          </a:xfrm>
          <a:prstGeom prst="ellipse">
            <a:avLst/>
          </a:prstGeom>
          <a:solidFill>
            <a:srgbClr val="2A78D6"/>
          </a:solidFill>
          <a:ln w="15875">
            <a:solidFill>
              <a:srgbClr val="2A78D6"/>
            </a:solidFill>
            <a:prstDash val="solid"/>
          </a:ln>
        </p:spPr>
      </p:sp>
      <p:sp>
        <p:nvSpPr>
          <p:cNvPr id="100" name="Shape 98"/>
          <p:cNvSpPr/>
          <p:nvPr/>
        </p:nvSpPr>
        <p:spPr>
          <a:xfrm>
            <a:off x="9989820" y="3557016"/>
            <a:ext cx="228600" cy="228600"/>
          </a:xfrm>
          <a:prstGeom prst="ellipse">
            <a:avLst/>
          </a:prstGeom>
          <a:solidFill>
            <a:srgbClr val="2A78D6"/>
          </a:solidFill>
          <a:ln w="15875">
            <a:solidFill>
              <a:srgbClr val="2A78D6"/>
            </a:solidFill>
            <a:prstDash val="solid"/>
          </a:ln>
        </p:spPr>
      </p:sp>
      <p:sp>
        <p:nvSpPr>
          <p:cNvPr id="101" name="Text 99"/>
          <p:cNvSpPr txBox="1"/>
          <p:nvPr/>
        </p:nvSpPr>
        <p:spPr>
          <a:xfrm>
            <a:off x="10424160" y="3511296"/>
            <a:ext cx="1463040" cy="320040"/>
          </a:xfrm>
          <a:prstGeom prst="rect">
            <a:avLst/>
          </a:prstGeom>
          <a:noFill/>
          <a:ln/>
        </p:spPr>
        <p:txBody>
          <a:bodyPr wrap="square" lIns="0" tIns="0" rIns="0" bIns="0" rtlCol="0" anchor="ctr"/>
          <a:lstStyle/>
          <a:p>
            <a:pPr marL="0" indent="0">
              <a:buNone/>
            </a:pPr>
            <a:r>
              <a:rPr lang="en-US" sz="1800" b="1" dirty="0">
                <a:solidFill>
                  <a:srgbClr val="141A23"/>
                </a:solidFill>
                <a:latin typeface="Calibri" pitchFamily="34" charset="0"/>
                <a:ea typeface="Calibri" pitchFamily="34" charset="-122"/>
                <a:cs typeface="Calibri" pitchFamily="34" charset="-120"/>
              </a:rPr>
              <a:t>18 из 30</a:t>
            </a:r>
            <a:endParaRPr lang="en-US" sz="1800" dirty="0"/>
          </a:p>
        </p:txBody>
      </p:sp>
      <p:sp>
        <p:nvSpPr>
          <p:cNvPr id="102" name="Shape 100"/>
          <p:cNvSpPr/>
          <p:nvPr/>
        </p:nvSpPr>
        <p:spPr>
          <a:xfrm>
            <a:off x="1371600" y="4142232"/>
            <a:ext cx="182880" cy="182880"/>
          </a:xfrm>
          <a:prstGeom prst="ellipse">
            <a:avLst/>
          </a:prstGeom>
          <a:solidFill>
            <a:srgbClr val="2A78D6"/>
          </a:solidFill>
          <a:ln w="15875">
            <a:solidFill>
              <a:srgbClr val="2A78D6"/>
            </a:solidFill>
            <a:prstDash val="solid"/>
          </a:ln>
        </p:spPr>
      </p:sp>
      <p:sp>
        <p:nvSpPr>
          <p:cNvPr id="103" name="Text 101"/>
          <p:cNvSpPr txBox="1"/>
          <p:nvPr/>
        </p:nvSpPr>
        <p:spPr>
          <a:xfrm>
            <a:off x="1645920" y="4105656"/>
            <a:ext cx="3657600" cy="274320"/>
          </a:xfrm>
          <a:prstGeom prst="rect">
            <a:avLst/>
          </a:prstGeom>
          <a:noFill/>
          <a:ln/>
        </p:spPr>
        <p:txBody>
          <a:bodyPr wrap="square" lIns="0" tIns="0" rIns="0" bIns="0" rtlCol="0" anchor="t"/>
          <a:lstStyle/>
          <a:p>
            <a:pPr marL="0" indent="0">
              <a:buNone/>
            </a:pPr>
            <a:r>
              <a:rPr lang="en-US" sz="1300" dirty="0">
                <a:solidFill>
                  <a:srgbClr val="52514E"/>
                </a:solidFill>
                <a:latin typeface="Calibri" pitchFamily="34" charset="0"/>
                <a:ea typeface="Calibri" pitchFamily="34" charset="-122"/>
                <a:cs typeface="Calibri" pitchFamily="34" charset="-120"/>
              </a:rPr>
              <a:t>цель достигнута у отложенного человека</a:t>
            </a:r>
            <a:endParaRPr lang="en-US" sz="1300" dirty="0"/>
          </a:p>
        </p:txBody>
      </p:sp>
      <p:sp>
        <p:nvSpPr>
          <p:cNvPr id="104" name="Shape 102"/>
          <p:cNvSpPr/>
          <p:nvPr/>
        </p:nvSpPr>
        <p:spPr>
          <a:xfrm>
            <a:off x="5394960" y="4142232"/>
            <a:ext cx="182880" cy="182880"/>
          </a:xfrm>
          <a:prstGeom prst="ellipse">
            <a:avLst/>
          </a:prstGeom>
          <a:solidFill>
            <a:srgbClr val="FFFFFF">
              <a:alpha val="0"/>
            </a:srgbClr>
          </a:solidFill>
          <a:ln w="19050">
            <a:solidFill>
              <a:srgbClr val="2A78D6"/>
            </a:solidFill>
            <a:prstDash val="solid"/>
          </a:ln>
        </p:spPr>
      </p:sp>
      <p:sp>
        <p:nvSpPr>
          <p:cNvPr id="105" name="Text 103"/>
          <p:cNvSpPr txBox="1"/>
          <p:nvPr/>
        </p:nvSpPr>
        <p:spPr>
          <a:xfrm>
            <a:off x="5669280" y="4105656"/>
            <a:ext cx="1828800" cy="274320"/>
          </a:xfrm>
          <a:prstGeom prst="rect">
            <a:avLst/>
          </a:prstGeom>
          <a:noFill/>
          <a:ln/>
        </p:spPr>
        <p:txBody>
          <a:bodyPr wrap="square" lIns="0" tIns="0" rIns="0" bIns="0" rtlCol="0" anchor="t"/>
          <a:lstStyle/>
          <a:p>
            <a:pPr marL="0" indent="0">
              <a:buNone/>
            </a:pPr>
            <a:r>
              <a:rPr lang="en-US" sz="1300" dirty="0">
                <a:solidFill>
                  <a:srgbClr val="52514E"/>
                </a:solidFill>
                <a:latin typeface="Calibri" pitchFamily="34" charset="0"/>
                <a:ea typeface="Calibri" pitchFamily="34" charset="-122"/>
                <a:cs typeface="Calibri" pitchFamily="34" charset="-120"/>
              </a:rPr>
              <a:t>не достигнута</a:t>
            </a:r>
            <a:endParaRPr lang="en-US" sz="1300" dirty="0"/>
          </a:p>
        </p:txBody>
      </p:sp>
      <p:sp>
        <p:nvSpPr>
          <p:cNvPr id="106" name="Shape 104"/>
          <p:cNvSpPr/>
          <p:nvPr/>
        </p:nvSpPr>
        <p:spPr>
          <a:xfrm>
            <a:off x="548640" y="4617720"/>
            <a:ext cx="11094415" cy="1417320"/>
          </a:xfrm>
          <a:prstGeom prst="roundRect">
            <a:avLst>
              <a:gd name="adj" fmla="val 5161"/>
            </a:avLst>
          </a:prstGeom>
          <a:solidFill>
            <a:srgbClr val="EAF2FC"/>
          </a:solidFill>
          <a:ln w="9525">
            <a:solidFill>
              <a:srgbClr val="EAF2FC"/>
            </a:solidFill>
            <a:prstDash val="solid"/>
          </a:ln>
        </p:spPr>
      </p:sp>
      <p:sp>
        <p:nvSpPr>
          <p:cNvPr id="107" name="Text 105"/>
          <p:cNvSpPr txBox="1"/>
          <p:nvPr/>
        </p:nvSpPr>
        <p:spPr>
          <a:xfrm>
            <a:off x="822960" y="4617720"/>
            <a:ext cx="10545775" cy="1417320"/>
          </a:xfrm>
          <a:prstGeom prst="rect">
            <a:avLst/>
          </a:prstGeom>
          <a:noFill/>
          <a:ln/>
        </p:spPr>
        <p:txBody>
          <a:bodyPr wrap="square" lIns="0" tIns="0" rIns="0" bIns="0" rtlCol="0" anchor="ctr"/>
          <a:lstStyle/>
          <a:p>
            <a:pPr marL="0" indent="0">
              <a:buNone/>
            </a:pPr>
            <a:r>
              <a:rPr lang="en-US" sz="1600" b="1" dirty="0">
                <a:solidFill>
                  <a:srgbClr val="141A23"/>
                </a:solidFill>
                <a:latin typeface="Calibri" pitchFamily="34" charset="0"/>
                <a:ea typeface="Calibri" pitchFamily="34" charset="-122"/>
                <a:cs typeface="Calibri" pitchFamily="34" charset="-120"/>
              </a:rPr>
              <a:t>Предлагаемая замена — конформный контроль риска </a:t>
            </a:r>
            <a:r>
              <a:rPr lang="en-US" sz="1600" dirty="0">
                <a:solidFill>
                  <a:srgbClr val="52514E"/>
                </a:solidFill>
                <a:latin typeface="Calibri" pitchFamily="34" charset="0"/>
                <a:ea typeface="Calibri" pitchFamily="34" charset="-122"/>
                <a:cs typeface="Calibri" pitchFamily="34" charset="-120"/>
              </a:rPr>
              <a:t>(conformal risk control; Angelopoulos и др., ICLR 2024). </a:t>
            </a:r>
            <a:r>
              <a:rPr lang="en-US" sz="1600" dirty="0">
                <a:solidFill>
                  <a:srgbClr val="141A23"/>
                </a:solidFill>
                <a:latin typeface="Calibri" pitchFamily="34" charset="0"/>
                <a:ea typeface="Calibri" pitchFamily="34" charset="-122"/>
                <a:cs typeface="Calibri" pitchFamily="34" charset="-120"/>
              </a:rPr>
              <a:t>Порог выбирается так, чтобы средняя доля пропущенных делеций у нового человека гарантированно не превышала заданную. Гарантия не зависит от вида распределения данных, но действует в среднем по новым людям, а не для каждого человека.</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2 · ГРАНИЦА</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Для гарантии 95% нужно не меньше 19 человек</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12 / 17</a:t>
            </a:r>
            <a:endParaRPr lang="en-US" sz="1000" dirty="0"/>
          </a:p>
        </p:txBody>
      </p:sp>
      <p:sp>
        <p:nvSpPr>
          <p:cNvPr id="5" name="Shape 3"/>
          <p:cNvSpPr/>
          <p:nvPr/>
        </p:nvSpPr>
        <p:spPr>
          <a:xfrm>
            <a:off x="548640" y="1600200"/>
            <a:ext cx="4206240" cy="1371600"/>
          </a:xfrm>
          <a:prstGeom prst="roundRect">
            <a:avLst>
              <a:gd name="adj" fmla="val 5333"/>
            </a:avLst>
          </a:prstGeom>
          <a:solidFill>
            <a:srgbClr val="EAF2FC"/>
          </a:solidFill>
          <a:ln w="9525">
            <a:solidFill>
              <a:srgbClr val="EAF2FC"/>
            </a:solidFill>
            <a:prstDash val="solid"/>
          </a:ln>
        </p:spPr>
      </p:sp>
      <p:sp>
        <p:nvSpPr>
          <p:cNvPr id="6" name="Text 4"/>
          <p:cNvSpPr txBox="1"/>
          <p:nvPr/>
        </p:nvSpPr>
        <p:spPr>
          <a:xfrm>
            <a:off x="822960" y="1691640"/>
            <a:ext cx="3657600" cy="123444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Максимальная гарантируемая чувствительность</a:t>
            </a:r>
            <a:endParaRPr lang="en-US" sz="1600" dirty="0"/>
          </a:p>
          <a:p>
            <a:pPr marL="0" indent="0">
              <a:buNone/>
            </a:pPr>
            <a:r>
              <a:rPr lang="en-US" sz="4000" b="1" dirty="0">
                <a:solidFill>
                  <a:srgbClr val="2A78D6"/>
                </a:solidFill>
                <a:latin typeface="Calibri" pitchFamily="34" charset="0"/>
                <a:ea typeface="Calibri" pitchFamily="34" charset="-122"/>
                <a:cs typeface="Calibri" pitchFamily="34" charset="-120"/>
              </a:rPr>
              <a:t>N / (N + 1)</a:t>
            </a:r>
            <a:endParaRPr lang="en-US" sz="1600" dirty="0"/>
          </a:p>
          <a:p>
            <a:pPr marL="0" indent="0">
              <a:buNone/>
            </a:pPr>
            <a:r>
              <a:rPr lang="en-US" sz="1300" dirty="0">
                <a:solidFill>
                  <a:srgbClr val="52514E"/>
                </a:solidFill>
                <a:latin typeface="Calibri" pitchFamily="34" charset="0"/>
                <a:ea typeface="Calibri" pitchFamily="34" charset="-122"/>
                <a:cs typeface="Calibri" pitchFamily="34" charset="-120"/>
              </a:rPr>
              <a:t>N — число людей, на которых подбирают порог</a:t>
            </a:r>
            <a:endParaRPr lang="en-US" sz="1600" dirty="0"/>
          </a:p>
        </p:txBody>
      </p:sp>
      <p:sp>
        <p:nvSpPr>
          <p:cNvPr id="7" name="Text 5"/>
          <p:cNvSpPr txBox="1"/>
          <p:nvPr/>
        </p:nvSpPr>
        <p:spPr>
          <a:xfrm>
            <a:off x="548640" y="3200400"/>
            <a:ext cx="1188720" cy="566928"/>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N = 6</a:t>
            </a:r>
            <a:endParaRPr lang="en-US" sz="2000" dirty="0"/>
          </a:p>
        </p:txBody>
      </p:sp>
      <p:sp>
        <p:nvSpPr>
          <p:cNvPr id="8" name="Text 6"/>
          <p:cNvSpPr txBox="1"/>
          <p:nvPr/>
        </p:nvSpPr>
        <p:spPr>
          <a:xfrm>
            <a:off x="1737360" y="3200400"/>
            <a:ext cx="3017520" cy="603504"/>
          </a:xfrm>
          <a:prstGeom prst="rect">
            <a:avLst/>
          </a:prstGeom>
          <a:noFill/>
          <a:ln/>
        </p:spPr>
        <p:txBody>
          <a:bodyPr wrap="square" lIns="0" tIns="0" rIns="0" bIns="0" rtlCol="0" anchor="ctr"/>
          <a:lstStyle/>
          <a:p>
            <a:pPr marL="0" indent="0">
              <a:buNone/>
            </a:pPr>
            <a:r>
              <a:rPr lang="en-US" sz="1700" b="1" dirty="0">
                <a:solidFill>
                  <a:srgbClr val="141A23"/>
                </a:solidFill>
                <a:latin typeface="Calibri" pitchFamily="34" charset="0"/>
                <a:ea typeface="Calibri" pitchFamily="34" charset="-122"/>
                <a:cs typeface="Calibri" pitchFamily="34" charset="-120"/>
              </a:rPr>
              <a:t>до 85,7%</a:t>
            </a:r>
            <a:endParaRPr lang="en-US" sz="1700" dirty="0"/>
          </a:p>
          <a:p>
            <a:pPr marL="0" indent="0">
              <a:buNone/>
            </a:pPr>
            <a:r>
              <a:rPr lang="en-US" sz="1300" dirty="0">
                <a:solidFill>
                  <a:srgbClr val="52514E"/>
                </a:solidFill>
                <a:latin typeface="Calibri" pitchFamily="34" charset="0"/>
                <a:ea typeface="Calibri" pitchFamily="34" charset="-122"/>
                <a:cs typeface="Calibri" pitchFamily="34" charset="-120"/>
              </a:rPr>
              <a:t>одна группа происхождения</a:t>
            </a:r>
            <a:endParaRPr lang="en-US" sz="1700" dirty="0"/>
          </a:p>
        </p:txBody>
      </p:sp>
      <p:sp>
        <p:nvSpPr>
          <p:cNvPr id="9" name="Text 7"/>
          <p:cNvSpPr txBox="1"/>
          <p:nvPr/>
        </p:nvSpPr>
        <p:spPr>
          <a:xfrm>
            <a:off x="548640" y="3913632"/>
            <a:ext cx="1188720" cy="566928"/>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N = 19</a:t>
            </a:r>
            <a:endParaRPr lang="en-US" sz="2000" dirty="0"/>
          </a:p>
        </p:txBody>
      </p:sp>
      <p:sp>
        <p:nvSpPr>
          <p:cNvPr id="10" name="Text 8"/>
          <p:cNvSpPr txBox="1"/>
          <p:nvPr/>
        </p:nvSpPr>
        <p:spPr>
          <a:xfrm>
            <a:off x="1737360" y="3913632"/>
            <a:ext cx="3017520" cy="603504"/>
          </a:xfrm>
          <a:prstGeom prst="rect">
            <a:avLst/>
          </a:prstGeom>
          <a:noFill/>
          <a:ln/>
        </p:spPr>
        <p:txBody>
          <a:bodyPr wrap="square" lIns="0" tIns="0" rIns="0" bIns="0" rtlCol="0" anchor="ctr"/>
          <a:lstStyle/>
          <a:p>
            <a:pPr marL="0" indent="0">
              <a:buNone/>
            </a:pPr>
            <a:r>
              <a:rPr lang="en-US" sz="1700" b="1" dirty="0">
                <a:solidFill>
                  <a:srgbClr val="EB6834"/>
                </a:solidFill>
                <a:latin typeface="Calibri" pitchFamily="34" charset="0"/>
                <a:ea typeface="Calibri" pitchFamily="34" charset="-122"/>
                <a:cs typeface="Calibri" pitchFamily="34" charset="-120"/>
              </a:rPr>
              <a:t>до 95,0%</a:t>
            </a:r>
            <a:endParaRPr lang="en-US" sz="1700" dirty="0"/>
          </a:p>
          <a:p>
            <a:pPr marL="0" indent="0">
              <a:buNone/>
            </a:pPr>
            <a:r>
              <a:rPr lang="en-US" sz="1300" dirty="0">
                <a:solidFill>
                  <a:srgbClr val="52514E"/>
                </a:solidFill>
                <a:latin typeface="Calibri" pitchFamily="34" charset="0"/>
                <a:ea typeface="Calibri" pitchFamily="34" charset="-122"/>
                <a:cs typeface="Calibri" pitchFamily="34" charset="-120"/>
              </a:rPr>
              <a:t>минимум для цели 95%</a:t>
            </a:r>
            <a:endParaRPr lang="en-US" sz="1700" dirty="0"/>
          </a:p>
        </p:txBody>
      </p:sp>
      <p:sp>
        <p:nvSpPr>
          <p:cNvPr id="11" name="Text 9"/>
          <p:cNvSpPr txBox="1"/>
          <p:nvPr/>
        </p:nvSpPr>
        <p:spPr>
          <a:xfrm>
            <a:off x="548640" y="4626864"/>
            <a:ext cx="1188720" cy="566928"/>
          </a:xfrm>
          <a:prstGeom prst="rect">
            <a:avLst/>
          </a:prstGeom>
          <a:noFill/>
          <a:ln/>
        </p:spPr>
        <p:txBody>
          <a:bodyPr wrap="square" lIns="0" tIns="0" rIns="0" bIns="0" rtlCol="0" anchor="ctr"/>
          <a:lstStyle/>
          <a:p>
            <a:pPr marL="0" indent="0">
              <a:buNone/>
            </a:pPr>
            <a:r>
              <a:rPr lang="en-US" sz="2000" b="1" dirty="0">
                <a:solidFill>
                  <a:srgbClr val="141A23"/>
                </a:solidFill>
                <a:latin typeface="Calibri" pitchFamily="34" charset="0"/>
                <a:ea typeface="Calibri" pitchFamily="34" charset="-122"/>
                <a:cs typeface="Calibri" pitchFamily="34" charset="-120"/>
              </a:rPr>
              <a:t>N = 30</a:t>
            </a:r>
            <a:endParaRPr lang="en-US" sz="2000" dirty="0"/>
          </a:p>
        </p:txBody>
      </p:sp>
      <p:sp>
        <p:nvSpPr>
          <p:cNvPr id="12" name="Text 10"/>
          <p:cNvSpPr txBox="1"/>
          <p:nvPr/>
        </p:nvSpPr>
        <p:spPr>
          <a:xfrm>
            <a:off x="1737360" y="4626864"/>
            <a:ext cx="3017520" cy="603504"/>
          </a:xfrm>
          <a:prstGeom prst="rect">
            <a:avLst/>
          </a:prstGeom>
          <a:noFill/>
          <a:ln/>
        </p:spPr>
        <p:txBody>
          <a:bodyPr wrap="square" lIns="0" tIns="0" rIns="0" bIns="0" rtlCol="0" anchor="ctr"/>
          <a:lstStyle/>
          <a:p>
            <a:pPr marL="0" indent="0">
              <a:buNone/>
            </a:pPr>
            <a:r>
              <a:rPr lang="en-US" sz="1700" b="1" dirty="0">
                <a:solidFill>
                  <a:srgbClr val="141A23"/>
                </a:solidFill>
                <a:latin typeface="Calibri" pitchFamily="34" charset="0"/>
                <a:ea typeface="Calibri" pitchFamily="34" charset="-122"/>
                <a:cs typeface="Calibri" pitchFamily="34" charset="-120"/>
              </a:rPr>
              <a:t>до 96,8%</a:t>
            </a:r>
            <a:endParaRPr lang="en-US" sz="1700" dirty="0"/>
          </a:p>
          <a:p>
            <a:pPr marL="0" indent="0">
              <a:buNone/>
            </a:pPr>
            <a:r>
              <a:rPr lang="en-US" sz="1300" dirty="0">
                <a:solidFill>
                  <a:srgbClr val="52514E"/>
                </a:solidFill>
                <a:latin typeface="Calibri" pitchFamily="34" charset="0"/>
                <a:ea typeface="Calibri" pitchFamily="34" charset="-122"/>
                <a:cs typeface="Calibri" pitchFamily="34" charset="-120"/>
              </a:rPr>
              <a:t>вся группа</a:t>
            </a:r>
            <a:endParaRPr lang="en-US" sz="1700" dirty="0"/>
          </a:p>
        </p:txBody>
      </p:sp>
      <p:sp>
        <p:nvSpPr>
          <p:cNvPr id="13" name="Text 11"/>
          <p:cNvSpPr txBox="1"/>
          <p:nvPr/>
        </p:nvSpPr>
        <p:spPr>
          <a:xfrm>
            <a:off x="548640" y="5394960"/>
            <a:ext cx="4206240" cy="685800"/>
          </a:xfrm>
          <a:prstGeom prst="rect">
            <a:avLst/>
          </a:prstGeom>
          <a:noFill/>
          <a:ln/>
        </p:spPr>
        <p:txBody>
          <a:bodyPr wrap="square" lIns="0" tIns="0" rIns="0" bIns="0" rtlCol="0" anchor="t"/>
          <a:lstStyle/>
          <a:p>
            <a:pPr marL="0" indent="0">
              <a:buNone/>
            </a:pPr>
            <a:r>
              <a:rPr lang="en-US" sz="1200" dirty="0">
                <a:solidFill>
                  <a:srgbClr val="898781"/>
                </a:solidFill>
                <a:latin typeface="Calibri" pitchFamily="34" charset="0"/>
                <a:ea typeface="Calibri" pitchFamily="34" charset="-122"/>
                <a:cs typeface="Calibri" pitchFamily="34" charset="-120"/>
              </a:rPr>
              <a:t>Следует из условия теоремы (Cohen и др., ISIT 2024). Граница подтверждена перебором порогов на данных: при N = 5 цель 0,833 достижима, 0,834 — нет.</a:t>
            </a:r>
            <a:endParaRPr lang="en-US" sz="1200" dirty="0"/>
          </a:p>
        </p:txBody>
      </p:sp>
      <p:graphicFrame>
        <p:nvGraphicFramePr>
          <p:cNvPr id="14" name="Chart 0"/>
          <p:cNvGraphicFramePr/>
          <p:nvPr/>
        </p:nvGraphicFramePr>
        <p:xfrm>
          <a:off x="5120640" y="1463040"/>
          <a:ext cx="6522415" cy="4572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2 · ГРУППЫ ПРОИСХОЖДЕНИЯ</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Калибровка по группам проигрывает общей</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13 / 17</a:t>
            </a:r>
            <a:endParaRPr lang="en-US" sz="1000" dirty="0"/>
          </a:p>
        </p:txBody>
      </p:sp>
      <p:sp>
        <p:nvSpPr>
          <p:cNvPr id="5" name="Text 3"/>
          <p:cNvSpPr txBox="1"/>
          <p:nvPr/>
        </p:nvSpPr>
        <p:spPr>
          <a:xfrm>
            <a:off x="548640" y="1554480"/>
            <a:ext cx="4206240" cy="914400"/>
          </a:xfrm>
          <a:prstGeom prst="rect">
            <a:avLst/>
          </a:prstGeom>
          <a:noFill/>
          <a:ln/>
        </p:spPr>
        <p:txBody>
          <a:bodyPr wrap="square" lIns="0" tIns="0" rIns="0" bIns="0" rtlCol="0" anchor="t"/>
          <a:lstStyle/>
          <a:p>
            <a:pPr marL="0" indent="0">
              <a:buNone/>
            </a:pPr>
            <a:r>
              <a:rPr lang="en-US" sz="5400" b="1" dirty="0">
                <a:solidFill>
                  <a:srgbClr val="EB6834"/>
                </a:solidFill>
                <a:latin typeface="Calibri" pitchFamily="34" charset="0"/>
                <a:ea typeface="Calibri" pitchFamily="34" charset="-122"/>
                <a:cs typeface="Calibri" pitchFamily="34" charset="-120"/>
              </a:rPr>
              <a:t>15 из 15</a:t>
            </a:r>
            <a:endParaRPr lang="en-US" sz="5400" dirty="0"/>
          </a:p>
        </p:txBody>
      </p:sp>
      <p:sp>
        <p:nvSpPr>
          <p:cNvPr id="6" name="Text 4"/>
          <p:cNvSpPr txBox="1"/>
          <p:nvPr/>
        </p:nvSpPr>
        <p:spPr>
          <a:xfrm>
            <a:off x="548640" y="2487168"/>
            <a:ext cx="4206240" cy="1005840"/>
          </a:xfrm>
          <a:prstGeom prst="rect">
            <a:avLst/>
          </a:prstGeom>
          <a:noFill/>
          <a:ln/>
        </p:spPr>
        <p:txBody>
          <a:bodyPr wrap="square" lIns="0" tIns="0" rIns="0" bIns="0" rtlCol="0" anchor="t"/>
          <a:lstStyle/>
          <a:p>
            <a:pPr marL="0" indent="0">
              <a:buNone/>
            </a:pPr>
            <a:r>
              <a:rPr lang="en-US" sz="1500" dirty="0">
                <a:solidFill>
                  <a:srgbClr val="141A23"/>
                </a:solidFill>
                <a:latin typeface="Calibri" pitchFamily="34" charset="0"/>
                <a:ea typeface="Calibri" pitchFamily="34" charset="-122"/>
                <a:cs typeface="Calibri" pitchFamily="34" charset="-120"/>
              </a:rPr>
              <a:t>сочетаний «группа × версия» при цели 95%: на 6 людях гарантия невозможна, процедура отказывается выдавать порог</a:t>
            </a:r>
            <a:endParaRPr lang="en-US" sz="1500" dirty="0"/>
          </a:p>
        </p:txBody>
      </p:sp>
      <p:sp>
        <p:nvSpPr>
          <p:cNvPr id="7" name="Text 5"/>
          <p:cNvSpPr txBox="1"/>
          <p:nvPr/>
        </p:nvSpPr>
        <p:spPr>
          <a:xfrm>
            <a:off x="548640" y="3657600"/>
            <a:ext cx="4206240" cy="822960"/>
          </a:xfrm>
          <a:prstGeom prst="rect">
            <a:avLst/>
          </a:prstGeom>
          <a:noFill/>
          <a:ln/>
        </p:spPr>
        <p:txBody>
          <a:bodyPr wrap="square" lIns="0" tIns="0" rIns="0" bIns="0" rtlCol="0" anchor="t"/>
          <a:lstStyle/>
          <a:p>
            <a:pPr marL="0" indent="0">
              <a:buNone/>
            </a:pPr>
            <a:r>
              <a:rPr lang="en-US" sz="4400" b="1" dirty="0">
                <a:solidFill>
                  <a:srgbClr val="EB6834"/>
                </a:solidFill>
                <a:latin typeface="Calibri" pitchFamily="34" charset="0"/>
                <a:ea typeface="Calibri" pitchFamily="34" charset="-122"/>
                <a:cs typeface="Calibri" pitchFamily="34" charset="-120"/>
              </a:rPr>
              <a:t>20–25 п.п.</a:t>
            </a:r>
            <a:endParaRPr lang="en-US" sz="4400" dirty="0"/>
          </a:p>
        </p:txBody>
      </p:sp>
      <p:sp>
        <p:nvSpPr>
          <p:cNvPr id="8" name="Text 6"/>
          <p:cNvSpPr txBox="1"/>
          <p:nvPr/>
        </p:nvSpPr>
        <p:spPr>
          <a:xfrm>
            <a:off x="548640" y="4480560"/>
            <a:ext cx="4206240" cy="1188720"/>
          </a:xfrm>
          <a:prstGeom prst="rect">
            <a:avLst/>
          </a:prstGeom>
          <a:noFill/>
          <a:ln/>
        </p:spPr>
        <p:txBody>
          <a:bodyPr wrap="square" lIns="0" tIns="0" rIns="0" bIns="0" rtlCol="0" anchor="t"/>
          <a:lstStyle/>
          <a:p>
            <a:pPr marL="0" indent="0">
              <a:buNone/>
            </a:pPr>
            <a:r>
              <a:rPr lang="en-US" sz="1500" dirty="0">
                <a:solidFill>
                  <a:srgbClr val="141A23"/>
                </a:solidFill>
                <a:latin typeface="Calibri" pitchFamily="34" charset="0"/>
                <a:ea typeface="Calibri" pitchFamily="34" charset="-122"/>
                <a:cs typeface="Calibri" pitchFamily="34" charset="-120"/>
              </a:rPr>
              <a:t>меньше отсев ложных при пороге по своей группе, чем при общем (цель 75%, те же отложенные люди), во всех 5 группах и у всех 3 версий — без выигрыша в надёжности</a:t>
            </a:r>
            <a:endParaRPr lang="en-US" sz="1500" dirty="0"/>
          </a:p>
        </p:txBody>
      </p:sp>
      <p:sp>
        <p:nvSpPr>
          <p:cNvPr id="9" name="Text 7"/>
          <p:cNvSpPr txBox="1"/>
          <p:nvPr/>
        </p:nvSpPr>
        <p:spPr>
          <a:xfrm>
            <a:off x="548640" y="5669280"/>
            <a:ext cx="4206240" cy="457200"/>
          </a:xfrm>
          <a:prstGeom prst="rect">
            <a:avLst/>
          </a:prstGeom>
          <a:noFill/>
          <a:ln/>
        </p:spPr>
        <p:txBody>
          <a:bodyPr wrap="square" lIns="0" tIns="0" rIns="0" bIns="0" rtlCol="0" anchor="t"/>
          <a:lstStyle/>
          <a:p>
            <a:pPr marL="0" indent="0">
              <a:buNone/>
            </a:pPr>
            <a:r>
              <a:rPr lang="en-US" sz="1300" dirty="0">
                <a:solidFill>
                  <a:srgbClr val="898781"/>
                </a:solidFill>
                <a:latin typeface="Calibri" pitchFamily="34" charset="0"/>
                <a:ea typeface="Calibri" pitchFamily="34" charset="-122"/>
                <a:cs typeface="Calibri" pitchFamily="34" charset="-120"/>
              </a:rPr>
              <a:t>Штраф за малую выборку 1/(N + 1): при N = 5 — 1/6, при N = 29 — 1/30</a:t>
            </a:r>
            <a:endParaRPr lang="en-US" sz="1300" dirty="0"/>
          </a:p>
        </p:txBody>
      </p:sp>
      <p:graphicFrame>
        <p:nvGraphicFramePr>
          <p:cNvPr id="10" name="Chart 0"/>
          <p:cNvGraphicFramePr/>
          <p:nvPr/>
        </p:nvGraphicFramePr>
        <p:xfrm>
          <a:off x="5074920" y="1463040"/>
          <a:ext cx="6568135" cy="4572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2 · КОНТРОЛЬ</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Проверка на честность: при равной надёжности</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14 / 17</a:t>
            </a:r>
            <a:endParaRPr lang="en-US" sz="1000" dirty="0"/>
          </a:p>
        </p:txBody>
      </p:sp>
      <p:graphicFrame>
        <p:nvGraphicFramePr>
          <p:cNvPr id="5" name="Chart 0"/>
          <p:cNvGraphicFramePr/>
          <p:nvPr/>
        </p:nvGraphicFramePr>
        <p:xfrm>
          <a:off x="548640" y="1463040"/>
          <a:ext cx="649224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600200"/>
            <a:ext cx="4236415" cy="1463040"/>
          </a:xfrm>
          <a:prstGeom prst="roundRect">
            <a:avLst>
              <a:gd name="adj" fmla="val 5000"/>
            </a:avLst>
          </a:prstGeom>
          <a:solidFill>
            <a:srgbClr val="F2F3F5"/>
          </a:solidFill>
          <a:ln w="9525">
            <a:solidFill>
              <a:srgbClr val="F2F3F5"/>
            </a:solidFill>
            <a:prstDash val="solid"/>
          </a:ln>
        </p:spPr>
      </p:sp>
      <p:sp>
        <p:nvSpPr>
          <p:cNvPr id="7" name="Text 4"/>
          <p:cNvSpPr txBox="1"/>
          <p:nvPr/>
        </p:nvSpPr>
        <p:spPr>
          <a:xfrm>
            <a:off x="7635240" y="1709928"/>
            <a:ext cx="3779215" cy="1280160"/>
          </a:xfrm>
          <a:prstGeom prst="rect">
            <a:avLst/>
          </a:prstGeom>
          <a:noFill/>
          <a:ln/>
        </p:spPr>
        <p:txBody>
          <a:bodyPr wrap="square" lIns="0" tIns="0" rIns="0" bIns="0" rtlCol="0" anchor="t"/>
          <a:lstStyle/>
          <a:p>
            <a:pPr marL="0" indent="0">
              <a:spcAft>
                <a:spcPts val="200"/>
              </a:spcAft>
              <a:buNone/>
            </a:pPr>
            <a:r>
              <a:rPr lang="en-US" sz="1500" b="1" dirty="0">
                <a:solidFill>
                  <a:srgbClr val="141A23"/>
                </a:solidFill>
                <a:latin typeface="Calibri" pitchFamily="34" charset="0"/>
                <a:ea typeface="Calibri" pitchFamily="34" charset="-122"/>
                <a:cs typeface="Calibri" pitchFamily="34" charset="-120"/>
              </a:rPr>
              <a:t>Обе держат цель у 30 из 30</a:t>
            </a:r>
            <a:endParaRPr lang="en-US" sz="1500" dirty="0"/>
          </a:p>
          <a:p>
            <a:pPr marL="0" indent="0">
              <a:spcAft>
                <a:spcPts val="200"/>
              </a:spcAft>
              <a:buNone/>
            </a:pPr>
            <a:r>
              <a:rPr lang="en-US" sz="1500" dirty="0">
                <a:solidFill>
                  <a:srgbClr val="52514E"/>
                </a:solidFill>
                <a:latin typeface="Calibri" pitchFamily="34" charset="0"/>
                <a:ea typeface="Calibri" pitchFamily="34" charset="-122"/>
                <a:cs typeface="Calibri" pitchFamily="34" charset="-120"/>
              </a:rPr>
              <a:t>старая, цель 97%: отсев </a:t>
            </a:r>
            <a:r>
              <a:rPr lang="en-US" sz="1500" b="1" dirty="0">
                <a:solidFill>
                  <a:srgbClr val="141A23"/>
                </a:solidFill>
                <a:latin typeface="Calibri" pitchFamily="34" charset="0"/>
                <a:ea typeface="Calibri" pitchFamily="34" charset="-122"/>
                <a:cs typeface="Calibri" pitchFamily="34" charset="-120"/>
              </a:rPr>
              <a:t>14,5%</a:t>
            </a:r>
            <a:endParaRPr lang="en-US" sz="1500" dirty="0"/>
          </a:p>
          <a:p>
            <a:pPr marL="0" indent="0">
              <a:spcAft>
                <a:spcPts val="200"/>
              </a:spcAft>
              <a:buNone/>
            </a:pPr>
            <a:r>
              <a:rPr lang="en-US" sz="1500" dirty="0">
                <a:solidFill>
                  <a:srgbClr val="52514E"/>
                </a:solidFill>
                <a:latin typeface="Calibri" pitchFamily="34" charset="0"/>
                <a:ea typeface="Calibri" pitchFamily="34" charset="-122"/>
                <a:cs typeface="Calibri" pitchFamily="34" charset="-120"/>
              </a:rPr>
              <a:t>контроль риска, цель 95%: отсев </a:t>
            </a:r>
            <a:r>
              <a:rPr lang="en-US" sz="1500" b="1" dirty="0">
                <a:solidFill>
                  <a:srgbClr val="EB6834"/>
                </a:solidFill>
                <a:latin typeface="Calibri" pitchFamily="34" charset="0"/>
                <a:ea typeface="Calibri" pitchFamily="34" charset="-122"/>
                <a:cs typeface="Calibri" pitchFamily="34" charset="-120"/>
              </a:rPr>
              <a:t>9,3%</a:t>
            </a:r>
            <a:endParaRPr lang="en-US" sz="1500" dirty="0"/>
          </a:p>
          <a:p>
            <a:pPr marL="0" indent="0">
              <a:spcAft>
                <a:spcPts val="200"/>
              </a:spcAft>
              <a:buNone/>
            </a:pPr>
            <a:r>
              <a:rPr lang="en-US" sz="1500" b="1" dirty="0">
                <a:solidFill>
                  <a:srgbClr val="141A23"/>
                </a:solidFill>
                <a:latin typeface="Calibri" pitchFamily="34" charset="0"/>
                <a:ea typeface="Calibri" pitchFamily="34" charset="-122"/>
                <a:cs typeface="Calibri" pitchFamily="34" charset="-120"/>
              </a:rPr>
              <a:t>Лежит на той же кривой — не эффективнее</a:t>
            </a:r>
            <a:endParaRPr lang="en-US" sz="1500" dirty="0"/>
          </a:p>
        </p:txBody>
      </p:sp>
      <p:sp>
        <p:nvSpPr>
          <p:cNvPr id="8" name="Text 5"/>
          <p:cNvSpPr txBox="1"/>
          <p:nvPr/>
        </p:nvSpPr>
        <p:spPr>
          <a:xfrm>
            <a:off x="7406640" y="3291840"/>
            <a:ext cx="4236415" cy="731520"/>
          </a:xfrm>
          <a:prstGeom prst="rect">
            <a:avLst/>
          </a:prstGeom>
          <a:noFill/>
          <a:ln/>
        </p:spPr>
        <p:txBody>
          <a:bodyPr wrap="square" lIns="0" tIns="0" rIns="0" bIns="0" rtlCol="0" anchor="t"/>
          <a:lstStyle/>
          <a:p>
            <a:pPr marL="0" indent="0">
              <a:buNone/>
            </a:pPr>
            <a:r>
              <a:rPr lang="en-US" sz="4000" b="1" dirty="0">
                <a:solidFill>
                  <a:srgbClr val="2A78D6"/>
                </a:solidFill>
                <a:latin typeface="Calibri" pitchFamily="34" charset="0"/>
                <a:ea typeface="Calibri" pitchFamily="34" charset="-122"/>
                <a:cs typeface="Calibri" pitchFamily="34" charset="-120"/>
              </a:rPr>
              <a:t>0,98276</a:t>
            </a:r>
            <a:endParaRPr lang="en-US" sz="4000" dirty="0"/>
          </a:p>
        </p:txBody>
      </p:sp>
      <p:sp>
        <p:nvSpPr>
          <p:cNvPr id="9" name="Text 6"/>
          <p:cNvSpPr txBox="1"/>
          <p:nvPr/>
        </p:nvSpPr>
        <p:spPr>
          <a:xfrm>
            <a:off x="7406640" y="4023360"/>
            <a:ext cx="4236415" cy="1371600"/>
          </a:xfrm>
          <a:prstGeom prst="rect">
            <a:avLst/>
          </a:prstGeom>
          <a:noFill/>
          <a:ln/>
        </p:spPr>
        <p:txBody>
          <a:bodyPr wrap="square" lIns="0" tIns="0" rIns="0" bIns="0" rtlCol="0" anchor="t"/>
          <a:lstStyle/>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эффективная чувствительность по формуле</a:t>
            </a:r>
            <a:endParaRPr lang="en-US" sz="1400" dirty="0"/>
          </a:p>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1 − [α(N+1) − B] / N</a:t>
            </a:r>
            <a:endParaRPr lang="en-US" sz="1400" dirty="0"/>
          </a:p>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измерено: </a:t>
            </a:r>
            <a:r>
              <a:rPr lang="en-US" sz="1400" b="1" dirty="0">
                <a:solidFill>
                  <a:srgbClr val="141A23"/>
                </a:solidFill>
                <a:latin typeface="Calibri" pitchFamily="34" charset="0"/>
                <a:ea typeface="Calibri" pitchFamily="34" charset="-122"/>
                <a:cs typeface="Calibri" pitchFamily="34" charset="-120"/>
              </a:rPr>
              <a:t>0,98276</a:t>
            </a:r>
            <a:endParaRPr lang="en-US" sz="1400" dirty="0"/>
          </a:p>
          <a:p>
            <a:pPr marL="0" indent="0">
              <a:spcAft>
                <a:spcPts val="200"/>
              </a:spcAft>
              <a:buNone/>
            </a:pPr>
            <a:r>
              <a:rPr lang="en-US" sz="1400" dirty="0">
                <a:solidFill>
                  <a:srgbClr val="52514E"/>
                </a:solidFill>
                <a:latin typeface="Calibri" pitchFamily="34" charset="0"/>
                <a:ea typeface="Calibri" pitchFamily="34" charset="-122"/>
                <a:cs typeface="Calibri" pitchFamily="34" charset="-120"/>
              </a:rPr>
              <a:t>67% бюджета ошибки уходит на поправку за размер выборки</a:t>
            </a:r>
            <a:endParaRPr lang="en-US" sz="1400" dirty="0"/>
          </a:p>
        </p:txBody>
      </p:sp>
      <p:sp>
        <p:nvSpPr>
          <p:cNvPr id="10" name="Text 7"/>
          <p:cNvSpPr txBox="1"/>
          <p:nvPr/>
        </p:nvSpPr>
        <p:spPr>
          <a:xfrm>
            <a:off x="7406640" y="5440680"/>
            <a:ext cx="4236415" cy="640080"/>
          </a:xfrm>
          <a:prstGeom prst="rect">
            <a:avLst/>
          </a:prstGeom>
          <a:noFill/>
          <a:ln/>
        </p:spPr>
        <p:txBody>
          <a:bodyPr wrap="square" lIns="0" tIns="0" rIns="0" bIns="0" rtlCol="0" anchor="t"/>
          <a:lstStyle/>
          <a:p>
            <a:pPr marL="0" indent="0">
              <a:buNone/>
            </a:pPr>
            <a:r>
              <a:rPr lang="en-US" sz="1500" b="1" dirty="0">
                <a:solidFill>
                  <a:srgbClr val="141A23"/>
                </a:solidFill>
                <a:latin typeface="Calibri" pitchFamily="34" charset="0"/>
                <a:ea typeface="Calibri" pitchFamily="34" charset="-122"/>
                <a:cs typeface="Calibri" pitchFamily="34" charset="-120"/>
              </a:rPr>
              <a:t>Ценность метода — надёжная точка сама собой, без подгонки по отложенным данным</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СТАТЬЯ 2 · ИТОГ</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Что даёт вторая статья и где её пределы</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15 / 17</a:t>
            </a:r>
            <a:endParaRPr lang="en-US" sz="1000" dirty="0"/>
          </a:p>
        </p:txBody>
      </p:sp>
      <p:sp>
        <p:nvSpPr>
          <p:cNvPr id="5" name="Shape 3"/>
          <p:cNvSpPr/>
          <p:nvPr/>
        </p:nvSpPr>
        <p:spPr>
          <a:xfrm>
            <a:off x="548640" y="1600200"/>
            <a:ext cx="5349240" cy="3931920"/>
          </a:xfrm>
          <a:prstGeom prst="roundRect">
            <a:avLst>
              <a:gd name="adj" fmla="val 1860"/>
            </a:avLst>
          </a:prstGeom>
          <a:solidFill>
            <a:srgbClr val="EAF2FC"/>
          </a:solidFill>
          <a:ln w="9525">
            <a:solidFill>
              <a:srgbClr val="EAF2FC"/>
            </a:solidFill>
            <a:prstDash val="solid"/>
          </a:ln>
        </p:spPr>
      </p:sp>
      <p:sp>
        <p:nvSpPr>
          <p:cNvPr id="6" name="Text 4"/>
          <p:cNvSpPr txBox="1"/>
          <p:nvPr/>
        </p:nvSpPr>
        <p:spPr>
          <a:xfrm>
            <a:off x="822960" y="1828800"/>
            <a:ext cx="4800600" cy="411480"/>
          </a:xfrm>
          <a:prstGeom prst="rect">
            <a:avLst/>
          </a:prstGeom>
          <a:noFill/>
          <a:ln/>
        </p:spPr>
        <p:txBody>
          <a:bodyPr wrap="square" lIns="0" tIns="0" rIns="0" bIns="0" rtlCol="0" anchor="t"/>
          <a:lstStyle/>
          <a:p>
            <a:pPr marL="0" indent="0">
              <a:buNone/>
            </a:pPr>
            <a:r>
              <a:rPr lang="en-US" sz="2000" b="1" dirty="0">
                <a:solidFill>
                  <a:srgbClr val="141A23"/>
                </a:solidFill>
                <a:latin typeface="Calibri" pitchFamily="34" charset="0"/>
                <a:ea typeface="Calibri" pitchFamily="34" charset="-122"/>
                <a:cs typeface="Calibri" pitchFamily="34" charset="-120"/>
              </a:rPr>
              <a:t>Что получено</a:t>
            </a:r>
            <a:endParaRPr lang="en-US" sz="2000" dirty="0"/>
          </a:p>
        </p:txBody>
      </p:sp>
      <p:sp>
        <p:nvSpPr>
          <p:cNvPr id="7" name="Shape 5"/>
          <p:cNvSpPr/>
          <p:nvPr/>
        </p:nvSpPr>
        <p:spPr>
          <a:xfrm>
            <a:off x="822960" y="2459736"/>
            <a:ext cx="365760" cy="365760"/>
          </a:xfrm>
          <a:prstGeom prst="ellipse">
            <a:avLst/>
          </a:prstGeom>
          <a:solidFill>
            <a:srgbClr val="2A78D6"/>
          </a:solidFill>
          <a:ln w="15875">
            <a:solidFill>
              <a:srgbClr val="2A78D6"/>
            </a:solidFill>
            <a:prstDash val="solid"/>
          </a:ln>
        </p:spPr>
      </p:sp>
      <p:sp>
        <p:nvSpPr>
          <p:cNvPr id="8" name="Text 6"/>
          <p:cNvSpPr txBox="1"/>
          <p:nvPr/>
        </p:nvSpPr>
        <p:spPr>
          <a:xfrm>
            <a:off x="822960" y="245973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371600" y="2423160"/>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Формула рабочей точки 1 − [α(N+1) − B] / N — совпала с измерением до пятого знака</a:t>
            </a:r>
            <a:endParaRPr lang="en-US" sz="1600" dirty="0"/>
          </a:p>
        </p:txBody>
      </p:sp>
      <p:sp>
        <p:nvSpPr>
          <p:cNvPr id="10" name="Shape 8"/>
          <p:cNvSpPr/>
          <p:nvPr/>
        </p:nvSpPr>
        <p:spPr>
          <a:xfrm>
            <a:off x="822960" y="3483864"/>
            <a:ext cx="365760" cy="365760"/>
          </a:xfrm>
          <a:prstGeom prst="ellipse">
            <a:avLst/>
          </a:prstGeom>
          <a:solidFill>
            <a:srgbClr val="2A78D6"/>
          </a:solidFill>
          <a:ln w="15875">
            <a:solidFill>
              <a:srgbClr val="2A78D6"/>
            </a:solidFill>
            <a:prstDash val="solid"/>
          </a:ln>
        </p:spPr>
      </p:sp>
      <p:sp>
        <p:nvSpPr>
          <p:cNvPr id="11" name="Text 9"/>
          <p:cNvSpPr txBox="1"/>
          <p:nvPr/>
        </p:nvSpPr>
        <p:spPr>
          <a:xfrm>
            <a:off x="822960" y="34838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371600" y="3447288"/>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Граница N / (N + 1): при 6 людях на группу гарантия 95% невозможна</a:t>
            </a:r>
            <a:endParaRPr lang="en-US" sz="1600" dirty="0"/>
          </a:p>
        </p:txBody>
      </p:sp>
      <p:sp>
        <p:nvSpPr>
          <p:cNvPr id="13" name="Shape 11"/>
          <p:cNvSpPr/>
          <p:nvPr/>
        </p:nvSpPr>
        <p:spPr>
          <a:xfrm>
            <a:off x="822960" y="4507992"/>
            <a:ext cx="365760" cy="365760"/>
          </a:xfrm>
          <a:prstGeom prst="ellipse">
            <a:avLst/>
          </a:prstGeom>
          <a:solidFill>
            <a:srgbClr val="2A78D6"/>
          </a:solidFill>
          <a:ln w="15875">
            <a:solidFill>
              <a:srgbClr val="2A78D6"/>
            </a:solidFill>
            <a:prstDash val="solid"/>
          </a:ln>
        </p:spPr>
      </p:sp>
      <p:sp>
        <p:nvSpPr>
          <p:cNvPr id="14" name="Text 12"/>
          <p:cNvSpPr txBox="1"/>
          <p:nvPr/>
        </p:nvSpPr>
        <p:spPr>
          <a:xfrm>
            <a:off x="822960" y="450799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371600" y="4471416"/>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Контроль при равной надёжности: без него сравнение с эвристикой некорректно</a:t>
            </a:r>
            <a:endParaRPr lang="en-US" sz="1600" dirty="0"/>
          </a:p>
        </p:txBody>
      </p:sp>
      <p:sp>
        <p:nvSpPr>
          <p:cNvPr id="16" name="Shape 14"/>
          <p:cNvSpPr/>
          <p:nvPr/>
        </p:nvSpPr>
        <p:spPr>
          <a:xfrm>
            <a:off x="6263640" y="1600200"/>
            <a:ext cx="5349240" cy="3931920"/>
          </a:xfrm>
          <a:prstGeom prst="roundRect">
            <a:avLst>
              <a:gd name="adj" fmla="val 1860"/>
            </a:avLst>
          </a:prstGeom>
          <a:solidFill>
            <a:srgbClr val="F2F3F5"/>
          </a:solidFill>
          <a:ln w="9525">
            <a:solidFill>
              <a:srgbClr val="F2F3F5"/>
            </a:solidFill>
            <a:prstDash val="solid"/>
          </a:ln>
        </p:spPr>
      </p:sp>
      <p:sp>
        <p:nvSpPr>
          <p:cNvPr id="17" name="Text 15"/>
          <p:cNvSpPr txBox="1"/>
          <p:nvPr/>
        </p:nvSpPr>
        <p:spPr>
          <a:xfrm>
            <a:off x="6537960" y="1828800"/>
            <a:ext cx="4800600" cy="411480"/>
          </a:xfrm>
          <a:prstGeom prst="rect">
            <a:avLst/>
          </a:prstGeom>
          <a:noFill/>
          <a:ln/>
        </p:spPr>
        <p:txBody>
          <a:bodyPr wrap="square" lIns="0" tIns="0" rIns="0" bIns="0" rtlCol="0" anchor="t"/>
          <a:lstStyle/>
          <a:p>
            <a:pPr marL="0" indent="0">
              <a:buNone/>
            </a:pPr>
            <a:r>
              <a:rPr lang="en-US" sz="2000" b="1" dirty="0">
                <a:solidFill>
                  <a:srgbClr val="141A23"/>
                </a:solidFill>
                <a:latin typeface="Calibri" pitchFamily="34" charset="0"/>
                <a:ea typeface="Calibri" pitchFamily="34" charset="-122"/>
                <a:cs typeface="Calibri" pitchFamily="34" charset="-120"/>
              </a:rPr>
              <a:t>Ограничения</a:t>
            </a:r>
            <a:endParaRPr lang="en-US" sz="2000" dirty="0"/>
          </a:p>
        </p:txBody>
      </p:sp>
      <p:sp>
        <p:nvSpPr>
          <p:cNvPr id="18" name="Shape 16"/>
          <p:cNvSpPr/>
          <p:nvPr/>
        </p:nvSpPr>
        <p:spPr>
          <a:xfrm>
            <a:off x="6537960" y="2459736"/>
            <a:ext cx="365760" cy="365760"/>
          </a:xfrm>
          <a:prstGeom prst="ellipse">
            <a:avLst/>
          </a:prstGeom>
          <a:solidFill>
            <a:srgbClr val="52514E"/>
          </a:solidFill>
          <a:ln w="15875">
            <a:solidFill>
              <a:srgbClr val="52514E"/>
            </a:solidFill>
            <a:prstDash val="solid"/>
          </a:ln>
        </p:spPr>
      </p:sp>
      <p:sp>
        <p:nvSpPr>
          <p:cNvPr id="19" name="Text 17"/>
          <p:cNvSpPr txBox="1"/>
          <p:nvPr/>
        </p:nvSpPr>
        <p:spPr>
          <a:xfrm>
            <a:off x="6537960" y="245973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8"/>
          <p:cNvSpPr txBox="1"/>
          <p:nvPr/>
        </p:nvSpPr>
        <p:spPr>
          <a:xfrm>
            <a:off x="7086600" y="2423160"/>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Группа из 30 человек использовалась многократно, без предрегистрации — в статье это будет сказано прямо</a:t>
            </a:r>
            <a:endParaRPr lang="en-US" sz="1600" dirty="0"/>
          </a:p>
        </p:txBody>
      </p:sp>
      <p:sp>
        <p:nvSpPr>
          <p:cNvPr id="21" name="Shape 19"/>
          <p:cNvSpPr/>
          <p:nvPr/>
        </p:nvSpPr>
        <p:spPr>
          <a:xfrm>
            <a:off x="6537960" y="3483864"/>
            <a:ext cx="365760" cy="365760"/>
          </a:xfrm>
          <a:prstGeom prst="ellipse">
            <a:avLst/>
          </a:prstGeom>
          <a:solidFill>
            <a:srgbClr val="52514E"/>
          </a:solidFill>
          <a:ln w="15875">
            <a:solidFill>
              <a:srgbClr val="52514E"/>
            </a:solidFill>
            <a:prstDash val="solid"/>
          </a:ln>
        </p:spPr>
      </p:sp>
      <p:sp>
        <p:nvSpPr>
          <p:cNvPr id="22" name="Text 20"/>
          <p:cNvSpPr txBox="1"/>
          <p:nvPr/>
        </p:nvSpPr>
        <p:spPr>
          <a:xfrm>
            <a:off x="6537960" y="34838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txBox="1"/>
          <p:nvPr/>
        </p:nvSpPr>
        <p:spPr>
          <a:xfrm>
            <a:off x="7086600" y="3447288"/>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Гарантия действует в среднем по новым людям, а не для каждого человека</a:t>
            </a:r>
            <a:endParaRPr lang="en-US" sz="1600" dirty="0"/>
          </a:p>
        </p:txBody>
      </p:sp>
      <p:sp>
        <p:nvSpPr>
          <p:cNvPr id="24" name="Shape 22"/>
          <p:cNvSpPr/>
          <p:nvPr/>
        </p:nvSpPr>
        <p:spPr>
          <a:xfrm>
            <a:off x="6537960" y="4507992"/>
            <a:ext cx="365760" cy="365760"/>
          </a:xfrm>
          <a:prstGeom prst="ellipse">
            <a:avLst/>
          </a:prstGeom>
          <a:solidFill>
            <a:srgbClr val="52514E"/>
          </a:solidFill>
          <a:ln w="15875">
            <a:solidFill>
              <a:srgbClr val="52514E"/>
            </a:solidFill>
            <a:prstDash val="solid"/>
          </a:ln>
        </p:spPr>
      </p:sp>
      <p:sp>
        <p:nvSpPr>
          <p:cNvPr id="25" name="Text 23"/>
          <p:cNvSpPr txBox="1"/>
          <p:nvPr/>
        </p:nvSpPr>
        <p:spPr>
          <a:xfrm>
            <a:off x="6537960" y="450799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7086600" y="4471416"/>
            <a:ext cx="4251960" cy="914400"/>
          </a:xfrm>
          <a:prstGeom prst="rect">
            <a:avLst/>
          </a:prstGeom>
          <a:noFill/>
          <a:ln/>
        </p:spPr>
        <p:txBody>
          <a:bodyPr wrap="square" lIns="0" tIns="0" rIns="0" bIns="0" rtlCol="0" anchor="t"/>
          <a:lstStyle/>
          <a:p>
            <a:pPr marL="0" indent="0">
              <a:buNone/>
            </a:pPr>
            <a:r>
              <a:rPr lang="en-US" sz="1600" dirty="0">
                <a:solidFill>
                  <a:srgbClr val="141A23"/>
                </a:solidFill>
                <a:latin typeface="Calibri" pitchFamily="34" charset="0"/>
                <a:ea typeface="Calibri" pitchFamily="34" charset="-122"/>
                <a:cs typeface="Calibri" pitchFamily="34" charset="-120"/>
              </a:rPr>
              <a:t>Метод не новый: контроль риска уже применяли в геномике (классификатор лейкозов ALLCoP). Новое — поведение при малых N</a:t>
            </a:r>
            <a:endParaRPr lang="en-US" sz="1600" dirty="0"/>
          </a:p>
        </p:txBody>
      </p:sp>
      <p:sp>
        <p:nvSpPr>
          <p:cNvPr id="27" name="Text 25"/>
          <p:cNvSpPr txBox="1"/>
          <p:nvPr/>
        </p:nvSpPr>
        <p:spPr>
          <a:xfrm>
            <a:off x="548640" y="5715000"/>
            <a:ext cx="7315200" cy="365760"/>
          </a:xfrm>
          <a:prstGeom prst="rect">
            <a:avLst/>
          </a:prstGeom>
          <a:noFill/>
          <a:ln/>
        </p:spPr>
        <p:txBody>
          <a:bodyPr wrap="square" lIns="0" tIns="0" rIns="0" bIns="0" rtlCol="0" anchor="t"/>
          <a:lstStyle/>
          <a:p>
            <a:pPr marL="0" indent="0">
              <a:buNone/>
            </a:pPr>
            <a:r>
              <a:rPr lang="en-US" sz="1500" b="1" dirty="0">
                <a:solidFill>
                  <a:srgbClr val="52514E"/>
                </a:solidFill>
                <a:latin typeface="Calibri" pitchFamily="34" charset="0"/>
                <a:ea typeface="Calibri" pitchFamily="34" charset="-122"/>
                <a:cs typeface="Calibri" pitchFamily="34" charset="-120"/>
              </a:rPr>
              <a:t>Статус: вычисления выполнены, пишется текст статьи</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200" b="1" kern="0" spc="200" dirty="0">
                <a:solidFill>
                  <a:srgbClr val="898781"/>
                </a:solidFill>
                <a:latin typeface="Calibri" pitchFamily="34" charset="0"/>
                <a:ea typeface="Calibri" pitchFamily="34" charset="-122"/>
                <a:cs typeface="Calibri" pitchFamily="34" charset="-120"/>
              </a:rPr>
              <a:t>ПЛАНЫ</a:t>
            </a:r>
            <a:endParaRPr lang="en-US" sz="1200" dirty="0"/>
          </a:p>
        </p:txBody>
      </p:sp>
      <p:sp>
        <p:nvSpPr>
          <p:cNvPr id="3" name="Text 1"/>
          <p:cNvSpPr txBox="1"/>
          <p:nvPr/>
        </p:nvSpPr>
        <p:spPr>
          <a:xfrm>
            <a:off x="548640" y="585216"/>
            <a:ext cx="11094415" cy="658368"/>
          </a:xfrm>
          <a:prstGeom prst="rect">
            <a:avLst/>
          </a:prstGeom>
          <a:noFill/>
          <a:ln/>
        </p:spPr>
        <p:txBody>
          <a:bodyPr wrap="square" lIns="0" tIns="0" rIns="0" bIns="0" rtlCol="0" anchor="t"/>
          <a:lstStyle/>
          <a:p>
            <a:pPr marL="0" indent="0">
              <a:buNone/>
            </a:pPr>
            <a:r>
              <a:rPr lang="en-US" sz="3000" b="1" dirty="0">
                <a:solidFill>
                  <a:srgbClr val="141A23"/>
                </a:solidFill>
                <a:latin typeface="Cambria" pitchFamily="34" charset="0"/>
                <a:ea typeface="Cambria" pitchFamily="34" charset="-122"/>
                <a:cs typeface="Cambria" pitchFamily="34" charset="-120"/>
              </a:rPr>
              <a:t>Дальше: генотип и доза вместо «есть / нет»</a:t>
            </a:r>
            <a:endParaRPr lang="en-US" sz="3000" dirty="0"/>
          </a:p>
        </p:txBody>
      </p:sp>
      <p:sp>
        <p:nvSpPr>
          <p:cNvPr id="4" name="Text 2"/>
          <p:cNvSpPr txBox="1"/>
          <p:nvPr/>
        </p:nvSpPr>
        <p:spPr>
          <a:xfrm>
            <a:off x="10545775" y="6473952"/>
            <a:ext cx="1097280" cy="237744"/>
          </a:xfrm>
          <a:prstGeom prst="rect">
            <a:avLst/>
          </a:prstGeom>
          <a:noFill/>
          <a:ln/>
        </p:spPr>
        <p:txBody>
          <a:bodyPr wrap="square" lIns="0" tIns="0" rIns="0" bIns="0" rtlCol="0" anchor="ctr"/>
          <a:lstStyle/>
          <a:p>
            <a:pPr marL="0" indent="0" algn="r">
              <a:buNone/>
            </a:pPr>
            <a:r>
              <a:rPr lang="en-US" sz="1000" dirty="0">
                <a:solidFill>
                  <a:srgbClr val="898781"/>
                </a:solidFill>
                <a:latin typeface="Calibri" pitchFamily="34" charset="0"/>
                <a:ea typeface="Calibri" pitchFamily="34" charset="-122"/>
                <a:cs typeface="Calibri" pitchFamily="34" charset="-120"/>
              </a:rPr>
              <a:t>16 / 17</a:t>
            </a:r>
            <a:endParaRPr lang="en-US" sz="1000" dirty="0"/>
          </a:p>
        </p:txBody>
      </p:sp>
      <p:sp>
        <p:nvSpPr>
          <p:cNvPr id="5" name="Shape 3"/>
          <p:cNvSpPr/>
          <p:nvPr/>
        </p:nvSpPr>
        <p:spPr>
          <a:xfrm>
            <a:off x="548640" y="1645920"/>
            <a:ext cx="3429000" cy="2788920"/>
          </a:xfrm>
          <a:prstGeom prst="roundRect">
            <a:avLst>
              <a:gd name="adj" fmla="val 2623"/>
            </a:avLst>
          </a:prstGeom>
          <a:solidFill>
            <a:srgbClr val="F2F3F5"/>
          </a:solidFill>
          <a:ln w="9525">
            <a:solidFill>
              <a:srgbClr val="F2F3F5"/>
            </a:solidFill>
            <a:prstDash val="solid"/>
          </a:ln>
        </p:spPr>
      </p:sp>
      <p:sp>
        <p:nvSpPr>
          <p:cNvPr id="6" name="Shape 4"/>
          <p:cNvSpPr/>
          <p:nvPr/>
        </p:nvSpPr>
        <p:spPr>
          <a:xfrm>
            <a:off x="822960" y="1920240"/>
            <a:ext cx="502920" cy="502920"/>
          </a:xfrm>
          <a:prstGeom prst="ellipse">
            <a:avLst/>
          </a:prstGeom>
          <a:solidFill>
            <a:srgbClr val="0F1C2E"/>
          </a:solidFill>
          <a:ln w="15875">
            <a:solidFill>
              <a:srgbClr val="0F1C2E"/>
            </a:solidFill>
            <a:prstDash val="solid"/>
          </a:ln>
        </p:spPr>
      </p:sp>
      <p:sp>
        <p:nvSpPr>
          <p:cNvPr id="7" name="Text 5"/>
          <p:cNvSpPr txBox="1"/>
          <p:nvPr/>
        </p:nvSpPr>
        <p:spPr>
          <a:xfrm>
            <a:off x="82296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822960" y="2606040"/>
            <a:ext cx="2880360" cy="411480"/>
          </a:xfrm>
          <a:prstGeom prst="rect">
            <a:avLst/>
          </a:prstGeom>
          <a:noFill/>
          <a:ln/>
        </p:spPr>
        <p:txBody>
          <a:bodyPr wrap="square" lIns="0" tIns="0" rIns="0" bIns="0" rtlCol="0" anchor="t"/>
          <a:lstStyle/>
          <a:p>
            <a:pPr marL="0" indent="0">
              <a:buNone/>
            </a:pPr>
            <a:r>
              <a:rPr lang="en-US" sz="1900" b="1" dirty="0">
                <a:solidFill>
                  <a:srgbClr val="141A23"/>
                </a:solidFill>
                <a:latin typeface="Calibri" pitchFamily="34" charset="0"/>
                <a:ea typeface="Calibri" pitchFamily="34" charset="-122"/>
                <a:cs typeface="Calibri" pitchFamily="34" charset="-120"/>
              </a:rPr>
              <a:t>Генотип</a:t>
            </a:r>
            <a:endParaRPr lang="en-US" sz="1900" dirty="0"/>
          </a:p>
        </p:txBody>
      </p:sp>
      <p:sp>
        <p:nvSpPr>
          <p:cNvPr id="9" name="Text 7"/>
          <p:cNvSpPr txBox="1"/>
          <p:nvPr/>
        </p:nvSpPr>
        <p:spPr>
          <a:xfrm>
            <a:off x="822960" y="3090672"/>
            <a:ext cx="2880360" cy="1216152"/>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Различать одну и две копии делеции (0/1 и 1/1). Метки уже есть в данных PanGenie.</a:t>
            </a:r>
            <a:endParaRPr lang="en-US" sz="1500" dirty="0"/>
          </a:p>
        </p:txBody>
      </p:sp>
      <p:sp>
        <p:nvSpPr>
          <p:cNvPr id="10" name="Shape 8"/>
          <p:cNvSpPr/>
          <p:nvPr/>
        </p:nvSpPr>
        <p:spPr>
          <a:xfrm>
            <a:off x="4366260" y="1645920"/>
            <a:ext cx="3429000" cy="2788920"/>
          </a:xfrm>
          <a:prstGeom prst="roundRect">
            <a:avLst>
              <a:gd name="adj" fmla="val 2623"/>
            </a:avLst>
          </a:prstGeom>
          <a:solidFill>
            <a:srgbClr val="F2F3F5"/>
          </a:solidFill>
          <a:ln w="9525">
            <a:solidFill>
              <a:srgbClr val="F2F3F5"/>
            </a:solidFill>
            <a:prstDash val="solid"/>
          </a:ln>
        </p:spPr>
      </p:sp>
      <p:sp>
        <p:nvSpPr>
          <p:cNvPr id="11" name="Shape 9"/>
          <p:cNvSpPr/>
          <p:nvPr/>
        </p:nvSpPr>
        <p:spPr>
          <a:xfrm>
            <a:off x="4640580" y="1920240"/>
            <a:ext cx="502920" cy="502920"/>
          </a:xfrm>
          <a:prstGeom prst="ellipse">
            <a:avLst/>
          </a:prstGeom>
          <a:solidFill>
            <a:srgbClr val="0F1C2E"/>
          </a:solidFill>
          <a:ln w="15875">
            <a:solidFill>
              <a:srgbClr val="0F1C2E"/>
            </a:solidFill>
            <a:prstDash val="solid"/>
          </a:ln>
        </p:spPr>
      </p:sp>
      <p:sp>
        <p:nvSpPr>
          <p:cNvPr id="12" name="Text 10"/>
          <p:cNvSpPr txBox="1"/>
          <p:nvPr/>
        </p:nvSpPr>
        <p:spPr>
          <a:xfrm>
            <a:off x="464058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4640580" y="2606040"/>
            <a:ext cx="2880360" cy="411480"/>
          </a:xfrm>
          <a:prstGeom prst="rect">
            <a:avLst/>
          </a:prstGeom>
          <a:noFill/>
          <a:ln/>
        </p:spPr>
        <p:txBody>
          <a:bodyPr wrap="square" lIns="0" tIns="0" rIns="0" bIns="0" rtlCol="0" anchor="t"/>
          <a:lstStyle/>
          <a:p>
            <a:pPr marL="0" indent="0">
              <a:buNone/>
            </a:pPr>
            <a:r>
              <a:rPr lang="en-US" sz="1900" b="1" dirty="0">
                <a:solidFill>
                  <a:srgbClr val="141A23"/>
                </a:solidFill>
                <a:latin typeface="Calibri" pitchFamily="34" charset="0"/>
                <a:ea typeface="Calibri" pitchFamily="34" charset="-122"/>
                <a:cs typeface="Calibri" pitchFamily="34" charset="-120"/>
              </a:rPr>
              <a:t>Опора на родителей</a:t>
            </a:r>
            <a:endParaRPr lang="en-US" sz="1900" dirty="0"/>
          </a:p>
        </p:txBody>
      </p:sp>
      <p:sp>
        <p:nvSpPr>
          <p:cNvPr id="14" name="Text 12"/>
          <p:cNvSpPr txBox="1"/>
          <p:nvPr/>
        </p:nvSpPr>
        <p:spPr>
          <a:xfrm>
            <a:off x="4640580" y="3090672"/>
            <a:ext cx="2880360" cy="1216152"/>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Сверка с генотипами родителей: семья HG002–HG004 в GIAB, 602 семьи в 1000 Genomes.</a:t>
            </a:r>
            <a:endParaRPr lang="en-US" sz="1500" dirty="0"/>
          </a:p>
        </p:txBody>
      </p:sp>
      <p:sp>
        <p:nvSpPr>
          <p:cNvPr id="15" name="Shape 13"/>
          <p:cNvSpPr/>
          <p:nvPr/>
        </p:nvSpPr>
        <p:spPr>
          <a:xfrm>
            <a:off x="8183880" y="1645920"/>
            <a:ext cx="3429000" cy="2788920"/>
          </a:xfrm>
          <a:prstGeom prst="roundRect">
            <a:avLst>
              <a:gd name="adj" fmla="val 2623"/>
            </a:avLst>
          </a:prstGeom>
          <a:solidFill>
            <a:srgbClr val="F2F3F5"/>
          </a:solidFill>
          <a:ln w="9525">
            <a:solidFill>
              <a:srgbClr val="F2F3F5"/>
            </a:solidFill>
            <a:prstDash val="solid"/>
          </a:ln>
        </p:spPr>
      </p:sp>
      <p:sp>
        <p:nvSpPr>
          <p:cNvPr id="16" name="Shape 14"/>
          <p:cNvSpPr/>
          <p:nvPr/>
        </p:nvSpPr>
        <p:spPr>
          <a:xfrm>
            <a:off x="8458200" y="1920240"/>
            <a:ext cx="502920" cy="502920"/>
          </a:xfrm>
          <a:prstGeom prst="ellipse">
            <a:avLst/>
          </a:prstGeom>
          <a:solidFill>
            <a:srgbClr val="0F1C2E"/>
          </a:solidFill>
          <a:ln w="15875">
            <a:solidFill>
              <a:srgbClr val="0F1C2E"/>
            </a:solidFill>
            <a:prstDash val="solid"/>
          </a:ln>
        </p:spPr>
      </p:sp>
      <p:sp>
        <p:nvSpPr>
          <p:cNvPr id="17" name="Text 15"/>
          <p:cNvSpPr txBox="1"/>
          <p:nvPr/>
        </p:nvSpPr>
        <p:spPr>
          <a:xfrm>
            <a:off x="845820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8458200" y="2606040"/>
            <a:ext cx="2880360" cy="411480"/>
          </a:xfrm>
          <a:prstGeom prst="rect">
            <a:avLst/>
          </a:prstGeom>
          <a:noFill/>
          <a:ln/>
        </p:spPr>
        <p:txBody>
          <a:bodyPr wrap="square" lIns="0" tIns="0" rIns="0" bIns="0" rtlCol="0" anchor="t"/>
          <a:lstStyle/>
          <a:p>
            <a:pPr marL="0" indent="0">
              <a:buNone/>
            </a:pPr>
            <a:r>
              <a:rPr lang="en-US" sz="1900" b="1" dirty="0">
                <a:solidFill>
                  <a:srgbClr val="141A23"/>
                </a:solidFill>
                <a:latin typeface="Calibri" pitchFamily="34" charset="0"/>
                <a:ea typeface="Calibri" pitchFamily="34" charset="-122"/>
                <a:cs typeface="Calibri" pitchFamily="34" charset="-120"/>
              </a:rPr>
              <a:t>Доза у картофеля</a:t>
            </a:r>
            <a:endParaRPr lang="en-US" sz="1900" dirty="0"/>
          </a:p>
        </p:txBody>
      </p:sp>
      <p:sp>
        <p:nvSpPr>
          <p:cNvPr id="19" name="Text 17"/>
          <p:cNvSpPr txBox="1"/>
          <p:nvPr/>
        </p:nvSpPr>
        <p:spPr>
          <a:xfrm>
            <a:off x="8458200" y="3090672"/>
            <a:ext cx="2880360" cy="1216152"/>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4 копии каждой хромосомы: доза делеции от 0 до 4, проверка по расщеплению у потомков; эталон — сборки сортов Otava, Altus, Désirée.</a:t>
            </a:r>
            <a:endParaRPr lang="en-US" sz="1500" dirty="0"/>
          </a:p>
        </p:txBody>
      </p:sp>
      <p:sp>
        <p:nvSpPr>
          <p:cNvPr id="20" name="Text 18"/>
          <p:cNvSpPr txBox="1"/>
          <p:nvPr/>
        </p:nvSpPr>
        <p:spPr>
          <a:xfrm>
            <a:off x="548640" y="4663440"/>
            <a:ext cx="11094415" cy="640080"/>
          </a:xfrm>
          <a:prstGeom prst="rect">
            <a:avLst/>
          </a:prstGeom>
          <a:noFill/>
          <a:ln/>
        </p:spPr>
        <p:txBody>
          <a:bodyPr wrap="square" lIns="0" tIns="0" rIns="0" bIns="0" rtlCol="0" anchor="t"/>
          <a:lstStyle/>
          <a:p>
            <a:pPr marL="0" indent="0">
              <a:buNone/>
            </a:pPr>
            <a:r>
              <a:rPr lang="en-US" sz="1500" b="1" dirty="0">
                <a:solidFill>
                  <a:srgbClr val="52514E"/>
                </a:solidFill>
                <a:latin typeface="Calibri" pitchFamily="34" charset="0"/>
                <a:ea typeface="Calibri" pitchFamily="34" charset="-122"/>
                <a:cs typeface="Calibri" pitchFamily="34" charset="-120"/>
              </a:rPr>
              <a:t>Уже есть у других: </a:t>
            </a:r>
            <a:r>
              <a:rPr lang="en-US" sz="1500" dirty="0">
                <a:solidFill>
                  <a:srgbClr val="52514E"/>
                </a:solidFill>
                <a:latin typeface="Calibri" pitchFamily="34" charset="0"/>
                <a:ea typeface="Calibri" pitchFamily="34" charset="-122"/>
                <a:cs typeface="Calibri" pitchFamily="34" charset="-120"/>
              </a:rPr>
              <a:t>PSVGT (препринт, 2026) и Varigraph (Molecular Plant, 2025) определяют дозу у полиплоидов — это статистические методы, родителей они не используют.</a:t>
            </a:r>
            <a:endParaRPr lang="en-US" sz="1500" dirty="0"/>
          </a:p>
        </p:txBody>
      </p:sp>
      <p:sp>
        <p:nvSpPr>
          <p:cNvPr id="21" name="Shape 19"/>
          <p:cNvSpPr/>
          <p:nvPr/>
        </p:nvSpPr>
        <p:spPr>
          <a:xfrm>
            <a:off x="548640" y="5394960"/>
            <a:ext cx="11094415" cy="685800"/>
          </a:xfrm>
          <a:prstGeom prst="roundRect">
            <a:avLst>
              <a:gd name="adj" fmla="val 10667"/>
            </a:avLst>
          </a:prstGeom>
          <a:solidFill>
            <a:srgbClr val="FDEEE7"/>
          </a:solidFill>
          <a:ln w="9525">
            <a:solidFill>
              <a:srgbClr val="FDEEE7"/>
            </a:solidFill>
            <a:prstDash val="solid"/>
          </a:ln>
        </p:spPr>
      </p:sp>
      <p:sp>
        <p:nvSpPr>
          <p:cNvPr id="22" name="Text 20"/>
          <p:cNvSpPr txBox="1"/>
          <p:nvPr/>
        </p:nvSpPr>
        <p:spPr>
          <a:xfrm>
            <a:off x="822960" y="5394960"/>
            <a:ext cx="10545775" cy="685800"/>
          </a:xfrm>
          <a:prstGeom prst="rect">
            <a:avLst/>
          </a:prstGeom>
          <a:noFill/>
          <a:ln/>
        </p:spPr>
        <p:txBody>
          <a:bodyPr wrap="square" lIns="0" tIns="0" rIns="0" bIns="0" rtlCol="0" anchor="ctr"/>
          <a:lstStyle/>
          <a:p>
            <a:pPr marL="0" indent="0">
              <a:buNone/>
            </a:pPr>
            <a:r>
              <a:rPr lang="en-US" sz="1600" b="1" dirty="0">
                <a:solidFill>
                  <a:srgbClr val="141A23"/>
                </a:solidFill>
                <a:latin typeface="Calibri" pitchFamily="34" charset="0"/>
                <a:ea typeface="Calibri" pitchFamily="34" charset="-122"/>
                <a:cs typeface="Calibri" pitchFamily="34" charset="-120"/>
              </a:rPr>
              <a:t>Главный открытый вопрос: </a:t>
            </a:r>
            <a:r>
              <a:rPr lang="en-US" sz="1600" dirty="0">
                <a:solidFill>
                  <a:srgbClr val="141A23"/>
                </a:solidFill>
                <a:latin typeface="Calibri" pitchFamily="34" charset="0"/>
                <a:ea typeface="Calibri" pitchFamily="34" charset="-122"/>
                <a:cs typeface="Calibri" pitchFamily="34" charset="-120"/>
              </a:rPr>
              <a:t>есть ли доступ к данным картофеля с родителями и потомками.</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C2E"/>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8229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Итоги</a:t>
            </a:r>
            <a:endParaRPr lang="en-US" sz="4000" dirty="0"/>
          </a:p>
        </p:txBody>
      </p:sp>
      <p:sp>
        <p:nvSpPr>
          <p:cNvPr id="3" name="Shape 1"/>
          <p:cNvSpPr/>
          <p:nvPr/>
        </p:nvSpPr>
        <p:spPr>
          <a:xfrm>
            <a:off x="548640" y="1828800"/>
            <a:ext cx="502920" cy="502920"/>
          </a:xfrm>
          <a:prstGeom prst="ellipse">
            <a:avLst/>
          </a:prstGeom>
          <a:solidFill>
            <a:srgbClr val="EB6834"/>
          </a:solidFill>
          <a:ln w="15875">
            <a:solidFill>
              <a:srgbClr val="EB6834"/>
            </a:solidFill>
            <a:prstDash val="solid"/>
          </a:ln>
        </p:spPr>
      </p:sp>
      <p:sp>
        <p:nvSpPr>
          <p:cNvPr id="4" name="Text 2"/>
          <p:cNvSpPr txBox="1"/>
          <p:nvPr/>
        </p:nvSpPr>
        <p:spPr>
          <a:xfrm>
            <a:off x="54864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325880" y="1645920"/>
            <a:ext cx="9875520" cy="868680"/>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Одного генома недостаточно: вывод, сделанный на HG002, не воспроизвёлся на 30 людях</a:t>
            </a:r>
            <a:endParaRPr lang="en-US" sz="2100" dirty="0"/>
          </a:p>
        </p:txBody>
      </p:sp>
      <p:sp>
        <p:nvSpPr>
          <p:cNvPr id="6" name="Shape 4"/>
          <p:cNvSpPr/>
          <p:nvPr/>
        </p:nvSpPr>
        <p:spPr>
          <a:xfrm>
            <a:off x="548640" y="2907792"/>
            <a:ext cx="502920" cy="502920"/>
          </a:xfrm>
          <a:prstGeom prst="ellipse">
            <a:avLst/>
          </a:prstGeom>
          <a:solidFill>
            <a:srgbClr val="2A78D6"/>
          </a:solidFill>
          <a:ln w="15875">
            <a:solidFill>
              <a:srgbClr val="2A78D6"/>
            </a:solidFill>
            <a:prstDash val="solid"/>
          </a:ln>
        </p:spPr>
      </p:sp>
      <p:sp>
        <p:nvSpPr>
          <p:cNvPr id="7" name="Text 5"/>
          <p:cNvSpPr txBox="1"/>
          <p:nvPr/>
        </p:nvSpPr>
        <p:spPr>
          <a:xfrm>
            <a:off x="548640" y="290779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325880" y="2724912"/>
            <a:ext cx="9875520" cy="868680"/>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Порог с гарантией возможен, но при реальных размерах выборки поправка на её размер определяет рабочую точку</a:t>
            </a:r>
            <a:endParaRPr lang="en-US" sz="2100" dirty="0"/>
          </a:p>
        </p:txBody>
      </p:sp>
      <p:sp>
        <p:nvSpPr>
          <p:cNvPr id="9" name="Shape 7"/>
          <p:cNvSpPr/>
          <p:nvPr/>
        </p:nvSpPr>
        <p:spPr>
          <a:xfrm>
            <a:off x="548640" y="3986784"/>
            <a:ext cx="502920" cy="502920"/>
          </a:xfrm>
          <a:prstGeom prst="ellipse">
            <a:avLst/>
          </a:prstGeom>
          <a:solidFill>
            <a:srgbClr val="2A78D6"/>
          </a:solidFill>
          <a:ln w="15875">
            <a:solidFill>
              <a:srgbClr val="2A78D6"/>
            </a:solidFill>
            <a:prstDash val="solid"/>
          </a:ln>
        </p:spPr>
      </p:sp>
      <p:sp>
        <p:nvSpPr>
          <p:cNvPr id="10" name="Text 8"/>
          <p:cNvSpPr txBox="1"/>
          <p:nvPr/>
        </p:nvSpPr>
        <p:spPr>
          <a:xfrm>
            <a:off x="548640" y="398678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325880" y="3803904"/>
            <a:ext cx="9875520" cy="868680"/>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Статья 1 готова к подаче; по статье 2 результаты получены, пишется текст</a:t>
            </a:r>
            <a:endParaRPr lang="en-US" sz="2100" dirty="0"/>
          </a:p>
        </p:txBody>
      </p:sp>
      <p:sp>
        <p:nvSpPr>
          <p:cNvPr id="12" name="Text 10"/>
          <p:cNvSpPr txBox="1"/>
          <p:nvPr/>
        </p:nvSpPr>
        <p:spPr>
          <a:xfrm>
            <a:off x="548640" y="4983480"/>
            <a:ext cx="5486400" cy="457200"/>
          </a:xfrm>
          <a:prstGeom prst="rect">
            <a:avLst/>
          </a:prstGeom>
          <a:noFill/>
          <a:ln/>
        </p:spPr>
        <p:txBody>
          <a:bodyPr wrap="square" lIns="0" tIns="0" rIns="0" bIns="0" rtlCol="0" anchor="t"/>
          <a:lstStyle/>
          <a:p>
            <a:pPr marL="0" indent="0">
              <a:buNone/>
            </a:pPr>
            <a:r>
              <a:rPr lang="en-US" sz="1800" dirty="0">
                <a:solidFill>
                  <a:srgbClr val="C3C2B7"/>
                </a:solidFill>
                <a:latin typeface="Calibri" pitchFamily="34" charset="0"/>
                <a:ea typeface="Calibri" pitchFamily="34" charset="-122"/>
                <a:cs typeface="Calibri" pitchFamily="34" charset="-120"/>
              </a:rPr>
              <a:t>Спасибо за внимание</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3519</Words>
  <Application>Microsoft Macintosh PowerPoint</Application>
  <PresentationFormat>Widescreen</PresentationFormat>
  <Paragraphs>260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PAIR-SV: от одного генома к тридцати</dc:title>
  <dc:subject>PptxGenJS Presentation</dc:subject>
  <dc:creator>PptxGenJS</dc:creator>
  <cp:lastModifiedBy>Nicolas Baranov</cp:lastModifiedBy>
  <cp:revision>2</cp:revision>
  <dcterms:created xsi:type="dcterms:W3CDTF">2026-09-15T19:31:08Z</dcterms:created>
  <dcterms:modified xsi:type="dcterms:W3CDTF">2026-09-15T19:50:06Z</dcterms:modified>
</cp:coreProperties>
</file>